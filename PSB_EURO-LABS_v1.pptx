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5"/>
  </p:notesMasterIdLst>
  <p:sldIdLst>
    <p:sldId id="329" r:id="rId2"/>
    <p:sldId id="398" r:id="rId3"/>
    <p:sldId id="399" r:id="rId4"/>
    <p:sldId id="402" r:id="rId5"/>
    <p:sldId id="401" r:id="rId6"/>
    <p:sldId id="400" r:id="rId7"/>
    <p:sldId id="403" r:id="rId8"/>
    <p:sldId id="404" r:id="rId9"/>
    <p:sldId id="258" r:id="rId10"/>
    <p:sldId id="260" r:id="rId11"/>
    <p:sldId id="261" r:id="rId12"/>
    <p:sldId id="262" r:id="rId13"/>
    <p:sldId id="583" r:id="rId14"/>
    <p:sldId id="575" r:id="rId15"/>
    <p:sldId id="576" r:id="rId16"/>
    <p:sldId id="577" r:id="rId17"/>
    <p:sldId id="578" r:id="rId18"/>
    <p:sldId id="580" r:id="rId19"/>
    <p:sldId id="582" r:id="rId20"/>
    <p:sldId id="263" r:id="rId21"/>
    <p:sldId id="573" r:id="rId22"/>
    <p:sldId id="574" r:id="rId23"/>
    <p:sldId id="579" r:id="rId24"/>
    <p:sldId id="584" r:id="rId25"/>
    <p:sldId id="443" r:id="rId26"/>
    <p:sldId id="568" r:id="rId27"/>
    <p:sldId id="566" r:id="rId28"/>
    <p:sldId id="569" r:id="rId29"/>
    <p:sldId id="570" r:id="rId30"/>
    <p:sldId id="571" r:id="rId31"/>
    <p:sldId id="585" r:id="rId32"/>
    <p:sldId id="586" r:id="rId33"/>
    <p:sldId id="587" r:id="rId34"/>
    <p:sldId id="588" r:id="rId35"/>
    <p:sldId id="589" r:id="rId36"/>
    <p:sldId id="590" r:id="rId37"/>
    <p:sldId id="591" r:id="rId38"/>
    <p:sldId id="592" r:id="rId39"/>
    <p:sldId id="593" r:id="rId40"/>
    <p:sldId id="595" r:id="rId41"/>
    <p:sldId id="594" r:id="rId42"/>
    <p:sldId id="597" r:id="rId43"/>
    <p:sldId id="596" r:id="rId44"/>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0B3B873-84EB-453B-B57D-B0E4870FD640}">
          <p14:sldIdLst>
            <p14:sldId id="329"/>
            <p14:sldId id="398"/>
            <p14:sldId id="399"/>
            <p14:sldId id="402"/>
            <p14:sldId id="401"/>
            <p14:sldId id="400"/>
            <p14:sldId id="403"/>
            <p14:sldId id="404"/>
            <p14:sldId id="258"/>
            <p14:sldId id="260"/>
            <p14:sldId id="261"/>
            <p14:sldId id="262"/>
            <p14:sldId id="583"/>
            <p14:sldId id="575"/>
            <p14:sldId id="576"/>
            <p14:sldId id="577"/>
            <p14:sldId id="578"/>
            <p14:sldId id="580"/>
            <p14:sldId id="582"/>
            <p14:sldId id="263"/>
            <p14:sldId id="573"/>
            <p14:sldId id="574"/>
            <p14:sldId id="579"/>
            <p14:sldId id="584"/>
            <p14:sldId id="443"/>
            <p14:sldId id="568"/>
            <p14:sldId id="566"/>
            <p14:sldId id="569"/>
            <p14:sldId id="570"/>
            <p14:sldId id="571"/>
            <p14:sldId id="585"/>
            <p14:sldId id="586"/>
            <p14:sldId id="587"/>
            <p14:sldId id="588"/>
            <p14:sldId id="589"/>
            <p14:sldId id="590"/>
            <p14:sldId id="591"/>
            <p14:sldId id="592"/>
            <p14:sldId id="593"/>
            <p14:sldId id="595"/>
            <p14:sldId id="594"/>
            <p14:sldId id="597"/>
            <p14:sldId id="5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31FF"/>
    <a:srgbClr val="70AD47"/>
    <a:srgbClr val="00B050"/>
    <a:srgbClr val="002060"/>
    <a:srgbClr val="000000"/>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D9D6EB-9D2F-4310-BA2F-F8F6BC22BE88}" v="15" dt="2024-06-04T13:20:17.8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20" autoAdjust="0"/>
    <p:restoredTop sz="94111" autoAdjust="0"/>
  </p:normalViewPr>
  <p:slideViewPr>
    <p:cSldViewPr snapToGrid="0">
      <p:cViewPr varScale="1">
        <p:scale>
          <a:sx n="119" d="100"/>
          <a:sy n="119" d="100"/>
        </p:scale>
        <p:origin x="200" y="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rsi Prebibaj" clId="Web-{FED9D6EB-9D2F-4310-BA2F-F8F6BC22BE88}"/>
    <pc:docChg chg="modSld">
      <pc:chgData name="Tirsi Prebibaj" userId="" providerId="" clId="Web-{FED9D6EB-9D2F-4310-BA2F-F8F6BC22BE88}" dt="2024-06-04T13:20:17.875" v="14" actId="1076"/>
      <pc:docMkLst>
        <pc:docMk/>
      </pc:docMkLst>
      <pc:sldChg chg="modSp">
        <pc:chgData name="Tirsi Prebibaj" userId="" providerId="" clId="Web-{FED9D6EB-9D2F-4310-BA2F-F8F6BC22BE88}" dt="2024-06-04T13:20:17.875" v="14" actId="1076"/>
        <pc:sldMkLst>
          <pc:docMk/>
          <pc:sldMk cId="2501773810" sldId="592"/>
        </pc:sldMkLst>
        <pc:picChg chg="mod">
          <ac:chgData name="Tirsi Prebibaj" userId="" providerId="" clId="Web-{FED9D6EB-9D2F-4310-BA2F-F8F6BC22BE88}" dt="2024-06-04T13:20:17.875" v="14" actId="1076"/>
          <ac:picMkLst>
            <pc:docMk/>
            <pc:sldMk cId="2501773810" sldId="592"/>
            <ac:picMk id="7" creationId="{E7BE69EB-B42E-ABAC-7568-456525EAD2D7}"/>
          </ac:picMkLst>
        </pc:picChg>
        <pc:picChg chg="mod">
          <ac:chgData name="Tirsi Prebibaj" userId="" providerId="" clId="Web-{FED9D6EB-9D2F-4310-BA2F-F8F6BC22BE88}" dt="2024-06-04T13:17:18.743" v="8" actId="1076"/>
          <ac:picMkLst>
            <pc:docMk/>
            <pc:sldMk cId="2501773810" sldId="592"/>
            <ac:picMk id="9" creationId="{E72B3301-8B49-AD9C-1C74-1E54F7687E2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4C0F80-6607-4BDC-9DCB-D39546E94B0B}" type="datetimeFigureOut">
              <a:rPr lang="el-GR" smtClean="0"/>
              <a:t>4/6/2024</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CEC25E-25DD-442A-9939-BAC3109D098C}" type="slidenum">
              <a:rPr lang="el-GR" smtClean="0"/>
              <a:t>‹#›</a:t>
            </a:fld>
            <a:endParaRPr lang="el-GR"/>
          </a:p>
        </p:txBody>
      </p:sp>
    </p:spTree>
    <p:extLst>
      <p:ext uri="{BB962C8B-B14F-4D97-AF65-F5344CB8AC3E}">
        <p14:creationId xmlns:p14="http://schemas.microsoft.com/office/powerpoint/2010/main" val="196036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dirty="0"/>
          </a:p>
        </p:txBody>
      </p:sp>
      <p:sp>
        <p:nvSpPr>
          <p:cNvPr id="4" name="Slide Number Placeholder 3"/>
          <p:cNvSpPr>
            <a:spLocks noGrp="1"/>
          </p:cNvSpPr>
          <p:nvPr>
            <p:ph type="sldNum" sz="quarter" idx="5"/>
          </p:nvPr>
        </p:nvSpPr>
        <p:spPr/>
        <p:txBody>
          <a:bodyPr/>
          <a:lstStyle/>
          <a:p>
            <a:fld id="{84CEC25E-25DD-442A-9939-BAC3109D098C}" type="slidenum">
              <a:rPr lang="el-GR" smtClean="0"/>
              <a:t>1</a:t>
            </a:fld>
            <a:endParaRPr lang="el-GR"/>
          </a:p>
        </p:txBody>
      </p:sp>
    </p:spTree>
    <p:extLst>
      <p:ext uri="{BB962C8B-B14F-4D97-AF65-F5344CB8AC3E}">
        <p14:creationId xmlns:p14="http://schemas.microsoft.com/office/powerpoint/2010/main" val="3248450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84CEC25E-25DD-442A-9939-BAC3109D098C}" type="slidenum">
              <a:rPr lang="el-GR" smtClean="0"/>
              <a:t>21</a:t>
            </a:fld>
            <a:endParaRPr lang="el-GR"/>
          </a:p>
        </p:txBody>
      </p:sp>
    </p:spTree>
    <p:extLst>
      <p:ext uri="{BB962C8B-B14F-4D97-AF65-F5344CB8AC3E}">
        <p14:creationId xmlns:p14="http://schemas.microsoft.com/office/powerpoint/2010/main" val="620401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02060"/>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BA68029-9404-4FD9-AEED-AC42551B943E}"/>
              </a:ext>
            </a:extLst>
          </p:cNvPr>
          <p:cNvSpPr>
            <a:spLocks noGrp="1"/>
          </p:cNvSpPr>
          <p:nvPr>
            <p:ph type="subTitle" idx="1"/>
          </p:nvPr>
        </p:nvSpPr>
        <p:spPr>
          <a:xfrm>
            <a:off x="1524000" y="3749518"/>
            <a:ext cx="9144000" cy="1488688"/>
          </a:xfrm>
        </p:spPr>
        <p:txBody>
          <a:bodyPr/>
          <a:lstStyle>
            <a:lvl1pPr marL="0" indent="0" algn="ctr">
              <a:buNone/>
              <a:defRPr sz="2400" b="0" i="0">
                <a:solidFill>
                  <a:schemeClr val="bg1"/>
                </a:solidFill>
                <a:latin typeface="LM Roman 10"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l-GR" dirty="0"/>
          </a:p>
        </p:txBody>
      </p:sp>
      <p:sp>
        <p:nvSpPr>
          <p:cNvPr id="7" name="Title 6">
            <a:extLst>
              <a:ext uri="{FF2B5EF4-FFF2-40B4-BE49-F238E27FC236}">
                <a16:creationId xmlns:a16="http://schemas.microsoft.com/office/drawing/2014/main" id="{D8DA81AF-8045-4D66-B80D-9CD0CFD532BB}"/>
              </a:ext>
            </a:extLst>
          </p:cNvPr>
          <p:cNvSpPr>
            <a:spLocks noGrp="1"/>
          </p:cNvSpPr>
          <p:nvPr>
            <p:ph type="title"/>
          </p:nvPr>
        </p:nvSpPr>
        <p:spPr>
          <a:xfrm>
            <a:off x="838200" y="604275"/>
            <a:ext cx="10515600" cy="2631293"/>
          </a:xfrm>
        </p:spPr>
        <p:txBody>
          <a:bodyPr/>
          <a:lstStyle>
            <a:lvl1pPr algn="ctr">
              <a:defRPr b="0">
                <a:solidFill>
                  <a:schemeClr val="bg1"/>
                </a:solidFill>
              </a:defRPr>
            </a:lvl1pPr>
          </a:lstStyle>
          <a:p>
            <a:r>
              <a:rPr lang="en-US" dirty="0"/>
              <a:t>Click to edit Master title style</a:t>
            </a:r>
            <a:endParaRPr lang="el-GR" dirty="0"/>
          </a:p>
        </p:txBody>
      </p:sp>
      <p:sp>
        <p:nvSpPr>
          <p:cNvPr id="11" name="Subtitle 2">
            <a:extLst>
              <a:ext uri="{FF2B5EF4-FFF2-40B4-BE49-F238E27FC236}">
                <a16:creationId xmlns:a16="http://schemas.microsoft.com/office/drawing/2014/main" id="{07A3C1ED-B612-48E4-A0DE-89EAB2F08E65}"/>
              </a:ext>
            </a:extLst>
          </p:cNvPr>
          <p:cNvSpPr txBox="1">
            <a:spLocks/>
          </p:cNvSpPr>
          <p:nvPr userDrawn="1"/>
        </p:nvSpPr>
        <p:spPr>
          <a:xfrm>
            <a:off x="2504049" y="6030350"/>
            <a:ext cx="7183902" cy="8276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l-GR" b="0" i="0" dirty="0"/>
          </a:p>
        </p:txBody>
      </p:sp>
      <p:sp>
        <p:nvSpPr>
          <p:cNvPr id="13" name="Subtitle 2">
            <a:extLst>
              <a:ext uri="{FF2B5EF4-FFF2-40B4-BE49-F238E27FC236}">
                <a16:creationId xmlns:a16="http://schemas.microsoft.com/office/drawing/2014/main" id="{2FB6852E-C5B3-492D-AB95-AA4156175F0E}"/>
              </a:ext>
            </a:extLst>
          </p:cNvPr>
          <p:cNvSpPr txBox="1">
            <a:spLocks/>
          </p:cNvSpPr>
          <p:nvPr userDrawn="1"/>
        </p:nvSpPr>
        <p:spPr>
          <a:xfrm>
            <a:off x="2420983" y="5707334"/>
            <a:ext cx="7350034" cy="109278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l-GR" b="0" i="0" dirty="0"/>
          </a:p>
        </p:txBody>
      </p:sp>
    </p:spTree>
    <p:extLst>
      <p:ext uri="{BB962C8B-B14F-4D97-AF65-F5344CB8AC3E}">
        <p14:creationId xmlns:p14="http://schemas.microsoft.com/office/powerpoint/2010/main" val="2031058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EC6B1-F6C8-49AD-9C3C-F718DCBFF8E0}"/>
              </a:ext>
            </a:extLst>
          </p:cNvPr>
          <p:cNvSpPr>
            <a:spLocks noGrp="1"/>
          </p:cNvSpPr>
          <p:nvPr>
            <p:ph type="title"/>
          </p:nvPr>
        </p:nvSpPr>
        <p:spPr>
          <a:xfrm>
            <a:off x="744583" y="0"/>
            <a:ext cx="10609217" cy="895441"/>
          </a:xfrm>
        </p:spPr>
        <p:txBody>
          <a:bodyPr/>
          <a:lstStyle>
            <a:lvl1pPr algn="ctr">
              <a:defRPr>
                <a:solidFill>
                  <a:schemeClr val="bg1"/>
                </a:solidFill>
              </a:defRPr>
            </a:lvl1pPr>
          </a:lstStyle>
          <a:p>
            <a:r>
              <a:rPr lang="en-US" dirty="0"/>
              <a:t>Click to edit Master title style</a:t>
            </a:r>
            <a:endParaRPr lang="el-GR" dirty="0"/>
          </a:p>
        </p:txBody>
      </p:sp>
      <p:sp>
        <p:nvSpPr>
          <p:cNvPr id="3" name="Content Placeholder 2">
            <a:extLst>
              <a:ext uri="{FF2B5EF4-FFF2-40B4-BE49-F238E27FC236}">
                <a16:creationId xmlns:a16="http://schemas.microsoft.com/office/drawing/2014/main" id="{4D46C254-45BA-419E-93B4-4935978ADC8C}"/>
              </a:ext>
            </a:extLst>
          </p:cNvPr>
          <p:cNvSpPr>
            <a:spLocks noGrp="1"/>
          </p:cNvSpPr>
          <p:nvPr>
            <p:ph idx="1"/>
          </p:nvPr>
        </p:nvSpPr>
        <p:spPr>
          <a:xfrm>
            <a:off x="339634" y="1188720"/>
            <a:ext cx="11456126" cy="5499464"/>
          </a:xfrm>
        </p:spPr>
        <p:txBody>
          <a:bodyPr numCol="2"/>
          <a:lstStyle>
            <a:lvl1pPr>
              <a:defRPr b="0" i="0">
                <a:solidFill>
                  <a:schemeClr val="bg1"/>
                </a:solidFill>
                <a:latin typeface="LM Roman 10" pitchFamily="2" charset="77"/>
              </a:defRPr>
            </a:lvl1pPr>
            <a:lvl2pPr>
              <a:defRPr b="0" i="0">
                <a:solidFill>
                  <a:schemeClr val="bg1"/>
                </a:solidFill>
                <a:latin typeface="LM Roman 10" pitchFamily="2" charset="77"/>
              </a:defRPr>
            </a:lvl2pPr>
            <a:lvl3pPr>
              <a:defRPr b="0" i="0">
                <a:solidFill>
                  <a:schemeClr val="bg1"/>
                </a:solidFill>
                <a:latin typeface="LM Roman 10" pitchFamily="2" charset="77"/>
              </a:defRPr>
            </a:lvl3pPr>
            <a:lvl4pPr>
              <a:defRPr b="0" i="0">
                <a:solidFill>
                  <a:schemeClr val="bg1"/>
                </a:solidFill>
                <a:latin typeface="LM Roman 10" pitchFamily="2" charset="77"/>
              </a:defRPr>
            </a:lvl4pPr>
            <a:lvl5pPr>
              <a:defRPr b="0" i="0">
                <a:solidFill>
                  <a:schemeClr val="bg1"/>
                </a:solidFill>
                <a:latin typeface="LM Roman 1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Tree>
    <p:extLst>
      <p:ext uri="{BB962C8B-B14F-4D97-AF65-F5344CB8AC3E}">
        <p14:creationId xmlns:p14="http://schemas.microsoft.com/office/powerpoint/2010/main" val="1627227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00206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9944-8CC4-49C5-8430-5E349D72B1F6}"/>
              </a:ext>
            </a:extLst>
          </p:cNvPr>
          <p:cNvSpPr>
            <a:spLocks noGrp="1"/>
          </p:cNvSpPr>
          <p:nvPr>
            <p:ph type="title"/>
          </p:nvPr>
        </p:nvSpPr>
        <p:spPr>
          <a:xfrm>
            <a:off x="838200" y="576263"/>
            <a:ext cx="10515600" cy="2852737"/>
          </a:xfrm>
        </p:spPr>
        <p:txBody>
          <a:bodyPr anchor="ctr"/>
          <a:lstStyle>
            <a:lvl1pPr algn="ctr">
              <a:defRPr sz="6000">
                <a:solidFill>
                  <a:schemeClr val="bg1"/>
                </a:solidFill>
              </a:defRPr>
            </a:lvl1pPr>
          </a:lstStyle>
          <a:p>
            <a:r>
              <a:rPr lang="en-US" dirty="0"/>
              <a:t>Click to edit Master title style</a:t>
            </a:r>
            <a:endParaRPr lang="el-GR" dirty="0"/>
          </a:p>
        </p:txBody>
      </p:sp>
      <p:sp>
        <p:nvSpPr>
          <p:cNvPr id="3" name="Text Placeholder 2">
            <a:extLst>
              <a:ext uri="{FF2B5EF4-FFF2-40B4-BE49-F238E27FC236}">
                <a16:creationId xmlns:a16="http://schemas.microsoft.com/office/drawing/2014/main" id="{2FD7B594-154E-467E-A6E6-CE6C8886178C}"/>
              </a:ext>
            </a:extLst>
          </p:cNvPr>
          <p:cNvSpPr>
            <a:spLocks noGrp="1"/>
          </p:cNvSpPr>
          <p:nvPr>
            <p:ph type="body" idx="1"/>
          </p:nvPr>
        </p:nvSpPr>
        <p:spPr>
          <a:xfrm>
            <a:off x="831850" y="4589463"/>
            <a:ext cx="10515600" cy="1500187"/>
          </a:xfrm>
        </p:spPr>
        <p:txBody>
          <a:bodyPr/>
          <a:lstStyle>
            <a:lvl1pPr marL="0" indent="0" algn="ctr">
              <a:buNone/>
              <a:defRPr sz="2400" b="0" i="0">
                <a:solidFill>
                  <a:schemeClr val="bg1"/>
                </a:solidFill>
                <a:latin typeface="LM Roman 10"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8F1FFA-C192-430C-8722-DEFF9ADAF97D}"/>
              </a:ext>
            </a:extLst>
          </p:cNvPr>
          <p:cNvSpPr>
            <a:spLocks noGrp="1"/>
          </p:cNvSpPr>
          <p:nvPr>
            <p:ph type="dt" sz="half" idx="10"/>
          </p:nvPr>
        </p:nvSpPr>
        <p:spPr/>
        <p:txBody>
          <a:bodyPr/>
          <a:lstStyle>
            <a:lvl1pPr>
              <a:defRPr b="0" i="0">
                <a:latin typeface="LM Roman 10" pitchFamily="2" charset="77"/>
              </a:defRPr>
            </a:lvl1pPr>
          </a:lstStyle>
          <a:p>
            <a:fld id="{EEE68B35-9254-41FC-9494-7A48D56ED77A}" type="datetime1">
              <a:rPr lang="el-GR" smtClean="0"/>
              <a:pPr/>
              <a:t>4/6/2024</a:t>
            </a:fld>
            <a:endParaRPr lang="el-GR" dirty="0"/>
          </a:p>
        </p:txBody>
      </p:sp>
      <p:sp>
        <p:nvSpPr>
          <p:cNvPr id="5" name="Footer Placeholder 4">
            <a:extLst>
              <a:ext uri="{FF2B5EF4-FFF2-40B4-BE49-F238E27FC236}">
                <a16:creationId xmlns:a16="http://schemas.microsoft.com/office/drawing/2014/main" id="{AF4CD163-35C8-4D9F-BC5F-F89DC64EF7E0}"/>
              </a:ext>
            </a:extLst>
          </p:cNvPr>
          <p:cNvSpPr>
            <a:spLocks noGrp="1"/>
          </p:cNvSpPr>
          <p:nvPr>
            <p:ph type="ftr" sz="quarter" idx="11"/>
          </p:nvPr>
        </p:nvSpPr>
        <p:spPr/>
        <p:txBody>
          <a:bodyPr/>
          <a:lstStyle>
            <a:lvl1pPr>
              <a:defRPr b="0" i="0">
                <a:latin typeface="LM Roman 10" pitchFamily="2" charset="77"/>
              </a:defRPr>
            </a:lvl1pPr>
          </a:lstStyle>
          <a:p>
            <a:r>
              <a:rPr lang="en-US" dirty="0" err="1"/>
              <a:t>Tirsi</a:t>
            </a:r>
            <a:r>
              <a:rPr lang="en-US" dirty="0"/>
              <a:t> </a:t>
            </a:r>
            <a:r>
              <a:rPr lang="en-US" dirty="0" err="1"/>
              <a:t>Prebibaj</a:t>
            </a:r>
            <a:endParaRPr lang="el-GR" dirty="0"/>
          </a:p>
        </p:txBody>
      </p:sp>
      <p:sp>
        <p:nvSpPr>
          <p:cNvPr id="6" name="Slide Number Placeholder 5">
            <a:extLst>
              <a:ext uri="{FF2B5EF4-FFF2-40B4-BE49-F238E27FC236}">
                <a16:creationId xmlns:a16="http://schemas.microsoft.com/office/drawing/2014/main" id="{ABC8B054-AD13-4649-8B62-BB4EAF312AAE}"/>
              </a:ext>
            </a:extLst>
          </p:cNvPr>
          <p:cNvSpPr>
            <a:spLocks noGrp="1"/>
          </p:cNvSpPr>
          <p:nvPr>
            <p:ph type="sldNum" sz="quarter" idx="12"/>
          </p:nvPr>
        </p:nvSpPr>
        <p:spPr/>
        <p:txBody>
          <a:bodyPr/>
          <a:lstStyle>
            <a:lvl1pPr>
              <a:defRPr b="0" i="0">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1684093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D5AF6-6602-4EC3-84CA-F87B34843C2D}"/>
              </a:ext>
            </a:extLst>
          </p:cNvPr>
          <p:cNvSpPr>
            <a:spLocks noGrp="1"/>
          </p:cNvSpPr>
          <p:nvPr>
            <p:ph type="title"/>
          </p:nvPr>
        </p:nvSpPr>
        <p:spPr>
          <a:xfrm>
            <a:off x="-2" y="1"/>
            <a:ext cx="12192000" cy="548637"/>
          </a:xfrm>
          <a:noFill/>
          <a:effectLst/>
        </p:spPr>
        <p:txBody>
          <a:bodyPr/>
          <a:lstStyle>
            <a:lvl1pPr algn="ctr">
              <a:defRPr b="1">
                <a:solidFill>
                  <a:srgbClr val="002060"/>
                </a:solidFill>
              </a:defRPr>
            </a:lvl1pPr>
          </a:lstStyle>
          <a:p>
            <a:r>
              <a:rPr lang="en-US" dirty="0"/>
              <a:t>Click to edit Master title style</a:t>
            </a:r>
            <a:endParaRPr lang="el-GR" dirty="0"/>
          </a:p>
        </p:txBody>
      </p:sp>
      <p:sp>
        <p:nvSpPr>
          <p:cNvPr id="3" name="Content Placeholder 2">
            <a:extLst>
              <a:ext uri="{FF2B5EF4-FFF2-40B4-BE49-F238E27FC236}">
                <a16:creationId xmlns:a16="http://schemas.microsoft.com/office/drawing/2014/main" id="{E8D12E9A-7BD4-460D-8951-503364BB1705}"/>
              </a:ext>
            </a:extLst>
          </p:cNvPr>
          <p:cNvSpPr>
            <a:spLocks noGrp="1"/>
          </p:cNvSpPr>
          <p:nvPr>
            <p:ph sz="half" idx="1"/>
          </p:nvPr>
        </p:nvSpPr>
        <p:spPr>
          <a:xfrm>
            <a:off x="0" y="548639"/>
            <a:ext cx="6095999" cy="6049108"/>
          </a:xfrm>
        </p:spPr>
        <p:txBody>
          <a:bodyPr/>
          <a:lstStyle>
            <a:lvl1pPr>
              <a:defRPr b="0" i="0">
                <a:solidFill>
                  <a:srgbClr val="000000"/>
                </a:solidFill>
                <a:latin typeface="LM Roman 10" pitchFamily="2" charset="77"/>
              </a:defRPr>
            </a:lvl1pPr>
            <a:lvl2pPr>
              <a:defRPr b="0" i="0">
                <a:solidFill>
                  <a:srgbClr val="000000"/>
                </a:solidFill>
                <a:latin typeface="LM Roman 10" pitchFamily="2" charset="77"/>
              </a:defRPr>
            </a:lvl2pPr>
            <a:lvl3pPr>
              <a:defRPr b="0" i="0">
                <a:solidFill>
                  <a:srgbClr val="000000"/>
                </a:solidFill>
                <a:latin typeface="LM Roman 10" pitchFamily="2" charset="77"/>
              </a:defRPr>
            </a:lvl3pPr>
            <a:lvl4pPr>
              <a:defRPr b="0" i="0">
                <a:solidFill>
                  <a:srgbClr val="000000"/>
                </a:solidFill>
                <a:latin typeface="LM Roman 10" pitchFamily="2" charset="77"/>
              </a:defRPr>
            </a:lvl4pPr>
            <a:lvl5pPr>
              <a:defRPr b="0" i="0">
                <a:solidFill>
                  <a:srgbClr val="000000"/>
                </a:solidFill>
                <a:latin typeface="LM Roman 1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4" name="Content Placeholder 3">
            <a:extLst>
              <a:ext uri="{FF2B5EF4-FFF2-40B4-BE49-F238E27FC236}">
                <a16:creationId xmlns:a16="http://schemas.microsoft.com/office/drawing/2014/main" id="{75F518D2-35F1-462C-9F4F-875D4310035E}"/>
              </a:ext>
            </a:extLst>
          </p:cNvPr>
          <p:cNvSpPr>
            <a:spLocks noGrp="1"/>
          </p:cNvSpPr>
          <p:nvPr>
            <p:ph sz="half" idx="2"/>
          </p:nvPr>
        </p:nvSpPr>
        <p:spPr>
          <a:xfrm>
            <a:off x="6096000" y="548639"/>
            <a:ext cx="6095999" cy="6049108"/>
          </a:xfrm>
        </p:spPr>
        <p:txBody>
          <a:bodyPr/>
          <a:lstStyle>
            <a:lvl1pPr>
              <a:defRPr b="0" i="0">
                <a:solidFill>
                  <a:srgbClr val="000000"/>
                </a:solidFill>
                <a:latin typeface="LM Roman 10" pitchFamily="2" charset="77"/>
              </a:defRPr>
            </a:lvl1pPr>
            <a:lvl2pPr>
              <a:defRPr b="0" i="0">
                <a:solidFill>
                  <a:srgbClr val="000000"/>
                </a:solidFill>
                <a:latin typeface="LM Roman 10" pitchFamily="2" charset="77"/>
              </a:defRPr>
            </a:lvl2pPr>
            <a:lvl3pPr>
              <a:defRPr b="0" i="0">
                <a:solidFill>
                  <a:srgbClr val="000000"/>
                </a:solidFill>
                <a:latin typeface="LM Roman 10" pitchFamily="2" charset="77"/>
              </a:defRPr>
            </a:lvl3pPr>
            <a:lvl4pPr>
              <a:defRPr b="0" i="0">
                <a:solidFill>
                  <a:srgbClr val="000000"/>
                </a:solidFill>
                <a:latin typeface="LM Roman 10" pitchFamily="2" charset="77"/>
              </a:defRPr>
            </a:lvl4pPr>
            <a:lvl5pPr>
              <a:defRPr b="0" i="0">
                <a:latin typeface="LM Roman 1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11" name="Slide Number Placeholder 10">
            <a:extLst>
              <a:ext uri="{FF2B5EF4-FFF2-40B4-BE49-F238E27FC236}">
                <a16:creationId xmlns:a16="http://schemas.microsoft.com/office/drawing/2014/main" id="{35DB8477-C725-4019-9581-2344541E41D9}"/>
              </a:ext>
            </a:extLst>
          </p:cNvPr>
          <p:cNvSpPr>
            <a:spLocks noGrp="1"/>
          </p:cNvSpPr>
          <p:nvPr>
            <p:ph type="sldNum" sz="quarter" idx="12"/>
          </p:nvPr>
        </p:nvSpPr>
        <p:spPr>
          <a:xfrm>
            <a:off x="10311617" y="6597748"/>
            <a:ext cx="1880381" cy="260252"/>
          </a:xfrm>
          <a:noFill/>
        </p:spPr>
        <p:txBody>
          <a:bodyPr/>
          <a:lstStyle>
            <a:lvl1pPr>
              <a:defRPr sz="1600" b="0" i="0">
                <a:solidFill>
                  <a:schemeClr val="bg2"/>
                </a:solidFill>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1719833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7084B-1323-44DB-9D8C-698DA6A79CFA}"/>
              </a:ext>
            </a:extLst>
          </p:cNvPr>
          <p:cNvSpPr>
            <a:spLocks noGrp="1"/>
          </p:cNvSpPr>
          <p:nvPr>
            <p:ph type="title"/>
          </p:nvPr>
        </p:nvSpPr>
        <p:spPr>
          <a:xfrm>
            <a:off x="839788" y="365125"/>
            <a:ext cx="10515600" cy="1325563"/>
          </a:xfrm>
        </p:spPr>
        <p:txBody>
          <a:bodyPr/>
          <a:lstStyle/>
          <a:p>
            <a:r>
              <a:rPr lang="en-US"/>
              <a:t>Click to edit Master title style</a:t>
            </a:r>
            <a:endParaRPr lang="el-GR"/>
          </a:p>
        </p:txBody>
      </p:sp>
      <p:sp>
        <p:nvSpPr>
          <p:cNvPr id="3" name="Text Placeholder 2">
            <a:extLst>
              <a:ext uri="{FF2B5EF4-FFF2-40B4-BE49-F238E27FC236}">
                <a16:creationId xmlns:a16="http://schemas.microsoft.com/office/drawing/2014/main" id="{59DABA5F-EBB5-4949-A521-400C4B286540}"/>
              </a:ext>
            </a:extLst>
          </p:cNvPr>
          <p:cNvSpPr>
            <a:spLocks noGrp="1"/>
          </p:cNvSpPr>
          <p:nvPr>
            <p:ph type="body" idx="1"/>
          </p:nvPr>
        </p:nvSpPr>
        <p:spPr>
          <a:xfrm>
            <a:off x="839788" y="1681163"/>
            <a:ext cx="5157787" cy="823912"/>
          </a:xfrm>
        </p:spPr>
        <p:txBody>
          <a:bodyPr anchor="b"/>
          <a:lstStyle>
            <a:lvl1pPr marL="0" indent="0">
              <a:buNone/>
              <a:defRPr sz="2400" b="0" i="0">
                <a:latin typeface="LM Roman 10"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71D1291-8890-46B9-A1B6-41483821C35A}"/>
              </a:ext>
            </a:extLst>
          </p:cNvPr>
          <p:cNvSpPr>
            <a:spLocks noGrp="1"/>
          </p:cNvSpPr>
          <p:nvPr>
            <p:ph sz="half" idx="2"/>
          </p:nvPr>
        </p:nvSpPr>
        <p:spPr>
          <a:xfrm>
            <a:off x="839788" y="2505075"/>
            <a:ext cx="5157787" cy="3684588"/>
          </a:xfrm>
        </p:spPr>
        <p:txBody>
          <a:bodyPr/>
          <a:lstStyle>
            <a:lvl1pPr>
              <a:defRPr b="0" i="0">
                <a:latin typeface="LM Roman 10" pitchFamily="2" charset="77"/>
              </a:defRPr>
            </a:lvl1pPr>
            <a:lvl2pPr>
              <a:defRPr b="0" i="0">
                <a:latin typeface="LM Roman 10" pitchFamily="2" charset="77"/>
              </a:defRPr>
            </a:lvl2pPr>
            <a:lvl3pPr>
              <a:defRPr b="0" i="0">
                <a:latin typeface="LM Roman 10" pitchFamily="2" charset="77"/>
              </a:defRPr>
            </a:lvl3pPr>
            <a:lvl4pPr>
              <a:defRPr b="0" i="0">
                <a:latin typeface="LM Roman 10" pitchFamily="2" charset="77"/>
              </a:defRPr>
            </a:lvl4pPr>
            <a:lvl5pPr>
              <a:defRPr b="0" i="0">
                <a:latin typeface="LM Roman 1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5" name="Text Placeholder 4">
            <a:extLst>
              <a:ext uri="{FF2B5EF4-FFF2-40B4-BE49-F238E27FC236}">
                <a16:creationId xmlns:a16="http://schemas.microsoft.com/office/drawing/2014/main" id="{C3871D33-1BDC-4FC9-89BB-2B1FAA36473B}"/>
              </a:ext>
            </a:extLst>
          </p:cNvPr>
          <p:cNvSpPr>
            <a:spLocks noGrp="1"/>
          </p:cNvSpPr>
          <p:nvPr>
            <p:ph type="body" sz="quarter" idx="3"/>
          </p:nvPr>
        </p:nvSpPr>
        <p:spPr>
          <a:xfrm>
            <a:off x="6172200" y="1681163"/>
            <a:ext cx="5183188" cy="823912"/>
          </a:xfrm>
        </p:spPr>
        <p:txBody>
          <a:bodyPr anchor="b"/>
          <a:lstStyle>
            <a:lvl1pPr marL="0" indent="0">
              <a:buNone/>
              <a:defRPr sz="2400" b="0" i="0">
                <a:latin typeface="LM Roman 10"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6FDA6767-F59F-41E1-ADD3-16901A68EE70}"/>
              </a:ext>
            </a:extLst>
          </p:cNvPr>
          <p:cNvSpPr>
            <a:spLocks noGrp="1"/>
          </p:cNvSpPr>
          <p:nvPr>
            <p:ph sz="quarter" idx="4"/>
          </p:nvPr>
        </p:nvSpPr>
        <p:spPr>
          <a:xfrm>
            <a:off x="6172200" y="2505075"/>
            <a:ext cx="5183188" cy="3684588"/>
          </a:xfrm>
        </p:spPr>
        <p:txBody>
          <a:bodyPr/>
          <a:lstStyle>
            <a:lvl1pPr>
              <a:defRPr b="0" i="0">
                <a:latin typeface="LM Roman 10" pitchFamily="2" charset="77"/>
              </a:defRPr>
            </a:lvl1pPr>
            <a:lvl2pPr>
              <a:defRPr b="0" i="0">
                <a:latin typeface="LM Roman 10" pitchFamily="2" charset="77"/>
              </a:defRPr>
            </a:lvl2pPr>
            <a:lvl3pPr>
              <a:defRPr b="0" i="0">
                <a:latin typeface="LM Roman 10" pitchFamily="2" charset="77"/>
              </a:defRPr>
            </a:lvl3pPr>
            <a:lvl4pPr>
              <a:defRPr b="0" i="0">
                <a:latin typeface="LM Roman 10" pitchFamily="2" charset="77"/>
              </a:defRPr>
            </a:lvl4pPr>
            <a:lvl5pPr>
              <a:defRPr b="0" i="0">
                <a:latin typeface="LM Roman 1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7" name="Date Placeholder 6">
            <a:extLst>
              <a:ext uri="{FF2B5EF4-FFF2-40B4-BE49-F238E27FC236}">
                <a16:creationId xmlns:a16="http://schemas.microsoft.com/office/drawing/2014/main" id="{CEE00951-DA5C-4A0D-B9C8-7A87C963095F}"/>
              </a:ext>
            </a:extLst>
          </p:cNvPr>
          <p:cNvSpPr>
            <a:spLocks noGrp="1"/>
          </p:cNvSpPr>
          <p:nvPr>
            <p:ph type="dt" sz="half" idx="10"/>
          </p:nvPr>
        </p:nvSpPr>
        <p:spPr/>
        <p:txBody>
          <a:bodyPr/>
          <a:lstStyle>
            <a:lvl1pPr>
              <a:defRPr b="0" i="0">
                <a:latin typeface="LM Roman 10" pitchFamily="2" charset="77"/>
              </a:defRPr>
            </a:lvl1pPr>
          </a:lstStyle>
          <a:p>
            <a:fld id="{928A3DEA-9F18-4B65-8499-DDC6134B65E3}" type="datetime1">
              <a:rPr lang="el-GR" smtClean="0"/>
              <a:pPr/>
              <a:t>4/6/2024</a:t>
            </a:fld>
            <a:endParaRPr lang="el-GR" dirty="0"/>
          </a:p>
        </p:txBody>
      </p:sp>
      <p:sp>
        <p:nvSpPr>
          <p:cNvPr id="8" name="Footer Placeholder 7">
            <a:extLst>
              <a:ext uri="{FF2B5EF4-FFF2-40B4-BE49-F238E27FC236}">
                <a16:creationId xmlns:a16="http://schemas.microsoft.com/office/drawing/2014/main" id="{35E5BEBD-F931-4315-9395-A57D7357E766}"/>
              </a:ext>
            </a:extLst>
          </p:cNvPr>
          <p:cNvSpPr>
            <a:spLocks noGrp="1"/>
          </p:cNvSpPr>
          <p:nvPr>
            <p:ph type="ftr" sz="quarter" idx="11"/>
          </p:nvPr>
        </p:nvSpPr>
        <p:spPr/>
        <p:txBody>
          <a:bodyPr/>
          <a:lstStyle>
            <a:lvl1pPr>
              <a:defRPr b="0" i="0">
                <a:latin typeface="LM Roman 10" pitchFamily="2" charset="77"/>
              </a:defRPr>
            </a:lvl1pPr>
          </a:lstStyle>
          <a:p>
            <a:r>
              <a:rPr lang="en-US" dirty="0" err="1"/>
              <a:t>Tirsi</a:t>
            </a:r>
            <a:r>
              <a:rPr lang="en-US" dirty="0"/>
              <a:t> </a:t>
            </a:r>
            <a:r>
              <a:rPr lang="en-US" dirty="0" err="1"/>
              <a:t>Prebibaj</a:t>
            </a:r>
            <a:endParaRPr lang="el-GR" dirty="0"/>
          </a:p>
        </p:txBody>
      </p:sp>
      <p:sp>
        <p:nvSpPr>
          <p:cNvPr id="9" name="Slide Number Placeholder 8">
            <a:extLst>
              <a:ext uri="{FF2B5EF4-FFF2-40B4-BE49-F238E27FC236}">
                <a16:creationId xmlns:a16="http://schemas.microsoft.com/office/drawing/2014/main" id="{02010FFF-8738-4F40-BEE5-AFDF7D205C14}"/>
              </a:ext>
            </a:extLst>
          </p:cNvPr>
          <p:cNvSpPr>
            <a:spLocks noGrp="1"/>
          </p:cNvSpPr>
          <p:nvPr>
            <p:ph type="sldNum" sz="quarter" idx="12"/>
          </p:nvPr>
        </p:nvSpPr>
        <p:spPr/>
        <p:txBody>
          <a:bodyPr/>
          <a:lstStyle>
            <a:lvl1pPr>
              <a:defRPr b="0" i="0">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1274914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8DD81-F99D-4EFB-8E56-B7825FE40770}"/>
              </a:ext>
            </a:extLst>
          </p:cNvPr>
          <p:cNvSpPr>
            <a:spLocks noGrp="1"/>
          </p:cNvSpPr>
          <p:nvPr>
            <p:ph type="title"/>
          </p:nvPr>
        </p:nvSpPr>
        <p:spPr/>
        <p:txBody>
          <a:bodyPr/>
          <a:lstStyle/>
          <a:p>
            <a:r>
              <a:rPr lang="en-US"/>
              <a:t>Click to edit Master title style</a:t>
            </a:r>
            <a:endParaRPr lang="el-GR"/>
          </a:p>
        </p:txBody>
      </p:sp>
      <p:sp>
        <p:nvSpPr>
          <p:cNvPr id="3" name="Date Placeholder 2">
            <a:extLst>
              <a:ext uri="{FF2B5EF4-FFF2-40B4-BE49-F238E27FC236}">
                <a16:creationId xmlns:a16="http://schemas.microsoft.com/office/drawing/2014/main" id="{5923E15E-423C-4382-927C-794E7AFF4B9E}"/>
              </a:ext>
            </a:extLst>
          </p:cNvPr>
          <p:cNvSpPr>
            <a:spLocks noGrp="1"/>
          </p:cNvSpPr>
          <p:nvPr>
            <p:ph type="dt" sz="half" idx="10"/>
          </p:nvPr>
        </p:nvSpPr>
        <p:spPr/>
        <p:txBody>
          <a:bodyPr/>
          <a:lstStyle>
            <a:lvl1pPr>
              <a:defRPr b="0" i="0">
                <a:latin typeface="LM Roman 10" pitchFamily="2" charset="77"/>
              </a:defRPr>
            </a:lvl1pPr>
          </a:lstStyle>
          <a:p>
            <a:fld id="{FC200AC7-3CE8-4BF1-91EF-14EF52AC37AD}" type="datetime1">
              <a:rPr lang="el-GR" smtClean="0"/>
              <a:pPr/>
              <a:t>4/6/2024</a:t>
            </a:fld>
            <a:endParaRPr lang="el-GR" dirty="0"/>
          </a:p>
        </p:txBody>
      </p:sp>
      <p:sp>
        <p:nvSpPr>
          <p:cNvPr id="4" name="Footer Placeholder 3">
            <a:extLst>
              <a:ext uri="{FF2B5EF4-FFF2-40B4-BE49-F238E27FC236}">
                <a16:creationId xmlns:a16="http://schemas.microsoft.com/office/drawing/2014/main" id="{CF52C46E-4E83-4B53-9F0C-F0FB92656B55}"/>
              </a:ext>
            </a:extLst>
          </p:cNvPr>
          <p:cNvSpPr>
            <a:spLocks noGrp="1"/>
          </p:cNvSpPr>
          <p:nvPr>
            <p:ph type="ftr" sz="quarter" idx="11"/>
          </p:nvPr>
        </p:nvSpPr>
        <p:spPr/>
        <p:txBody>
          <a:bodyPr/>
          <a:lstStyle>
            <a:lvl1pPr>
              <a:defRPr b="0" i="0">
                <a:latin typeface="LM Roman 10" pitchFamily="2" charset="77"/>
              </a:defRPr>
            </a:lvl1pPr>
          </a:lstStyle>
          <a:p>
            <a:r>
              <a:rPr lang="en-US" dirty="0" err="1"/>
              <a:t>Tirsi</a:t>
            </a:r>
            <a:r>
              <a:rPr lang="en-US" dirty="0"/>
              <a:t> </a:t>
            </a:r>
            <a:r>
              <a:rPr lang="en-US" dirty="0" err="1"/>
              <a:t>Prebibaj</a:t>
            </a:r>
            <a:endParaRPr lang="el-GR" dirty="0"/>
          </a:p>
        </p:txBody>
      </p:sp>
      <p:sp>
        <p:nvSpPr>
          <p:cNvPr id="5" name="Slide Number Placeholder 4">
            <a:extLst>
              <a:ext uri="{FF2B5EF4-FFF2-40B4-BE49-F238E27FC236}">
                <a16:creationId xmlns:a16="http://schemas.microsoft.com/office/drawing/2014/main" id="{DC31A5C5-F322-4B6B-876E-BC838EDFC1F3}"/>
              </a:ext>
            </a:extLst>
          </p:cNvPr>
          <p:cNvSpPr>
            <a:spLocks noGrp="1"/>
          </p:cNvSpPr>
          <p:nvPr>
            <p:ph type="sldNum" sz="quarter" idx="12"/>
          </p:nvPr>
        </p:nvSpPr>
        <p:spPr/>
        <p:txBody>
          <a:bodyPr/>
          <a:lstStyle>
            <a:lvl1pPr>
              <a:defRPr b="0" i="0">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1448848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02060"/>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075DC-D3EF-445E-8244-BCB086D0AEB8}"/>
              </a:ext>
            </a:extLst>
          </p:cNvPr>
          <p:cNvSpPr>
            <a:spLocks noGrp="1"/>
          </p:cNvSpPr>
          <p:nvPr>
            <p:ph type="dt" sz="half" idx="10"/>
          </p:nvPr>
        </p:nvSpPr>
        <p:spPr/>
        <p:txBody>
          <a:bodyPr/>
          <a:lstStyle>
            <a:lvl1pPr>
              <a:defRPr b="0" i="0">
                <a:latin typeface="LM Roman 10" pitchFamily="2" charset="77"/>
              </a:defRPr>
            </a:lvl1pPr>
          </a:lstStyle>
          <a:p>
            <a:fld id="{ED14085D-C03C-42D7-9A5A-FB378F365A49}" type="datetime1">
              <a:rPr lang="el-GR" smtClean="0"/>
              <a:pPr/>
              <a:t>4/6/2024</a:t>
            </a:fld>
            <a:endParaRPr lang="el-GR" dirty="0"/>
          </a:p>
        </p:txBody>
      </p:sp>
      <p:sp>
        <p:nvSpPr>
          <p:cNvPr id="3" name="Footer Placeholder 2">
            <a:extLst>
              <a:ext uri="{FF2B5EF4-FFF2-40B4-BE49-F238E27FC236}">
                <a16:creationId xmlns:a16="http://schemas.microsoft.com/office/drawing/2014/main" id="{D069DFE9-3FD5-4776-BBCC-D369552AFA52}"/>
              </a:ext>
            </a:extLst>
          </p:cNvPr>
          <p:cNvSpPr>
            <a:spLocks noGrp="1"/>
          </p:cNvSpPr>
          <p:nvPr>
            <p:ph type="ftr" sz="quarter" idx="11"/>
          </p:nvPr>
        </p:nvSpPr>
        <p:spPr/>
        <p:txBody>
          <a:bodyPr/>
          <a:lstStyle>
            <a:lvl1pPr>
              <a:defRPr b="0" i="0">
                <a:latin typeface="LM Roman 10" pitchFamily="2" charset="77"/>
              </a:defRPr>
            </a:lvl1pPr>
          </a:lstStyle>
          <a:p>
            <a:r>
              <a:rPr lang="en-US" dirty="0" err="1"/>
              <a:t>Tirsi</a:t>
            </a:r>
            <a:r>
              <a:rPr lang="en-US" dirty="0"/>
              <a:t> </a:t>
            </a:r>
            <a:r>
              <a:rPr lang="en-US" dirty="0" err="1"/>
              <a:t>Prebibaj</a:t>
            </a:r>
            <a:endParaRPr lang="el-GR" dirty="0"/>
          </a:p>
        </p:txBody>
      </p:sp>
      <p:sp>
        <p:nvSpPr>
          <p:cNvPr id="4" name="Slide Number Placeholder 3">
            <a:extLst>
              <a:ext uri="{FF2B5EF4-FFF2-40B4-BE49-F238E27FC236}">
                <a16:creationId xmlns:a16="http://schemas.microsoft.com/office/drawing/2014/main" id="{A64F49DF-8F8A-45ED-99FE-D6CBE948ADE5}"/>
              </a:ext>
            </a:extLst>
          </p:cNvPr>
          <p:cNvSpPr>
            <a:spLocks noGrp="1"/>
          </p:cNvSpPr>
          <p:nvPr>
            <p:ph type="sldNum" sz="quarter" idx="12"/>
          </p:nvPr>
        </p:nvSpPr>
        <p:spPr/>
        <p:txBody>
          <a:bodyPr/>
          <a:lstStyle>
            <a:lvl1pPr>
              <a:defRPr b="0" i="0">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2651753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6B21B-DDFA-4767-A728-94CEA0715869}"/>
              </a:ext>
            </a:extLst>
          </p:cNvPr>
          <p:cNvSpPr>
            <a:spLocks noGrp="1"/>
          </p:cNvSpPr>
          <p:nvPr>
            <p:ph type="title"/>
          </p:nvPr>
        </p:nvSpPr>
        <p:spPr>
          <a:xfrm>
            <a:off x="839788" y="457200"/>
            <a:ext cx="3932237" cy="1600200"/>
          </a:xfrm>
        </p:spPr>
        <p:txBody>
          <a:bodyPr anchor="b"/>
          <a:lstStyle>
            <a:lvl1pPr>
              <a:defRPr sz="3200">
                <a:solidFill>
                  <a:srgbClr val="000000"/>
                </a:solidFill>
              </a:defRPr>
            </a:lvl1pPr>
          </a:lstStyle>
          <a:p>
            <a:r>
              <a:rPr lang="en-US" dirty="0"/>
              <a:t>Click to edit Master title style</a:t>
            </a:r>
            <a:endParaRPr lang="el-GR" dirty="0"/>
          </a:p>
        </p:txBody>
      </p:sp>
      <p:sp>
        <p:nvSpPr>
          <p:cNvPr id="3" name="Content Placeholder 2">
            <a:extLst>
              <a:ext uri="{FF2B5EF4-FFF2-40B4-BE49-F238E27FC236}">
                <a16:creationId xmlns:a16="http://schemas.microsoft.com/office/drawing/2014/main" id="{14DE5F30-5AD2-439A-887B-9F803BFCEAD7}"/>
              </a:ext>
            </a:extLst>
          </p:cNvPr>
          <p:cNvSpPr>
            <a:spLocks noGrp="1"/>
          </p:cNvSpPr>
          <p:nvPr>
            <p:ph idx="1"/>
          </p:nvPr>
        </p:nvSpPr>
        <p:spPr>
          <a:xfrm>
            <a:off x="5183188" y="987425"/>
            <a:ext cx="6172200" cy="4873625"/>
          </a:xfrm>
        </p:spPr>
        <p:txBody>
          <a:bodyPr/>
          <a:lstStyle>
            <a:lvl1pPr>
              <a:defRPr sz="3200" b="0" i="0">
                <a:latin typeface="LM Roman 10" pitchFamily="2" charset="77"/>
              </a:defRPr>
            </a:lvl1pPr>
            <a:lvl2pPr>
              <a:defRPr sz="2800" b="0" i="0">
                <a:latin typeface="LM Roman 10" pitchFamily="2" charset="77"/>
              </a:defRPr>
            </a:lvl2pPr>
            <a:lvl3pPr>
              <a:defRPr sz="2400" b="0" i="0">
                <a:latin typeface="LM Roman 10" pitchFamily="2" charset="77"/>
              </a:defRPr>
            </a:lvl3pPr>
            <a:lvl4pPr>
              <a:defRPr sz="2000" b="0" i="0">
                <a:latin typeface="LM Roman 10" pitchFamily="2" charset="77"/>
              </a:defRPr>
            </a:lvl4pPr>
            <a:lvl5pPr>
              <a:defRPr sz="2000" b="0" i="0">
                <a:latin typeface="LM Roman 10"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4" name="Text Placeholder 3">
            <a:extLst>
              <a:ext uri="{FF2B5EF4-FFF2-40B4-BE49-F238E27FC236}">
                <a16:creationId xmlns:a16="http://schemas.microsoft.com/office/drawing/2014/main" id="{A500842F-1B0D-45CD-B3BC-3967D19D55EA}"/>
              </a:ext>
            </a:extLst>
          </p:cNvPr>
          <p:cNvSpPr>
            <a:spLocks noGrp="1"/>
          </p:cNvSpPr>
          <p:nvPr>
            <p:ph type="body" sz="half" idx="2"/>
          </p:nvPr>
        </p:nvSpPr>
        <p:spPr>
          <a:xfrm>
            <a:off x="839788" y="2057400"/>
            <a:ext cx="3932237" cy="3811588"/>
          </a:xfrm>
        </p:spPr>
        <p:txBody>
          <a:bodyPr/>
          <a:lstStyle>
            <a:lvl1pPr marL="0" indent="0">
              <a:buNone/>
              <a:defRPr sz="1600" b="0" i="0">
                <a:latin typeface="LM Roman 10"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5F2296A7-3247-402D-9807-37773135F002}"/>
              </a:ext>
            </a:extLst>
          </p:cNvPr>
          <p:cNvSpPr>
            <a:spLocks noGrp="1"/>
          </p:cNvSpPr>
          <p:nvPr>
            <p:ph type="dt" sz="half" idx="10"/>
          </p:nvPr>
        </p:nvSpPr>
        <p:spPr/>
        <p:txBody>
          <a:bodyPr/>
          <a:lstStyle>
            <a:lvl1pPr>
              <a:defRPr b="0" i="0">
                <a:latin typeface="LM Roman 10" pitchFamily="2" charset="77"/>
              </a:defRPr>
            </a:lvl1pPr>
          </a:lstStyle>
          <a:p>
            <a:fld id="{DA78B38F-C656-4783-A433-9015DD68EB34}" type="datetime1">
              <a:rPr lang="el-GR" smtClean="0"/>
              <a:pPr/>
              <a:t>4/6/2024</a:t>
            </a:fld>
            <a:endParaRPr lang="el-GR" dirty="0"/>
          </a:p>
        </p:txBody>
      </p:sp>
      <p:sp>
        <p:nvSpPr>
          <p:cNvPr id="6" name="Footer Placeholder 5">
            <a:extLst>
              <a:ext uri="{FF2B5EF4-FFF2-40B4-BE49-F238E27FC236}">
                <a16:creationId xmlns:a16="http://schemas.microsoft.com/office/drawing/2014/main" id="{4B6D1A8E-455C-4E5C-91C2-A7011226464E}"/>
              </a:ext>
            </a:extLst>
          </p:cNvPr>
          <p:cNvSpPr>
            <a:spLocks noGrp="1"/>
          </p:cNvSpPr>
          <p:nvPr>
            <p:ph type="ftr" sz="quarter" idx="11"/>
          </p:nvPr>
        </p:nvSpPr>
        <p:spPr/>
        <p:txBody>
          <a:bodyPr/>
          <a:lstStyle>
            <a:lvl1pPr>
              <a:defRPr b="0" i="0">
                <a:latin typeface="LM Roman 10" pitchFamily="2" charset="77"/>
              </a:defRPr>
            </a:lvl1pPr>
          </a:lstStyle>
          <a:p>
            <a:r>
              <a:rPr lang="en-US" dirty="0" err="1"/>
              <a:t>Tirsi</a:t>
            </a:r>
            <a:r>
              <a:rPr lang="en-US" dirty="0"/>
              <a:t> </a:t>
            </a:r>
            <a:r>
              <a:rPr lang="en-US" dirty="0" err="1"/>
              <a:t>Prebibaj</a:t>
            </a:r>
            <a:endParaRPr lang="el-GR" dirty="0"/>
          </a:p>
        </p:txBody>
      </p:sp>
      <p:sp>
        <p:nvSpPr>
          <p:cNvPr id="7" name="Slide Number Placeholder 6">
            <a:extLst>
              <a:ext uri="{FF2B5EF4-FFF2-40B4-BE49-F238E27FC236}">
                <a16:creationId xmlns:a16="http://schemas.microsoft.com/office/drawing/2014/main" id="{1F2EB041-7D74-42DB-B8FE-F163F15F999E}"/>
              </a:ext>
            </a:extLst>
          </p:cNvPr>
          <p:cNvSpPr>
            <a:spLocks noGrp="1"/>
          </p:cNvSpPr>
          <p:nvPr>
            <p:ph type="sldNum" sz="quarter" idx="12"/>
          </p:nvPr>
        </p:nvSpPr>
        <p:spPr/>
        <p:txBody>
          <a:bodyPr/>
          <a:lstStyle>
            <a:lvl1pPr>
              <a:defRPr b="0" i="0">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2998080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907F4-B87D-430D-980F-300329A56FD1}"/>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endParaRPr lang="el-GR" dirty="0"/>
          </a:p>
        </p:txBody>
      </p:sp>
      <p:sp>
        <p:nvSpPr>
          <p:cNvPr id="3" name="Picture Placeholder 2">
            <a:extLst>
              <a:ext uri="{FF2B5EF4-FFF2-40B4-BE49-F238E27FC236}">
                <a16:creationId xmlns:a16="http://schemas.microsoft.com/office/drawing/2014/main" id="{7A4C0860-8682-4451-A52D-12E9D1BA7963}"/>
              </a:ext>
            </a:extLst>
          </p:cNvPr>
          <p:cNvSpPr>
            <a:spLocks noGrp="1"/>
          </p:cNvSpPr>
          <p:nvPr>
            <p:ph type="pic" idx="1"/>
          </p:nvPr>
        </p:nvSpPr>
        <p:spPr>
          <a:xfrm>
            <a:off x="5183188" y="987425"/>
            <a:ext cx="6172200" cy="4873625"/>
          </a:xfrm>
        </p:spPr>
        <p:txBody>
          <a:bodyPr/>
          <a:lstStyle>
            <a:lvl1pPr marL="0" indent="0">
              <a:buNone/>
              <a:defRPr sz="3200" b="0" i="0">
                <a:latin typeface="LM Roman 10"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dirty="0"/>
          </a:p>
        </p:txBody>
      </p:sp>
      <p:sp>
        <p:nvSpPr>
          <p:cNvPr id="4" name="Text Placeholder 3">
            <a:extLst>
              <a:ext uri="{FF2B5EF4-FFF2-40B4-BE49-F238E27FC236}">
                <a16:creationId xmlns:a16="http://schemas.microsoft.com/office/drawing/2014/main" id="{45701BE6-3CFE-4716-AE36-1A0C49B18284}"/>
              </a:ext>
            </a:extLst>
          </p:cNvPr>
          <p:cNvSpPr>
            <a:spLocks noGrp="1"/>
          </p:cNvSpPr>
          <p:nvPr>
            <p:ph type="body" sz="half" idx="2"/>
          </p:nvPr>
        </p:nvSpPr>
        <p:spPr>
          <a:xfrm>
            <a:off x="839788" y="2057400"/>
            <a:ext cx="3932237" cy="3811588"/>
          </a:xfrm>
        </p:spPr>
        <p:txBody>
          <a:bodyPr/>
          <a:lstStyle>
            <a:lvl1pPr marL="0" indent="0">
              <a:buNone/>
              <a:defRPr sz="1600" b="0" i="0">
                <a:latin typeface="LM Roman 10"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0A3D1C9-288D-466D-A24F-4A3742132879}"/>
              </a:ext>
            </a:extLst>
          </p:cNvPr>
          <p:cNvSpPr>
            <a:spLocks noGrp="1"/>
          </p:cNvSpPr>
          <p:nvPr>
            <p:ph type="dt" sz="half" idx="10"/>
          </p:nvPr>
        </p:nvSpPr>
        <p:spPr/>
        <p:txBody>
          <a:bodyPr/>
          <a:lstStyle>
            <a:lvl1pPr>
              <a:defRPr b="0" i="0">
                <a:latin typeface="LM Roman 10" pitchFamily="2" charset="77"/>
              </a:defRPr>
            </a:lvl1pPr>
          </a:lstStyle>
          <a:p>
            <a:fld id="{0CE4520F-201B-47A3-A9FF-7E3A444EFB6B}" type="datetime1">
              <a:rPr lang="el-GR" smtClean="0"/>
              <a:pPr/>
              <a:t>4/6/2024</a:t>
            </a:fld>
            <a:endParaRPr lang="el-GR" dirty="0"/>
          </a:p>
        </p:txBody>
      </p:sp>
      <p:sp>
        <p:nvSpPr>
          <p:cNvPr id="6" name="Footer Placeholder 5">
            <a:extLst>
              <a:ext uri="{FF2B5EF4-FFF2-40B4-BE49-F238E27FC236}">
                <a16:creationId xmlns:a16="http://schemas.microsoft.com/office/drawing/2014/main" id="{F3D9088A-88D4-4FB2-940E-B0BAAB14B111}"/>
              </a:ext>
            </a:extLst>
          </p:cNvPr>
          <p:cNvSpPr>
            <a:spLocks noGrp="1"/>
          </p:cNvSpPr>
          <p:nvPr>
            <p:ph type="ftr" sz="quarter" idx="11"/>
          </p:nvPr>
        </p:nvSpPr>
        <p:spPr/>
        <p:txBody>
          <a:bodyPr/>
          <a:lstStyle>
            <a:lvl1pPr>
              <a:defRPr b="0" i="0">
                <a:latin typeface="LM Roman 10" pitchFamily="2" charset="77"/>
              </a:defRPr>
            </a:lvl1pPr>
          </a:lstStyle>
          <a:p>
            <a:r>
              <a:rPr lang="en-US" dirty="0" err="1"/>
              <a:t>Tirsi</a:t>
            </a:r>
            <a:r>
              <a:rPr lang="en-US" dirty="0"/>
              <a:t> </a:t>
            </a:r>
            <a:r>
              <a:rPr lang="en-US" dirty="0" err="1"/>
              <a:t>Prebibaj</a:t>
            </a:r>
            <a:endParaRPr lang="el-GR" dirty="0"/>
          </a:p>
        </p:txBody>
      </p:sp>
      <p:sp>
        <p:nvSpPr>
          <p:cNvPr id="7" name="Slide Number Placeholder 6">
            <a:extLst>
              <a:ext uri="{FF2B5EF4-FFF2-40B4-BE49-F238E27FC236}">
                <a16:creationId xmlns:a16="http://schemas.microsoft.com/office/drawing/2014/main" id="{D49FAE45-993D-4208-A000-3231F859BDC4}"/>
              </a:ext>
            </a:extLst>
          </p:cNvPr>
          <p:cNvSpPr>
            <a:spLocks noGrp="1"/>
          </p:cNvSpPr>
          <p:nvPr>
            <p:ph type="sldNum" sz="quarter" idx="12"/>
          </p:nvPr>
        </p:nvSpPr>
        <p:spPr/>
        <p:txBody>
          <a:bodyPr/>
          <a:lstStyle>
            <a:lvl1pPr>
              <a:defRPr b="0" i="0">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551730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0A34F-51F8-48E3-9119-A48594E07726}"/>
              </a:ext>
            </a:extLst>
          </p:cNvPr>
          <p:cNvSpPr>
            <a:spLocks noGrp="1"/>
          </p:cNvSpPr>
          <p:nvPr>
            <p:ph type="title"/>
          </p:nvPr>
        </p:nvSpPr>
        <p:spPr/>
        <p:txBody>
          <a:bodyPr/>
          <a:lstStyle/>
          <a:p>
            <a:r>
              <a:rPr lang="en-US"/>
              <a:t>Click to edit Master title style</a:t>
            </a:r>
            <a:endParaRPr lang="el-GR"/>
          </a:p>
        </p:txBody>
      </p:sp>
      <p:sp>
        <p:nvSpPr>
          <p:cNvPr id="3" name="Vertical Text Placeholder 2">
            <a:extLst>
              <a:ext uri="{FF2B5EF4-FFF2-40B4-BE49-F238E27FC236}">
                <a16:creationId xmlns:a16="http://schemas.microsoft.com/office/drawing/2014/main" id="{7AF71539-A3EA-4FF8-9D42-6BAAC69E4118}"/>
              </a:ext>
            </a:extLst>
          </p:cNvPr>
          <p:cNvSpPr>
            <a:spLocks noGrp="1"/>
          </p:cNvSpPr>
          <p:nvPr>
            <p:ph type="body" orient="vert" idx="1"/>
          </p:nvPr>
        </p:nvSpPr>
        <p:spPr/>
        <p:txBody>
          <a:bodyPr vert="eaVert"/>
          <a:lstStyle>
            <a:lvl1pPr>
              <a:defRPr b="0" i="0">
                <a:latin typeface="LM Roman 10" pitchFamily="2" charset="77"/>
              </a:defRPr>
            </a:lvl1pPr>
            <a:lvl2pPr>
              <a:defRPr b="0" i="0">
                <a:latin typeface="LM Roman 10" pitchFamily="2" charset="77"/>
              </a:defRPr>
            </a:lvl2pPr>
            <a:lvl3pPr>
              <a:defRPr b="0" i="0">
                <a:latin typeface="LM Roman 10" pitchFamily="2" charset="77"/>
              </a:defRPr>
            </a:lvl3pPr>
            <a:lvl4pPr>
              <a:defRPr b="0" i="0">
                <a:latin typeface="LM Roman 10" pitchFamily="2" charset="77"/>
              </a:defRPr>
            </a:lvl4pPr>
            <a:lvl5pPr>
              <a:defRPr b="0" i="0">
                <a:latin typeface="LM Roman 1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4" name="Date Placeholder 3">
            <a:extLst>
              <a:ext uri="{FF2B5EF4-FFF2-40B4-BE49-F238E27FC236}">
                <a16:creationId xmlns:a16="http://schemas.microsoft.com/office/drawing/2014/main" id="{D7147A1A-D240-4B88-A354-19C80AEC0361}"/>
              </a:ext>
            </a:extLst>
          </p:cNvPr>
          <p:cNvSpPr>
            <a:spLocks noGrp="1"/>
          </p:cNvSpPr>
          <p:nvPr>
            <p:ph type="dt" sz="half" idx="10"/>
          </p:nvPr>
        </p:nvSpPr>
        <p:spPr/>
        <p:txBody>
          <a:bodyPr/>
          <a:lstStyle>
            <a:lvl1pPr>
              <a:defRPr b="0" i="0">
                <a:latin typeface="LM Roman 10" pitchFamily="2" charset="77"/>
              </a:defRPr>
            </a:lvl1pPr>
          </a:lstStyle>
          <a:p>
            <a:fld id="{B7A9592F-66BE-4AAC-BA00-18BEC726EE68}" type="datetime1">
              <a:rPr lang="el-GR" smtClean="0"/>
              <a:pPr/>
              <a:t>4/6/2024</a:t>
            </a:fld>
            <a:endParaRPr lang="el-GR" dirty="0"/>
          </a:p>
        </p:txBody>
      </p:sp>
      <p:sp>
        <p:nvSpPr>
          <p:cNvPr id="5" name="Footer Placeholder 4">
            <a:extLst>
              <a:ext uri="{FF2B5EF4-FFF2-40B4-BE49-F238E27FC236}">
                <a16:creationId xmlns:a16="http://schemas.microsoft.com/office/drawing/2014/main" id="{71698FE0-1859-4C72-B699-CFC903DC2FA7}"/>
              </a:ext>
            </a:extLst>
          </p:cNvPr>
          <p:cNvSpPr>
            <a:spLocks noGrp="1"/>
          </p:cNvSpPr>
          <p:nvPr>
            <p:ph type="ftr" sz="quarter" idx="11"/>
          </p:nvPr>
        </p:nvSpPr>
        <p:spPr/>
        <p:txBody>
          <a:bodyPr/>
          <a:lstStyle>
            <a:lvl1pPr>
              <a:defRPr b="0" i="0">
                <a:latin typeface="LM Roman 10" pitchFamily="2" charset="77"/>
              </a:defRPr>
            </a:lvl1pPr>
          </a:lstStyle>
          <a:p>
            <a:r>
              <a:rPr lang="en-US" dirty="0" err="1"/>
              <a:t>Tirsi</a:t>
            </a:r>
            <a:r>
              <a:rPr lang="en-US" dirty="0"/>
              <a:t> </a:t>
            </a:r>
            <a:r>
              <a:rPr lang="en-US" dirty="0" err="1"/>
              <a:t>Prebibaj</a:t>
            </a:r>
            <a:endParaRPr lang="el-GR" dirty="0"/>
          </a:p>
        </p:txBody>
      </p:sp>
      <p:sp>
        <p:nvSpPr>
          <p:cNvPr id="6" name="Slide Number Placeholder 5">
            <a:extLst>
              <a:ext uri="{FF2B5EF4-FFF2-40B4-BE49-F238E27FC236}">
                <a16:creationId xmlns:a16="http://schemas.microsoft.com/office/drawing/2014/main" id="{45F1D9FB-90D3-429A-81E3-F6FDFC07CA74}"/>
              </a:ext>
            </a:extLst>
          </p:cNvPr>
          <p:cNvSpPr>
            <a:spLocks noGrp="1"/>
          </p:cNvSpPr>
          <p:nvPr>
            <p:ph type="sldNum" sz="quarter" idx="12"/>
          </p:nvPr>
        </p:nvSpPr>
        <p:spPr/>
        <p:txBody>
          <a:bodyPr/>
          <a:lstStyle>
            <a:lvl1pPr>
              <a:defRPr b="0" i="0">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2366762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36E10F-2310-405F-AE28-4E8793CAA7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l-GR"/>
          </a:p>
        </p:txBody>
      </p:sp>
      <p:sp>
        <p:nvSpPr>
          <p:cNvPr id="3" name="Vertical Text Placeholder 2">
            <a:extLst>
              <a:ext uri="{FF2B5EF4-FFF2-40B4-BE49-F238E27FC236}">
                <a16:creationId xmlns:a16="http://schemas.microsoft.com/office/drawing/2014/main" id="{EADB4DCD-FAAF-45A4-A8F8-AB479C7EFDB4}"/>
              </a:ext>
            </a:extLst>
          </p:cNvPr>
          <p:cNvSpPr>
            <a:spLocks noGrp="1"/>
          </p:cNvSpPr>
          <p:nvPr>
            <p:ph type="body" orient="vert" idx="1"/>
          </p:nvPr>
        </p:nvSpPr>
        <p:spPr>
          <a:xfrm>
            <a:off x="838200" y="365125"/>
            <a:ext cx="7734300" cy="5811838"/>
          </a:xfrm>
        </p:spPr>
        <p:txBody>
          <a:bodyPr vert="eaVert"/>
          <a:lstStyle>
            <a:lvl1pPr>
              <a:defRPr b="0" i="0">
                <a:latin typeface="LM Roman 10" pitchFamily="2" charset="77"/>
              </a:defRPr>
            </a:lvl1pPr>
            <a:lvl2pPr>
              <a:defRPr b="0" i="0">
                <a:latin typeface="LM Roman 10" pitchFamily="2" charset="77"/>
              </a:defRPr>
            </a:lvl2pPr>
            <a:lvl3pPr>
              <a:defRPr b="0" i="0">
                <a:latin typeface="LM Roman 10" pitchFamily="2" charset="77"/>
              </a:defRPr>
            </a:lvl3pPr>
            <a:lvl4pPr>
              <a:defRPr b="0" i="0">
                <a:latin typeface="LM Roman 10" pitchFamily="2" charset="77"/>
              </a:defRPr>
            </a:lvl4pPr>
            <a:lvl5pPr>
              <a:defRPr b="0" i="0">
                <a:latin typeface="LM Roman 10"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4" name="Date Placeholder 3">
            <a:extLst>
              <a:ext uri="{FF2B5EF4-FFF2-40B4-BE49-F238E27FC236}">
                <a16:creationId xmlns:a16="http://schemas.microsoft.com/office/drawing/2014/main" id="{19300CC3-CEDD-4F43-893A-8C1299FF0311}"/>
              </a:ext>
            </a:extLst>
          </p:cNvPr>
          <p:cNvSpPr>
            <a:spLocks noGrp="1"/>
          </p:cNvSpPr>
          <p:nvPr>
            <p:ph type="dt" sz="half" idx="10"/>
          </p:nvPr>
        </p:nvSpPr>
        <p:spPr/>
        <p:txBody>
          <a:bodyPr/>
          <a:lstStyle>
            <a:lvl1pPr>
              <a:defRPr b="0" i="0">
                <a:latin typeface="LM Roman 10" pitchFamily="2" charset="77"/>
              </a:defRPr>
            </a:lvl1pPr>
          </a:lstStyle>
          <a:p>
            <a:fld id="{72F9C929-A3D9-4412-9D6D-12FB650E0447}" type="datetime1">
              <a:rPr lang="el-GR" smtClean="0"/>
              <a:pPr/>
              <a:t>4/6/2024</a:t>
            </a:fld>
            <a:endParaRPr lang="el-GR" dirty="0"/>
          </a:p>
        </p:txBody>
      </p:sp>
      <p:sp>
        <p:nvSpPr>
          <p:cNvPr id="5" name="Footer Placeholder 4">
            <a:extLst>
              <a:ext uri="{FF2B5EF4-FFF2-40B4-BE49-F238E27FC236}">
                <a16:creationId xmlns:a16="http://schemas.microsoft.com/office/drawing/2014/main" id="{4700E231-26DB-4C9C-A92F-02A495E11AD8}"/>
              </a:ext>
            </a:extLst>
          </p:cNvPr>
          <p:cNvSpPr>
            <a:spLocks noGrp="1"/>
          </p:cNvSpPr>
          <p:nvPr>
            <p:ph type="ftr" sz="quarter" idx="11"/>
          </p:nvPr>
        </p:nvSpPr>
        <p:spPr/>
        <p:txBody>
          <a:bodyPr/>
          <a:lstStyle>
            <a:lvl1pPr>
              <a:defRPr b="0" i="0">
                <a:latin typeface="LM Roman 10" pitchFamily="2" charset="77"/>
              </a:defRPr>
            </a:lvl1pPr>
          </a:lstStyle>
          <a:p>
            <a:r>
              <a:rPr lang="en-US" dirty="0" err="1"/>
              <a:t>Tirsi</a:t>
            </a:r>
            <a:r>
              <a:rPr lang="en-US" dirty="0"/>
              <a:t> </a:t>
            </a:r>
            <a:r>
              <a:rPr lang="en-US" dirty="0" err="1"/>
              <a:t>Prebibaj</a:t>
            </a:r>
            <a:endParaRPr lang="el-GR" dirty="0"/>
          </a:p>
        </p:txBody>
      </p:sp>
      <p:sp>
        <p:nvSpPr>
          <p:cNvPr id="6" name="Slide Number Placeholder 5">
            <a:extLst>
              <a:ext uri="{FF2B5EF4-FFF2-40B4-BE49-F238E27FC236}">
                <a16:creationId xmlns:a16="http://schemas.microsoft.com/office/drawing/2014/main" id="{618F979D-3D57-4667-924E-89507AA00E4C}"/>
              </a:ext>
            </a:extLst>
          </p:cNvPr>
          <p:cNvSpPr>
            <a:spLocks noGrp="1"/>
          </p:cNvSpPr>
          <p:nvPr>
            <p:ph type="sldNum" sz="quarter" idx="12"/>
          </p:nvPr>
        </p:nvSpPr>
        <p:spPr/>
        <p:txBody>
          <a:bodyPr/>
          <a:lstStyle>
            <a:lvl1pPr>
              <a:defRPr b="0" i="0">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4038726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D8B72D-015B-45F4-A28D-12DCF5C405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l-GR" dirty="0"/>
          </a:p>
        </p:txBody>
      </p:sp>
      <p:sp>
        <p:nvSpPr>
          <p:cNvPr id="3" name="Text Placeholder 2">
            <a:extLst>
              <a:ext uri="{FF2B5EF4-FFF2-40B4-BE49-F238E27FC236}">
                <a16:creationId xmlns:a16="http://schemas.microsoft.com/office/drawing/2014/main" id="{D4FE41C7-65C8-4C2D-92B9-999AF29A87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l-GR" dirty="0"/>
          </a:p>
        </p:txBody>
      </p:sp>
      <p:sp>
        <p:nvSpPr>
          <p:cNvPr id="4" name="Date Placeholder 3">
            <a:extLst>
              <a:ext uri="{FF2B5EF4-FFF2-40B4-BE49-F238E27FC236}">
                <a16:creationId xmlns:a16="http://schemas.microsoft.com/office/drawing/2014/main" id="{DB913B4E-5BB3-4A6C-A240-169C897C44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LM Roman 10" pitchFamily="2" charset="77"/>
              </a:defRPr>
            </a:lvl1pPr>
          </a:lstStyle>
          <a:p>
            <a:fld id="{51C8CAD8-AEEF-4E4F-BD5F-ECFB1A2F50AF}" type="datetime1">
              <a:rPr lang="el-GR" smtClean="0"/>
              <a:pPr/>
              <a:t>4/6/2024</a:t>
            </a:fld>
            <a:endParaRPr lang="el-GR" dirty="0"/>
          </a:p>
        </p:txBody>
      </p:sp>
      <p:sp>
        <p:nvSpPr>
          <p:cNvPr id="5" name="Footer Placeholder 4">
            <a:extLst>
              <a:ext uri="{FF2B5EF4-FFF2-40B4-BE49-F238E27FC236}">
                <a16:creationId xmlns:a16="http://schemas.microsoft.com/office/drawing/2014/main" id="{86D2A789-253B-4428-B3BA-D77AB8AEDB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LM Roman 10" pitchFamily="2" charset="77"/>
              </a:defRPr>
            </a:lvl1pPr>
          </a:lstStyle>
          <a:p>
            <a:r>
              <a:rPr lang="en-US" dirty="0" err="1"/>
              <a:t>Tirsi</a:t>
            </a:r>
            <a:r>
              <a:rPr lang="en-US" dirty="0"/>
              <a:t> </a:t>
            </a:r>
            <a:r>
              <a:rPr lang="en-US" dirty="0" err="1"/>
              <a:t>Prebibaj</a:t>
            </a:r>
            <a:endParaRPr lang="el-GR" dirty="0"/>
          </a:p>
        </p:txBody>
      </p:sp>
      <p:sp>
        <p:nvSpPr>
          <p:cNvPr id="6" name="Slide Number Placeholder 5">
            <a:extLst>
              <a:ext uri="{FF2B5EF4-FFF2-40B4-BE49-F238E27FC236}">
                <a16:creationId xmlns:a16="http://schemas.microsoft.com/office/drawing/2014/main" id="{6AE63529-2769-4BE9-9B03-C661991C3B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LM Roman 10" pitchFamily="2" charset="77"/>
              </a:defRPr>
            </a:lvl1pPr>
          </a:lstStyle>
          <a:p>
            <a:fld id="{A8ED8B99-2640-4528-BE06-488F2B48F17D}" type="slidenum">
              <a:rPr lang="el-GR" smtClean="0"/>
              <a:pPr/>
              <a:t>‹#›</a:t>
            </a:fld>
            <a:endParaRPr lang="el-GR" dirty="0"/>
          </a:p>
        </p:txBody>
      </p:sp>
    </p:spTree>
    <p:extLst>
      <p:ext uri="{BB962C8B-B14F-4D97-AF65-F5344CB8AC3E}">
        <p14:creationId xmlns:p14="http://schemas.microsoft.com/office/powerpoint/2010/main" val="2331405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LM Roman Caps 10"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LM Roman 10"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LM Roman 10"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LM Roman 10"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LM Roman 10"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LM Roman 1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4.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4.xml"/><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4.xml"/><Relationship Id="rId4" Type="http://schemas.microsoft.com/office/2007/relationships/hdphoto" Target="../media/hdphoto4.wdp"/></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4.xml"/><Relationship Id="rId4" Type="http://schemas.microsoft.com/office/2007/relationships/hdphoto" Target="../media/hdphoto5.wdp"/></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2.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0.pn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40.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gif"/><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8" Type="http://schemas.openxmlformats.org/officeDocument/2006/relationships/hyperlink" Target="https://gitlab.cern.ch/scripting-tools/pyjapc" TargetMode="External"/><Relationship Id="rId3" Type="http://schemas.openxmlformats.org/officeDocument/2006/relationships/hyperlink" Target="ccde.cern.ch" TargetMode="External"/><Relationship Id="rId7" Type="http://schemas.openxmlformats.org/officeDocument/2006/relationships/hyperlink" Target="https://timber.cern.ch/"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s://swan.cern.ch/" TargetMode="External"/><Relationship Id="rId5" Type="http://schemas.openxmlformats.org/officeDocument/2006/relationships/hyperlink" Target="https://nxcals-docs.web.cern.ch/current/" TargetMode="External"/><Relationship Id="rId4" Type="http://schemas.openxmlformats.org/officeDocument/2006/relationships/hyperlink" Target="https://indico.cern.ch/event/891911/contributions/3762054/attachments/2033483/3404406/LSA.pdf" TargetMode="External"/><Relationship Id="rId9" Type="http://schemas.openxmlformats.org/officeDocument/2006/relationships/hyperlink" Target="https://gitlab.cern.ch/abpcomputing/sandbox/pyjapcscout"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 Id="rId5" Type="http://schemas.openxmlformats.org/officeDocument/2006/relationships/image" Target="../media/image42.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430.png"/><Relationship Id="rId2" Type="http://schemas.openxmlformats.org/officeDocument/2006/relationships/image" Target="../media/image46.png"/><Relationship Id="rId1" Type="http://schemas.openxmlformats.org/officeDocument/2006/relationships/slideLayout" Target="../slideLayouts/slideLayout4.xml"/><Relationship Id="rId6" Type="http://schemas.openxmlformats.org/officeDocument/2006/relationships/image" Target="../media/image420.png"/><Relationship Id="rId5" Type="http://schemas.openxmlformats.org/officeDocument/2006/relationships/image" Target="../media/image410.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0.png"/><Relationship Id="rId1" Type="http://schemas.openxmlformats.org/officeDocument/2006/relationships/slideLayout" Target="../slideLayouts/slideLayout4.xml"/><Relationship Id="rId5" Type="http://schemas.openxmlformats.org/officeDocument/2006/relationships/image" Target="../media/image60.gif"/><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 Id="rId5" Type="http://schemas.openxmlformats.org/officeDocument/2006/relationships/image" Target="../media/image65.png"/><Relationship Id="rId4" Type="http://schemas.openxmlformats.org/officeDocument/2006/relationships/image" Target="../media/image64.png"/></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S1 report: PS Booster prepares for beam | CERN">
            <a:extLst>
              <a:ext uri="{FF2B5EF4-FFF2-40B4-BE49-F238E27FC236}">
                <a16:creationId xmlns:a16="http://schemas.microsoft.com/office/drawing/2014/main" id="{485DF8B9-7275-4491-9707-39694F58BADC}"/>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3"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2">
            <a:extLst>
              <a:ext uri="{FF2B5EF4-FFF2-40B4-BE49-F238E27FC236}">
                <a16:creationId xmlns:a16="http://schemas.microsoft.com/office/drawing/2014/main" id="{524A720D-A9A7-ECE9-922E-65F9EA63DAA3}"/>
              </a:ext>
            </a:extLst>
          </p:cNvPr>
          <p:cNvSpPr txBox="1">
            <a:spLocks/>
          </p:cNvSpPr>
          <p:nvPr/>
        </p:nvSpPr>
        <p:spPr>
          <a:xfrm>
            <a:off x="-3" y="351984"/>
            <a:ext cx="12192000" cy="1898898"/>
          </a:xfrm>
          <a:prstGeom prst="rect">
            <a:avLst/>
          </a:prstGeom>
          <a:noFill/>
          <a:effectLst>
            <a:softEdge rad="31750"/>
          </a:effectLst>
        </p:spPr>
        <p:txBody>
          <a:bodyPr vert="horz" lIns="91440" tIns="45720" rIns="91440" bIns="45720" rtlCol="0" anchor="ctr">
            <a:normAutofit/>
          </a:bodyPr>
          <a:lstStyle>
            <a:lvl1pPr algn="ctr" defTabSz="914400" rtl="0" eaLnBrk="1" latinLnBrk="0" hangingPunct="1">
              <a:lnSpc>
                <a:spcPct val="90000"/>
              </a:lnSpc>
              <a:spcBef>
                <a:spcPct val="0"/>
              </a:spcBef>
              <a:buNone/>
              <a:defRPr sz="4400" b="0" kern="1200">
                <a:solidFill>
                  <a:schemeClr val="bg1"/>
                </a:solidFill>
                <a:latin typeface="+mj-lt"/>
                <a:ea typeface="+mj-ea"/>
                <a:cs typeface="+mj-cs"/>
              </a:defRPr>
            </a:lvl1pPr>
          </a:lstStyle>
          <a:p>
            <a:r>
              <a:rPr lang="en-US" sz="4800" b="1" dirty="0">
                <a:latin typeface="Arial" panose="020B0604020202020204" pitchFamily="34" charset="0"/>
                <a:cs typeface="Arial" panose="020B0604020202020204" pitchFamily="34" charset="0"/>
              </a:rPr>
              <a:t>Introduction to the PSB:</a:t>
            </a:r>
            <a:br>
              <a:rPr lang="en-US" sz="4800" b="1" dirty="0">
                <a:latin typeface="Arial" panose="020B0604020202020204" pitchFamily="34" charset="0"/>
                <a:cs typeface="Arial" panose="020B0604020202020204" pitchFamily="34" charset="0"/>
              </a:rPr>
            </a:br>
            <a:br>
              <a:rPr lang="en-US" sz="4000" b="1" dirty="0">
                <a:latin typeface="Arial" panose="020B0604020202020204" pitchFamily="34" charset="0"/>
                <a:cs typeface="Arial" panose="020B0604020202020204" pitchFamily="34" charset="0"/>
              </a:rPr>
            </a:br>
            <a:r>
              <a:rPr lang="en-US" sz="4000" b="1" dirty="0">
                <a:latin typeface="Arial" panose="020B0604020202020204" pitchFamily="34" charset="0"/>
                <a:cs typeface="Arial" panose="020B0604020202020204" pitchFamily="34" charset="0"/>
              </a:rPr>
              <a:t>Accelerator, Control Systems, Measurements</a:t>
            </a:r>
            <a:endParaRPr lang="el-GR" sz="4000" b="1" dirty="0">
              <a:latin typeface="Arial" panose="020B0604020202020204" pitchFamily="34" charset="0"/>
              <a:cs typeface="Arial" panose="020B0604020202020204" pitchFamily="34" charset="0"/>
            </a:endParaRPr>
          </a:p>
        </p:txBody>
      </p:sp>
      <p:sp>
        <p:nvSpPr>
          <p:cNvPr id="10" name="Subtitle 1">
            <a:extLst>
              <a:ext uri="{FF2B5EF4-FFF2-40B4-BE49-F238E27FC236}">
                <a16:creationId xmlns:a16="http://schemas.microsoft.com/office/drawing/2014/main" id="{8CCB2CA8-0002-F1A7-E045-12A53F0B8E87}"/>
              </a:ext>
            </a:extLst>
          </p:cNvPr>
          <p:cNvSpPr txBox="1">
            <a:spLocks/>
          </p:cNvSpPr>
          <p:nvPr/>
        </p:nvSpPr>
        <p:spPr>
          <a:xfrm>
            <a:off x="624984" y="4942442"/>
            <a:ext cx="10942027" cy="1671009"/>
          </a:xfrm>
          <a:prstGeom prst="rect">
            <a:avLst/>
          </a:prstGeom>
          <a:noFill/>
          <a:effectLst>
            <a:softEdge rad="31750"/>
          </a:effectLst>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800" b="1" dirty="0">
              <a:latin typeface="Arial" panose="020B0604020202020204" pitchFamily="34" charset="0"/>
              <a:cs typeface="Arial" panose="020B0604020202020204" pitchFamily="34" charset="0"/>
            </a:endParaRPr>
          </a:p>
          <a:p>
            <a:r>
              <a:rPr lang="en-US" sz="2800" b="1" dirty="0">
                <a:latin typeface="Arial" panose="020B0604020202020204" pitchFamily="34" charset="0"/>
                <a:cs typeface="Arial" panose="020B0604020202020204" pitchFamily="34" charset="0"/>
              </a:rPr>
              <a:t>03-07/06/2024</a:t>
            </a:r>
          </a:p>
          <a:p>
            <a:r>
              <a:rPr lang="en-US" sz="2800" b="1" dirty="0">
                <a:latin typeface="Arial" panose="020B0604020202020204" pitchFamily="34" charset="0"/>
                <a:cs typeface="Arial" panose="020B0604020202020204" pitchFamily="34" charset="0"/>
              </a:rPr>
              <a:t>Advanced Training School on Operation of Accelerators</a:t>
            </a:r>
          </a:p>
          <a:p>
            <a:r>
              <a:rPr lang="en-US" sz="2800" b="1" dirty="0">
                <a:latin typeface="Arial" panose="020B0604020202020204" pitchFamily="34" charset="0"/>
                <a:cs typeface="Arial" panose="020B0604020202020204" pitchFamily="34" charset="0"/>
              </a:rPr>
              <a:t>EURO-LABS Training Sessions @ CERN Facilities</a:t>
            </a:r>
          </a:p>
        </p:txBody>
      </p:sp>
      <p:sp>
        <p:nvSpPr>
          <p:cNvPr id="3" name="Subtitle 1">
            <a:extLst>
              <a:ext uri="{FF2B5EF4-FFF2-40B4-BE49-F238E27FC236}">
                <a16:creationId xmlns:a16="http://schemas.microsoft.com/office/drawing/2014/main" id="{9348E1E0-0F4F-6BAF-F51C-1753289619A7}"/>
              </a:ext>
            </a:extLst>
          </p:cNvPr>
          <p:cNvSpPr txBox="1">
            <a:spLocks/>
          </p:cNvSpPr>
          <p:nvPr/>
        </p:nvSpPr>
        <p:spPr>
          <a:xfrm>
            <a:off x="624984" y="2691559"/>
            <a:ext cx="10942027" cy="1474881"/>
          </a:xfrm>
          <a:prstGeom prst="rect">
            <a:avLst/>
          </a:prstGeom>
          <a:noFill/>
          <a:effectLst>
            <a:softEdge rad="31750"/>
          </a:effectLst>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800" b="1" dirty="0">
              <a:latin typeface="Arial" panose="020B0604020202020204" pitchFamily="34" charset="0"/>
              <a:cs typeface="Arial" panose="020B0604020202020204" pitchFamily="34" charset="0"/>
            </a:endParaRPr>
          </a:p>
          <a:p>
            <a:r>
              <a:rPr lang="en-US" sz="2800" b="1" dirty="0">
                <a:latin typeface="Arial" panose="020B0604020202020204" pitchFamily="34" charset="0"/>
                <a:cs typeface="Arial" panose="020B0604020202020204" pitchFamily="34" charset="0"/>
              </a:rPr>
              <a:t>F. </a:t>
            </a:r>
            <a:r>
              <a:rPr lang="en-US" sz="2800" b="1" dirty="0" err="1">
                <a:latin typeface="Arial" panose="020B0604020202020204" pitchFamily="34" charset="0"/>
                <a:cs typeface="Arial" panose="020B0604020202020204" pitchFamily="34" charset="0"/>
              </a:rPr>
              <a:t>Asvesta</a:t>
            </a:r>
            <a:r>
              <a:rPr lang="en-US" sz="2800" b="1" dirty="0">
                <a:latin typeface="Arial" panose="020B0604020202020204" pitchFamily="34" charset="0"/>
                <a:cs typeface="Arial" panose="020B0604020202020204" pitchFamily="34" charset="0"/>
              </a:rPr>
              <a:t>, T. </a:t>
            </a:r>
            <a:r>
              <a:rPr lang="en-US" sz="2800" b="1" dirty="0" err="1">
                <a:latin typeface="Arial" panose="020B0604020202020204" pitchFamily="34" charset="0"/>
                <a:cs typeface="Arial" panose="020B0604020202020204" pitchFamily="34" charset="0"/>
              </a:rPr>
              <a:t>Prebibaj</a:t>
            </a:r>
            <a:endParaRPr lang="en-US"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66687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8A94-B671-E78F-7F7E-B1DFF0ADEA9F}"/>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Injectors complex &amp; facilities </a:t>
            </a:r>
          </a:p>
        </p:txBody>
      </p:sp>
      <p:sp>
        <p:nvSpPr>
          <p:cNvPr id="5" name="Slide Number Placeholder 4">
            <a:extLst>
              <a:ext uri="{FF2B5EF4-FFF2-40B4-BE49-F238E27FC236}">
                <a16:creationId xmlns:a16="http://schemas.microsoft.com/office/drawing/2014/main" id="{7E60FBF1-F4D6-DBD3-E922-BAEAFDAD99FA}"/>
              </a:ext>
            </a:extLst>
          </p:cNvPr>
          <p:cNvSpPr>
            <a:spLocks noGrp="1"/>
          </p:cNvSpPr>
          <p:nvPr>
            <p:ph type="sldNum" sz="quarter" idx="12"/>
          </p:nvPr>
        </p:nvSpPr>
        <p:spPr/>
        <p:txBody>
          <a:bodyPr/>
          <a:lstStyle/>
          <a:p>
            <a:r>
              <a:rPr lang="en-US" dirty="0"/>
              <a:t>1</a:t>
            </a:r>
            <a:endParaRPr lang="el-GR" dirty="0"/>
          </a:p>
        </p:txBody>
      </p:sp>
      <p:pic>
        <p:nvPicPr>
          <p:cNvPr id="4098" name="Picture 2">
            <a:extLst>
              <a:ext uri="{FF2B5EF4-FFF2-40B4-BE49-F238E27FC236}">
                <a16:creationId xmlns:a16="http://schemas.microsoft.com/office/drawing/2014/main" id="{E04766D3-46CB-B431-CD77-C5B2820337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B79AF1F-3E4C-94B4-21CC-7451F1DB8EE6}"/>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8C81A90-B3C4-4E4C-3B1D-A72A2A24F013}"/>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9775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8A94-B671-E78F-7F7E-B1DFF0ADEA9F}"/>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Injectors complex &amp; facilities </a:t>
            </a:r>
          </a:p>
        </p:txBody>
      </p:sp>
      <p:pic>
        <p:nvPicPr>
          <p:cNvPr id="4098" name="Picture 2">
            <a:extLst>
              <a:ext uri="{FF2B5EF4-FFF2-40B4-BE49-F238E27FC236}">
                <a16:creationId xmlns:a16="http://schemas.microsoft.com/office/drawing/2014/main" id="{E04766D3-46CB-B431-CD77-C5B282033734}"/>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computer screen shot of a diagram&#10;&#10;Description automatically generated">
            <a:extLst>
              <a:ext uri="{FF2B5EF4-FFF2-40B4-BE49-F238E27FC236}">
                <a16:creationId xmlns:a16="http://schemas.microsoft.com/office/drawing/2014/main" id="{69AAE68E-A863-9C75-0AEB-E6356EBCA3DF}"/>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0" y="637815"/>
            <a:ext cx="11082199" cy="5797761"/>
          </a:xfrm>
          <a:prstGeom prst="rect">
            <a:avLst/>
          </a:prstGeom>
        </p:spPr>
      </p:pic>
      <p:sp>
        <p:nvSpPr>
          <p:cNvPr id="11" name="Slide Number Placeholder 4">
            <a:extLst>
              <a:ext uri="{FF2B5EF4-FFF2-40B4-BE49-F238E27FC236}">
                <a16:creationId xmlns:a16="http://schemas.microsoft.com/office/drawing/2014/main" id="{53C8D268-F53B-DBA9-564D-39165AFB9B19}"/>
              </a:ext>
            </a:extLst>
          </p:cNvPr>
          <p:cNvSpPr>
            <a:spLocks noGrp="1"/>
          </p:cNvSpPr>
          <p:nvPr>
            <p:ph type="sldNum" sz="quarter" idx="12"/>
          </p:nvPr>
        </p:nvSpPr>
        <p:spPr>
          <a:xfrm>
            <a:off x="10311617" y="6597748"/>
            <a:ext cx="1880381" cy="260252"/>
          </a:xfrm>
        </p:spPr>
        <p:txBody>
          <a:bodyPr/>
          <a:lstStyle/>
          <a:p>
            <a:r>
              <a:rPr lang="en-US" dirty="0"/>
              <a:t>1</a:t>
            </a:r>
            <a:endParaRPr lang="el-GR" dirty="0"/>
          </a:p>
        </p:txBody>
      </p:sp>
      <p:sp>
        <p:nvSpPr>
          <p:cNvPr id="5" name="TextBox 4">
            <a:extLst>
              <a:ext uri="{FF2B5EF4-FFF2-40B4-BE49-F238E27FC236}">
                <a16:creationId xmlns:a16="http://schemas.microsoft.com/office/drawing/2014/main" id="{BFE237BF-A811-F81A-A7E6-CA8014D82E57}"/>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CB6C9C5-7931-139C-624F-C0FFAD1E6190}"/>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638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8A94-B671-E78F-7F7E-B1DFF0ADEA9F}"/>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Injectors complex &amp; facilities </a:t>
            </a:r>
          </a:p>
        </p:txBody>
      </p:sp>
      <p:pic>
        <p:nvPicPr>
          <p:cNvPr id="4098" name="Picture 2">
            <a:extLst>
              <a:ext uri="{FF2B5EF4-FFF2-40B4-BE49-F238E27FC236}">
                <a16:creationId xmlns:a16="http://schemas.microsoft.com/office/drawing/2014/main" id="{E04766D3-46CB-B431-CD77-C5B282033734}"/>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computer screen shot of a diagram&#10;&#10;Description automatically generated">
            <a:extLst>
              <a:ext uri="{FF2B5EF4-FFF2-40B4-BE49-F238E27FC236}">
                <a16:creationId xmlns:a16="http://schemas.microsoft.com/office/drawing/2014/main" id="{E8D3DD7A-4AC4-AAB3-9CC0-1CD4749B28F6}"/>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1" y="637815"/>
            <a:ext cx="11082198" cy="5797760"/>
          </a:xfrm>
          <a:prstGeom prst="rect">
            <a:avLst/>
          </a:prstGeom>
        </p:spPr>
      </p:pic>
      <p:sp>
        <p:nvSpPr>
          <p:cNvPr id="6" name="Slide Number Placeholder 4">
            <a:extLst>
              <a:ext uri="{FF2B5EF4-FFF2-40B4-BE49-F238E27FC236}">
                <a16:creationId xmlns:a16="http://schemas.microsoft.com/office/drawing/2014/main" id="{A9CD9280-F206-5667-ECB7-24C6B1126E3D}"/>
              </a:ext>
            </a:extLst>
          </p:cNvPr>
          <p:cNvSpPr>
            <a:spLocks noGrp="1"/>
          </p:cNvSpPr>
          <p:nvPr>
            <p:ph type="sldNum" sz="quarter" idx="12"/>
          </p:nvPr>
        </p:nvSpPr>
        <p:spPr>
          <a:xfrm>
            <a:off x="10311617" y="6597748"/>
            <a:ext cx="1880381" cy="260252"/>
          </a:xfrm>
        </p:spPr>
        <p:txBody>
          <a:bodyPr/>
          <a:lstStyle/>
          <a:p>
            <a:r>
              <a:rPr lang="en-US" dirty="0"/>
              <a:t>1</a:t>
            </a:r>
            <a:endParaRPr lang="el-GR" dirty="0"/>
          </a:p>
        </p:txBody>
      </p:sp>
      <p:sp>
        <p:nvSpPr>
          <p:cNvPr id="7" name="TextBox 6">
            <a:extLst>
              <a:ext uri="{FF2B5EF4-FFF2-40B4-BE49-F238E27FC236}">
                <a16:creationId xmlns:a16="http://schemas.microsoft.com/office/drawing/2014/main" id="{29094BBD-8501-6052-528C-8A263D3F5A2D}"/>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20A8B84A-CD4B-CFE9-1686-186D4795459C}"/>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5572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8A94-B671-E78F-7F7E-B1DFF0ADEA9F}"/>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Injectors complex &amp; facilities </a:t>
            </a:r>
          </a:p>
        </p:txBody>
      </p:sp>
      <p:pic>
        <p:nvPicPr>
          <p:cNvPr id="4098" name="Picture 2">
            <a:extLst>
              <a:ext uri="{FF2B5EF4-FFF2-40B4-BE49-F238E27FC236}">
                <a16:creationId xmlns:a16="http://schemas.microsoft.com/office/drawing/2014/main" id="{E04766D3-46CB-B431-CD77-C5B282033734}"/>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diagram of a structure&#10;&#10;Description automatically generated with medium confidence">
            <a:extLst>
              <a:ext uri="{FF2B5EF4-FFF2-40B4-BE49-F238E27FC236}">
                <a16:creationId xmlns:a16="http://schemas.microsoft.com/office/drawing/2014/main" id="{A79DF022-FB26-E6BB-5009-5EC70EECC489}"/>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0" y="637815"/>
            <a:ext cx="11082199" cy="5797761"/>
          </a:xfrm>
          <a:prstGeom prst="rect">
            <a:avLst/>
          </a:prstGeom>
        </p:spPr>
      </p:pic>
      <p:sp>
        <p:nvSpPr>
          <p:cNvPr id="11" name="Slide Number Placeholder 4">
            <a:extLst>
              <a:ext uri="{FF2B5EF4-FFF2-40B4-BE49-F238E27FC236}">
                <a16:creationId xmlns:a16="http://schemas.microsoft.com/office/drawing/2014/main" id="{15263685-A828-A33D-446F-CD70F96B07C3}"/>
              </a:ext>
            </a:extLst>
          </p:cNvPr>
          <p:cNvSpPr>
            <a:spLocks noGrp="1"/>
          </p:cNvSpPr>
          <p:nvPr>
            <p:ph type="sldNum" sz="quarter" idx="12"/>
          </p:nvPr>
        </p:nvSpPr>
        <p:spPr>
          <a:xfrm>
            <a:off x="10311617" y="6597748"/>
            <a:ext cx="1880381" cy="260252"/>
          </a:xfrm>
        </p:spPr>
        <p:txBody>
          <a:bodyPr/>
          <a:lstStyle/>
          <a:p>
            <a:r>
              <a:rPr lang="en-US" dirty="0"/>
              <a:t>1</a:t>
            </a:r>
            <a:endParaRPr lang="el-GR" dirty="0"/>
          </a:p>
        </p:txBody>
      </p:sp>
      <p:sp>
        <p:nvSpPr>
          <p:cNvPr id="6" name="TextBox 5">
            <a:extLst>
              <a:ext uri="{FF2B5EF4-FFF2-40B4-BE49-F238E27FC236}">
                <a16:creationId xmlns:a16="http://schemas.microsoft.com/office/drawing/2014/main" id="{BA658AAF-82D4-B6C7-A0EA-B13D08CBB900}"/>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B20EAA1-8107-7637-6437-E9C2CC505670}"/>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7326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8A94-B671-E78F-7F7E-B1DFF0ADEA9F}"/>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Injectors complex &amp; facilities </a:t>
            </a:r>
          </a:p>
        </p:txBody>
      </p:sp>
      <p:pic>
        <p:nvPicPr>
          <p:cNvPr id="4098" name="Picture 2">
            <a:extLst>
              <a:ext uri="{FF2B5EF4-FFF2-40B4-BE49-F238E27FC236}">
                <a16:creationId xmlns:a16="http://schemas.microsoft.com/office/drawing/2014/main" id="{E04766D3-46CB-B431-CD77-C5B282033734}"/>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black background with text and circles&#10;&#10;Description automatically generated with medium confidence">
            <a:extLst>
              <a:ext uri="{FF2B5EF4-FFF2-40B4-BE49-F238E27FC236}">
                <a16:creationId xmlns:a16="http://schemas.microsoft.com/office/drawing/2014/main" id="{C282F193-1166-E756-A64A-9AA317D03489}"/>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0" y="637814"/>
            <a:ext cx="11082567" cy="5797953"/>
          </a:xfrm>
          <a:prstGeom prst="rect">
            <a:avLst/>
          </a:prstGeom>
        </p:spPr>
      </p:pic>
      <p:sp>
        <p:nvSpPr>
          <p:cNvPr id="11" name="Slide Number Placeholder 4">
            <a:extLst>
              <a:ext uri="{FF2B5EF4-FFF2-40B4-BE49-F238E27FC236}">
                <a16:creationId xmlns:a16="http://schemas.microsoft.com/office/drawing/2014/main" id="{E1384AB9-102A-5928-9DDB-87D085913602}"/>
              </a:ext>
            </a:extLst>
          </p:cNvPr>
          <p:cNvSpPr>
            <a:spLocks noGrp="1"/>
          </p:cNvSpPr>
          <p:nvPr>
            <p:ph type="sldNum" sz="quarter" idx="12"/>
          </p:nvPr>
        </p:nvSpPr>
        <p:spPr>
          <a:xfrm>
            <a:off x="10311617" y="6597748"/>
            <a:ext cx="1880381" cy="260252"/>
          </a:xfrm>
        </p:spPr>
        <p:txBody>
          <a:bodyPr/>
          <a:lstStyle/>
          <a:p>
            <a:r>
              <a:rPr lang="en-US" dirty="0"/>
              <a:t>1</a:t>
            </a:r>
            <a:endParaRPr lang="el-GR" dirty="0"/>
          </a:p>
        </p:txBody>
      </p:sp>
      <p:sp>
        <p:nvSpPr>
          <p:cNvPr id="5" name="TextBox 4">
            <a:extLst>
              <a:ext uri="{FF2B5EF4-FFF2-40B4-BE49-F238E27FC236}">
                <a16:creationId xmlns:a16="http://schemas.microsoft.com/office/drawing/2014/main" id="{B77ED102-B5F3-ED20-0C26-791411DC5EF3}"/>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1032963F-7B1D-86A3-1A47-78CCFB0E1C52}"/>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3007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8A94-B671-E78F-7F7E-B1DFF0ADEA9F}"/>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Injectors complex &amp; facilities </a:t>
            </a:r>
          </a:p>
        </p:txBody>
      </p:sp>
      <p:pic>
        <p:nvPicPr>
          <p:cNvPr id="4098" name="Picture 2">
            <a:extLst>
              <a:ext uri="{FF2B5EF4-FFF2-40B4-BE49-F238E27FC236}">
                <a16:creationId xmlns:a16="http://schemas.microsoft.com/office/drawing/2014/main" id="{E04766D3-46CB-B431-CD77-C5B282033734}"/>
              </a:ext>
            </a:extLst>
          </p:cNvPr>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diagram of a diagram&#10;&#10;Description automatically generated">
            <a:extLst>
              <a:ext uri="{FF2B5EF4-FFF2-40B4-BE49-F238E27FC236}">
                <a16:creationId xmlns:a16="http://schemas.microsoft.com/office/drawing/2014/main" id="{668055C8-CDAC-D16B-71F9-2632BFCFCE51}"/>
              </a:ext>
            </a:extLst>
          </p:cNvPr>
          <p:cNvPicPr>
            <a:picLocks noChangeAspect="1"/>
          </p:cNvPicPr>
          <p:nvPr/>
        </p:nvPicPr>
        <p:blipFill>
          <a:blip r:embed="rId3">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tretch>
            <a:fillRect/>
          </a:stretch>
        </p:blipFill>
        <p:spPr>
          <a:xfrm>
            <a:off x="554900" y="637815"/>
            <a:ext cx="11082565" cy="5797952"/>
          </a:xfrm>
          <a:prstGeom prst="rect">
            <a:avLst/>
          </a:prstGeom>
        </p:spPr>
      </p:pic>
      <p:sp>
        <p:nvSpPr>
          <p:cNvPr id="6" name="Slide Number Placeholder 4">
            <a:extLst>
              <a:ext uri="{FF2B5EF4-FFF2-40B4-BE49-F238E27FC236}">
                <a16:creationId xmlns:a16="http://schemas.microsoft.com/office/drawing/2014/main" id="{4E97562A-CE3D-84BF-B1CD-BF768DEA261D}"/>
              </a:ext>
            </a:extLst>
          </p:cNvPr>
          <p:cNvSpPr>
            <a:spLocks noGrp="1"/>
          </p:cNvSpPr>
          <p:nvPr>
            <p:ph type="sldNum" sz="quarter" idx="12"/>
          </p:nvPr>
        </p:nvSpPr>
        <p:spPr>
          <a:xfrm>
            <a:off x="10311617" y="6597748"/>
            <a:ext cx="1880381" cy="260252"/>
          </a:xfrm>
        </p:spPr>
        <p:txBody>
          <a:bodyPr/>
          <a:lstStyle/>
          <a:p>
            <a:r>
              <a:rPr lang="en-US" dirty="0"/>
              <a:t>1</a:t>
            </a:r>
            <a:endParaRPr lang="el-GR" dirty="0"/>
          </a:p>
        </p:txBody>
      </p:sp>
      <p:sp>
        <p:nvSpPr>
          <p:cNvPr id="7" name="TextBox 6">
            <a:extLst>
              <a:ext uri="{FF2B5EF4-FFF2-40B4-BE49-F238E27FC236}">
                <a16:creationId xmlns:a16="http://schemas.microsoft.com/office/drawing/2014/main" id="{408ED63B-5998-A9E1-D5B7-456F5E0E6D44}"/>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4B9C7BBA-08CA-73FF-8A06-3BD77A55628F}"/>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359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98A94-B671-E78F-7F7E-B1DFF0ADEA9F}"/>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Injectors complex &amp; facilities </a:t>
            </a:r>
          </a:p>
        </p:txBody>
      </p:sp>
      <p:pic>
        <p:nvPicPr>
          <p:cNvPr id="4098" name="Picture 2">
            <a:extLst>
              <a:ext uri="{FF2B5EF4-FFF2-40B4-BE49-F238E27FC236}">
                <a16:creationId xmlns:a16="http://schemas.microsoft.com/office/drawing/2014/main" id="{E04766D3-46CB-B431-CD77-C5B282033734}"/>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rcRect/>
          <a:stretch>
            <a:fillRect/>
          </a:stretch>
        </p:blipFill>
        <p:spPr bwMode="auto">
          <a:xfrm>
            <a:off x="554900" y="637815"/>
            <a:ext cx="11082199" cy="579795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4">
            <a:extLst>
              <a:ext uri="{FF2B5EF4-FFF2-40B4-BE49-F238E27FC236}">
                <a16:creationId xmlns:a16="http://schemas.microsoft.com/office/drawing/2014/main" id="{101C0D6B-5EC1-E5FE-E3D8-E9E92960A008}"/>
              </a:ext>
            </a:extLst>
          </p:cNvPr>
          <p:cNvSpPr>
            <a:spLocks noGrp="1"/>
          </p:cNvSpPr>
          <p:nvPr>
            <p:ph type="sldNum" sz="quarter" idx="12"/>
          </p:nvPr>
        </p:nvSpPr>
        <p:spPr>
          <a:xfrm>
            <a:off x="10311617" y="6597748"/>
            <a:ext cx="1880381" cy="260252"/>
          </a:xfrm>
        </p:spPr>
        <p:txBody>
          <a:bodyPr/>
          <a:lstStyle/>
          <a:p>
            <a:r>
              <a:rPr lang="en-US" dirty="0"/>
              <a:t>1</a:t>
            </a:r>
            <a:endParaRPr lang="el-GR" dirty="0"/>
          </a:p>
        </p:txBody>
      </p:sp>
      <p:sp>
        <p:nvSpPr>
          <p:cNvPr id="4" name="TextBox 3">
            <a:extLst>
              <a:ext uri="{FF2B5EF4-FFF2-40B4-BE49-F238E27FC236}">
                <a16:creationId xmlns:a16="http://schemas.microsoft.com/office/drawing/2014/main" id="{A91B4642-DEE8-284D-6869-CAC612F1C0D7}"/>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CF0C9A9-01DF-DD72-783A-237E3B3FAC80}"/>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61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D9F2B-3432-59B3-3B7D-2ABE0FABFD5B}"/>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PSB layout</a:t>
            </a:r>
          </a:p>
        </p:txBody>
      </p:sp>
      <p:sp>
        <p:nvSpPr>
          <p:cNvPr id="5" name="Slide Number Placeholder 4">
            <a:extLst>
              <a:ext uri="{FF2B5EF4-FFF2-40B4-BE49-F238E27FC236}">
                <a16:creationId xmlns:a16="http://schemas.microsoft.com/office/drawing/2014/main" id="{B954772E-50A6-FBEE-131B-C8510A5FE197}"/>
              </a:ext>
            </a:extLst>
          </p:cNvPr>
          <p:cNvSpPr>
            <a:spLocks noGrp="1"/>
          </p:cNvSpPr>
          <p:nvPr>
            <p:ph type="sldNum" sz="quarter" idx="12"/>
          </p:nvPr>
        </p:nvSpPr>
        <p:spPr/>
        <p:txBody>
          <a:bodyPr/>
          <a:lstStyle/>
          <a:p>
            <a:r>
              <a:rPr lang="en-US" dirty="0"/>
              <a:t>2</a:t>
            </a:r>
            <a:endParaRPr lang="el-GR" dirty="0"/>
          </a:p>
        </p:txBody>
      </p:sp>
      <p:pic>
        <p:nvPicPr>
          <p:cNvPr id="2050" name="Picture 2">
            <a:extLst>
              <a:ext uri="{FF2B5EF4-FFF2-40B4-BE49-F238E27FC236}">
                <a16:creationId xmlns:a16="http://schemas.microsoft.com/office/drawing/2014/main" id="{EA232E8D-4F16-7338-90BD-2728ED2E00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79" y="685740"/>
            <a:ext cx="6174047" cy="448708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A1D1C53-CAFB-CEF6-0E10-3B6320B96C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4049" y="2772526"/>
            <a:ext cx="3505200" cy="24003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C2C54B-D483-73BC-047F-882627261986}"/>
                  </a:ext>
                </a:extLst>
              </p:cNvPr>
              <p:cNvSpPr txBox="1"/>
              <p:nvPr/>
            </p:nvSpPr>
            <p:spPr>
              <a:xfrm>
                <a:off x="6432331" y="761844"/>
                <a:ext cx="5660791" cy="1477328"/>
              </a:xfrm>
              <a:prstGeom prst="rect">
                <a:avLst/>
              </a:prstGeom>
              <a:noFill/>
            </p:spPr>
            <p:txBody>
              <a:bodyPr wrap="square" rtlCol="0">
                <a:spAutoFit/>
              </a:bodyPr>
              <a:lstStyle/>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4 identical superimposed rings of </a:t>
                </a:r>
                <a14:m>
                  <m:oMath xmlns:m="http://schemas.openxmlformats.org/officeDocument/2006/math">
                    <m:r>
                      <a:rPr lang="en-US" b="0" i="1" smtClean="0">
                        <a:latin typeface="Cambria Math" panose="02040503050406030204" pitchFamily="18" charset="0"/>
                      </a:rPr>
                      <m:t>25</m:t>
                    </m:r>
                  </m:oMath>
                </a14:m>
                <a:r>
                  <a:rPr lang="en-CH" dirty="0">
                    <a:latin typeface="Arial" panose="020B0604020202020204" pitchFamily="34" charset="0"/>
                    <a:cs typeface="Arial" panose="020B0604020202020204" pitchFamily="34" charset="0"/>
                  </a:rPr>
                  <a:t>m radius.</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Acceleration from </a:t>
                </a:r>
                <a14:m>
                  <m:oMath xmlns:m="http://schemas.openxmlformats.org/officeDocument/2006/math">
                    <m:r>
                      <a:rPr lang="en-US" b="0" i="1" smtClean="0">
                        <a:latin typeface="Cambria Math" panose="02040503050406030204" pitchFamily="18" charset="0"/>
                      </a:rPr>
                      <m:t>160</m:t>
                    </m:r>
                  </m:oMath>
                </a14:m>
                <a:r>
                  <a:rPr lang="en-CH" dirty="0">
                    <a:latin typeface="Arial" panose="020B0604020202020204" pitchFamily="34" charset="0"/>
                    <a:cs typeface="Arial" panose="020B0604020202020204" pitchFamily="34" charset="0"/>
                  </a:rPr>
                  <a:t>MeV to </a:t>
                </a:r>
                <a14:m>
                  <m:oMath xmlns:m="http://schemas.openxmlformats.org/officeDocument/2006/math">
                    <m:r>
                      <a:rPr lang="en-US" b="0" i="1" smtClean="0">
                        <a:latin typeface="Cambria Math" panose="02040503050406030204" pitchFamily="18" charset="0"/>
                      </a:rPr>
                      <m:t>2</m:t>
                    </m:r>
                  </m:oMath>
                </a14:m>
                <a:r>
                  <a:rPr lang="en-CH" dirty="0">
                    <a:latin typeface="Arial" panose="020B0604020202020204" pitchFamily="34" charset="0"/>
                    <a:cs typeface="Arial" panose="020B0604020202020204" pitchFamily="34" charset="0"/>
                  </a:rPr>
                  <a:t>GeV in </a:t>
                </a:r>
                <a14:m>
                  <m:oMath xmlns:m="http://schemas.openxmlformats.org/officeDocument/2006/math">
                    <m:r>
                      <a:rPr lang="en-US">
                        <a:latin typeface="Cambria Math" panose="02040503050406030204" pitchFamily="18" charset="0"/>
                      </a:rPr>
                      <m:t>~</m:t>
                    </m:r>
                    <m:r>
                      <a:rPr lang="en-US" b="0" i="1" smtClean="0">
                        <a:latin typeface="Cambria Math" panose="02040503050406030204" pitchFamily="18" charset="0"/>
                      </a:rPr>
                      <m:t>0.5</m:t>
                    </m:r>
                  </m:oMath>
                </a14:m>
                <a:r>
                  <a:rPr lang="en-CH" dirty="0">
                    <a:latin typeface="Arial" panose="020B0604020202020204" pitchFamily="34" charset="0"/>
                    <a:cs typeface="Arial" panose="020B0604020202020204" pitchFamily="34" charset="0"/>
                  </a:rPr>
                  <a:t>sec.</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Common injection and extraction line.  </a:t>
                </a:r>
              </a:p>
            </p:txBody>
          </p:sp>
        </mc:Choice>
        <mc:Fallback xmlns="">
          <p:sp>
            <p:nvSpPr>
              <p:cNvPr id="6" name="TextBox 5">
                <a:extLst>
                  <a:ext uri="{FF2B5EF4-FFF2-40B4-BE49-F238E27FC236}">
                    <a16:creationId xmlns:a16="http://schemas.microsoft.com/office/drawing/2014/main" id="{51C2C54B-D483-73BC-047F-882627261986}"/>
                  </a:ext>
                </a:extLst>
              </p:cNvPr>
              <p:cNvSpPr txBox="1">
                <a:spLocks noRot="1" noChangeAspect="1" noMove="1" noResize="1" noEditPoints="1" noAdjustHandles="1" noChangeArrowheads="1" noChangeShapeType="1" noTextEdit="1"/>
              </p:cNvSpPr>
              <p:nvPr/>
            </p:nvSpPr>
            <p:spPr>
              <a:xfrm>
                <a:off x="6432331" y="761844"/>
                <a:ext cx="5660791" cy="1477328"/>
              </a:xfrm>
              <a:prstGeom prst="rect">
                <a:avLst/>
              </a:prstGeom>
              <a:blipFill>
                <a:blip r:embed="rId4"/>
                <a:stretch>
                  <a:fillRect l="-671" t="-1709" b="-5128"/>
                </a:stretch>
              </a:blipFill>
            </p:spPr>
            <p:txBody>
              <a:bodyPr/>
              <a:lstStyle/>
              <a:p>
                <a:r>
                  <a:rPr lang="en-CH">
                    <a:noFill/>
                  </a:rPr>
                  <a:t> </a:t>
                </a:r>
              </a:p>
            </p:txBody>
          </p:sp>
        </mc:Fallback>
      </mc:AlternateContent>
      <p:sp>
        <p:nvSpPr>
          <p:cNvPr id="3" name="TextBox 2">
            <a:extLst>
              <a:ext uri="{FF2B5EF4-FFF2-40B4-BE49-F238E27FC236}">
                <a16:creationId xmlns:a16="http://schemas.microsoft.com/office/drawing/2014/main" id="{2B82C163-0A22-74A2-3ADA-9EC6FF468F94}"/>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45F260F7-B0A7-4B76-0A4C-0B85430E188E}"/>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34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500"/>
                                        <p:tgtEl>
                                          <p:spTgt spid="6">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052"/>
                                        </p:tgtEl>
                                        <p:attrNameLst>
                                          <p:attrName>style.visibility</p:attrName>
                                        </p:attrNameLst>
                                      </p:cBhvr>
                                      <p:to>
                                        <p:strVal val="visible"/>
                                      </p:to>
                                    </p:set>
                                    <p:animEffect transition="in" filter="fade">
                                      <p:cBhvr>
                                        <p:cTn id="15"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D9F2B-3432-59B3-3B7D-2ABE0FABFD5B}"/>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PSB layout</a:t>
            </a:r>
          </a:p>
        </p:txBody>
      </p:sp>
      <p:sp>
        <p:nvSpPr>
          <p:cNvPr id="5" name="Slide Number Placeholder 4">
            <a:extLst>
              <a:ext uri="{FF2B5EF4-FFF2-40B4-BE49-F238E27FC236}">
                <a16:creationId xmlns:a16="http://schemas.microsoft.com/office/drawing/2014/main" id="{B954772E-50A6-FBEE-131B-C8510A5FE197}"/>
              </a:ext>
            </a:extLst>
          </p:cNvPr>
          <p:cNvSpPr>
            <a:spLocks noGrp="1"/>
          </p:cNvSpPr>
          <p:nvPr>
            <p:ph type="sldNum" sz="quarter" idx="12"/>
          </p:nvPr>
        </p:nvSpPr>
        <p:spPr/>
        <p:txBody>
          <a:bodyPr/>
          <a:lstStyle/>
          <a:p>
            <a:r>
              <a:rPr lang="en-US" dirty="0"/>
              <a:t>2</a:t>
            </a:r>
            <a:endParaRPr lang="el-GR" dirty="0"/>
          </a:p>
        </p:txBody>
      </p:sp>
      <p:pic>
        <p:nvPicPr>
          <p:cNvPr id="2050" name="Picture 2">
            <a:extLst>
              <a:ext uri="{FF2B5EF4-FFF2-40B4-BE49-F238E27FC236}">
                <a16:creationId xmlns:a16="http://schemas.microsoft.com/office/drawing/2014/main" id="{EA232E8D-4F16-7338-90BD-2728ED2E00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79" y="685740"/>
            <a:ext cx="6174047" cy="44870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C2C54B-D483-73BC-047F-882627261986}"/>
                  </a:ext>
                </a:extLst>
              </p:cNvPr>
              <p:cNvSpPr txBox="1"/>
              <p:nvPr/>
            </p:nvSpPr>
            <p:spPr>
              <a:xfrm>
                <a:off x="6432331" y="761844"/>
                <a:ext cx="5660791" cy="2585323"/>
              </a:xfrm>
              <a:prstGeom prst="rect">
                <a:avLst/>
              </a:prstGeom>
              <a:noFill/>
            </p:spPr>
            <p:txBody>
              <a:bodyPr wrap="square" rtlCol="0">
                <a:spAutoFit/>
              </a:bodyPr>
              <a:lstStyle/>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4 identical superimposed rings of </a:t>
                </a:r>
                <a14:m>
                  <m:oMath xmlns:m="http://schemas.openxmlformats.org/officeDocument/2006/math">
                    <m:r>
                      <a:rPr lang="en-US" b="0" i="1" smtClean="0">
                        <a:latin typeface="Cambria Math" panose="02040503050406030204" pitchFamily="18" charset="0"/>
                      </a:rPr>
                      <m:t>25</m:t>
                    </m:r>
                  </m:oMath>
                </a14:m>
                <a:r>
                  <a:rPr lang="en-CH" dirty="0">
                    <a:latin typeface="Arial" panose="020B0604020202020204" pitchFamily="34" charset="0"/>
                    <a:cs typeface="Arial" panose="020B0604020202020204" pitchFamily="34" charset="0"/>
                  </a:rPr>
                  <a:t>m radius.</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Acceleration from </a:t>
                </a:r>
                <a14:m>
                  <m:oMath xmlns:m="http://schemas.openxmlformats.org/officeDocument/2006/math">
                    <m:r>
                      <a:rPr lang="en-US" b="0" i="1" smtClean="0">
                        <a:latin typeface="Cambria Math" panose="02040503050406030204" pitchFamily="18" charset="0"/>
                      </a:rPr>
                      <m:t>160</m:t>
                    </m:r>
                  </m:oMath>
                </a14:m>
                <a:r>
                  <a:rPr lang="en-CH" dirty="0">
                    <a:latin typeface="Arial" panose="020B0604020202020204" pitchFamily="34" charset="0"/>
                    <a:cs typeface="Arial" panose="020B0604020202020204" pitchFamily="34" charset="0"/>
                  </a:rPr>
                  <a:t>MeV to </a:t>
                </a:r>
                <a14:m>
                  <m:oMath xmlns:m="http://schemas.openxmlformats.org/officeDocument/2006/math">
                    <m:r>
                      <a:rPr lang="en-US" b="0" i="1" smtClean="0">
                        <a:latin typeface="Cambria Math" panose="02040503050406030204" pitchFamily="18" charset="0"/>
                      </a:rPr>
                      <m:t>2</m:t>
                    </m:r>
                  </m:oMath>
                </a14:m>
                <a:r>
                  <a:rPr lang="en-CH" dirty="0">
                    <a:latin typeface="Arial" panose="020B0604020202020204" pitchFamily="34" charset="0"/>
                    <a:cs typeface="Arial" panose="020B0604020202020204" pitchFamily="34" charset="0"/>
                  </a:rPr>
                  <a:t>GeV in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0.5</m:t>
                    </m:r>
                  </m:oMath>
                </a14:m>
                <a:r>
                  <a:rPr lang="en-CH" dirty="0">
                    <a:latin typeface="Arial" panose="020B0604020202020204" pitchFamily="34" charset="0"/>
                    <a:cs typeface="Arial" panose="020B0604020202020204" pitchFamily="34" charset="0"/>
                  </a:rPr>
                  <a:t>sec.</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Common injection and extraction line.  </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16 periods (sectors), each with </a:t>
                </a:r>
                <a:r>
                  <a:rPr lang="en-CH" b="1" dirty="0">
                    <a:solidFill>
                      <a:srgbClr val="00B050"/>
                    </a:solidFill>
                    <a:latin typeface="Arial" panose="020B0604020202020204" pitchFamily="34" charset="0"/>
                    <a:cs typeface="Arial" panose="020B0604020202020204" pitchFamily="34" charset="0"/>
                  </a:rPr>
                  <a:t>two dipoles</a:t>
                </a:r>
                <a:r>
                  <a:rPr lang="en-CH" dirty="0">
                    <a:latin typeface="Arial" panose="020B0604020202020204" pitchFamily="34" charset="0"/>
                    <a:cs typeface="Arial" panose="020B0604020202020204" pitchFamily="34" charset="0"/>
                  </a:rPr>
                  <a:t>, </a:t>
                </a:r>
                <a:r>
                  <a:rPr lang="en-CH" b="1" dirty="0">
                    <a:solidFill>
                      <a:schemeClr val="accent3">
                        <a:lumMod val="75000"/>
                      </a:schemeClr>
                    </a:solidFill>
                    <a:latin typeface="Arial" panose="020B0604020202020204" pitchFamily="34" charset="0"/>
                    <a:cs typeface="Arial" panose="020B0604020202020204" pitchFamily="34" charset="0"/>
                  </a:rPr>
                  <a:t>three quadrupoles</a:t>
                </a:r>
                <a:r>
                  <a:rPr lang="en-CH" dirty="0">
                    <a:latin typeface="Arial" panose="020B0604020202020204" pitchFamily="34" charset="0"/>
                    <a:cs typeface="Arial" panose="020B0604020202020204" pitchFamily="34" charset="0"/>
                  </a:rPr>
                  <a:t> and a </a:t>
                </a:r>
                <a:r>
                  <a:rPr lang="en-CH" b="1" dirty="0">
                    <a:latin typeface="Arial" panose="020B0604020202020204" pitchFamily="34" charset="0"/>
                    <a:cs typeface="Arial" panose="020B0604020202020204" pitchFamily="34" charset="0"/>
                  </a:rPr>
                  <a:t>“straight section”</a:t>
                </a:r>
                <a:r>
                  <a:rPr lang="en-CH" dirty="0">
                    <a:latin typeface="Arial" panose="020B0604020202020204" pitchFamily="34" charset="0"/>
                    <a:cs typeface="Arial" panose="020B0604020202020204" pitchFamily="34" charset="0"/>
                  </a:rPr>
                  <a:t> for adittional elements.</a:t>
                </a:r>
              </a:p>
            </p:txBody>
          </p:sp>
        </mc:Choice>
        <mc:Fallback xmlns="">
          <p:sp>
            <p:nvSpPr>
              <p:cNvPr id="6" name="TextBox 5">
                <a:extLst>
                  <a:ext uri="{FF2B5EF4-FFF2-40B4-BE49-F238E27FC236}">
                    <a16:creationId xmlns:a16="http://schemas.microsoft.com/office/drawing/2014/main" id="{51C2C54B-D483-73BC-047F-882627261986}"/>
                  </a:ext>
                </a:extLst>
              </p:cNvPr>
              <p:cNvSpPr txBox="1">
                <a:spLocks noRot="1" noChangeAspect="1" noMove="1" noResize="1" noEditPoints="1" noAdjustHandles="1" noChangeArrowheads="1" noChangeShapeType="1" noTextEdit="1"/>
              </p:cNvSpPr>
              <p:nvPr/>
            </p:nvSpPr>
            <p:spPr>
              <a:xfrm>
                <a:off x="6432331" y="761844"/>
                <a:ext cx="5660791" cy="2585323"/>
              </a:xfrm>
              <a:prstGeom prst="rect">
                <a:avLst/>
              </a:prstGeom>
              <a:blipFill>
                <a:blip r:embed="rId3"/>
                <a:stretch>
                  <a:fillRect l="-671" t="-980" r="-671" b="-2451"/>
                </a:stretch>
              </a:blipFill>
            </p:spPr>
            <p:txBody>
              <a:bodyPr/>
              <a:lstStyle/>
              <a:p>
                <a:r>
                  <a:rPr lang="en-CH">
                    <a:noFill/>
                  </a:rPr>
                  <a:t> </a:t>
                </a:r>
              </a:p>
            </p:txBody>
          </p:sp>
        </mc:Fallback>
      </mc:AlternateContent>
      <p:pic>
        <p:nvPicPr>
          <p:cNvPr id="3074" name="Picture 2">
            <a:extLst>
              <a:ext uri="{FF2B5EF4-FFF2-40B4-BE49-F238E27FC236}">
                <a16:creationId xmlns:a16="http://schemas.microsoft.com/office/drawing/2014/main" id="{163770C8-BE7E-7C45-4424-AF6C2694EA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0415" y="3766106"/>
            <a:ext cx="5120728" cy="2021340"/>
          </a:xfrm>
          <a:prstGeom prst="rect">
            <a:avLst/>
          </a:prstGeom>
          <a:noFill/>
          <a:ln w="38100">
            <a:solidFill>
              <a:schemeClr val="tx2"/>
            </a:solidFill>
          </a:ln>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F593BCE4-0554-2D0E-CC72-F69B97A600BD}"/>
              </a:ext>
            </a:extLst>
          </p:cNvPr>
          <p:cNvSpPr/>
          <p:nvPr/>
        </p:nvSpPr>
        <p:spPr>
          <a:xfrm rot="18901886">
            <a:off x="3707696" y="2874553"/>
            <a:ext cx="551467" cy="375367"/>
          </a:xfrm>
          <a:prstGeom prst="ellipse">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cxnSp>
        <p:nvCxnSpPr>
          <p:cNvPr id="7" name="Straight Arrow Connector 6">
            <a:extLst>
              <a:ext uri="{FF2B5EF4-FFF2-40B4-BE49-F238E27FC236}">
                <a16:creationId xmlns:a16="http://schemas.microsoft.com/office/drawing/2014/main" id="{EDA774FD-23B1-CCAE-2156-04A3636B4728}"/>
              </a:ext>
            </a:extLst>
          </p:cNvPr>
          <p:cNvCxnSpPr>
            <a:cxnSpLocks/>
            <a:stCxn id="3" idx="3"/>
          </p:cNvCxnSpPr>
          <p:nvPr/>
        </p:nvCxnSpPr>
        <p:spPr>
          <a:xfrm>
            <a:off x="3939277" y="3293921"/>
            <a:ext cx="230702" cy="472185"/>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7B79CCF-4A26-DAAD-7814-08CD8C24E3F3}"/>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67D478B-104F-C6EA-C745-90A29BE087CA}"/>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9985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D9F2B-3432-59B3-3B7D-2ABE0FABFD5B}"/>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PSB layout</a:t>
            </a:r>
          </a:p>
        </p:txBody>
      </p:sp>
      <p:sp>
        <p:nvSpPr>
          <p:cNvPr id="5" name="Slide Number Placeholder 4">
            <a:extLst>
              <a:ext uri="{FF2B5EF4-FFF2-40B4-BE49-F238E27FC236}">
                <a16:creationId xmlns:a16="http://schemas.microsoft.com/office/drawing/2014/main" id="{B954772E-50A6-FBEE-131B-C8510A5FE197}"/>
              </a:ext>
            </a:extLst>
          </p:cNvPr>
          <p:cNvSpPr>
            <a:spLocks noGrp="1"/>
          </p:cNvSpPr>
          <p:nvPr>
            <p:ph type="sldNum" sz="quarter" idx="12"/>
          </p:nvPr>
        </p:nvSpPr>
        <p:spPr/>
        <p:txBody>
          <a:bodyPr/>
          <a:lstStyle/>
          <a:p>
            <a:r>
              <a:rPr lang="en-US" dirty="0"/>
              <a:t>2</a:t>
            </a:r>
            <a:endParaRPr lang="el-GR" dirty="0"/>
          </a:p>
        </p:txBody>
      </p:sp>
      <p:pic>
        <p:nvPicPr>
          <p:cNvPr id="2050" name="Picture 2">
            <a:extLst>
              <a:ext uri="{FF2B5EF4-FFF2-40B4-BE49-F238E27FC236}">
                <a16:creationId xmlns:a16="http://schemas.microsoft.com/office/drawing/2014/main" id="{EA232E8D-4F16-7338-90BD-2728ED2E00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79" y="685740"/>
            <a:ext cx="6174047" cy="44870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C2C54B-D483-73BC-047F-882627261986}"/>
                  </a:ext>
                </a:extLst>
              </p:cNvPr>
              <p:cNvSpPr txBox="1"/>
              <p:nvPr/>
            </p:nvSpPr>
            <p:spPr>
              <a:xfrm>
                <a:off x="6432331" y="761844"/>
                <a:ext cx="5660791" cy="3416320"/>
              </a:xfrm>
              <a:prstGeom prst="rect">
                <a:avLst/>
              </a:prstGeom>
              <a:noFill/>
            </p:spPr>
            <p:txBody>
              <a:bodyPr wrap="square" rtlCol="0">
                <a:spAutoFit/>
              </a:bodyPr>
              <a:lstStyle/>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4 identical superimposed rings of </a:t>
                </a:r>
                <a14:m>
                  <m:oMath xmlns:m="http://schemas.openxmlformats.org/officeDocument/2006/math">
                    <m:r>
                      <a:rPr lang="en-US" b="0" i="1" smtClean="0">
                        <a:latin typeface="Cambria Math" panose="02040503050406030204" pitchFamily="18" charset="0"/>
                      </a:rPr>
                      <m:t>25</m:t>
                    </m:r>
                  </m:oMath>
                </a14:m>
                <a:r>
                  <a:rPr lang="en-CH" dirty="0">
                    <a:latin typeface="Arial" panose="020B0604020202020204" pitchFamily="34" charset="0"/>
                    <a:cs typeface="Arial" panose="020B0604020202020204" pitchFamily="34" charset="0"/>
                  </a:rPr>
                  <a:t>m radius.</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Acceleration from </a:t>
                </a:r>
                <a14:m>
                  <m:oMath xmlns:m="http://schemas.openxmlformats.org/officeDocument/2006/math">
                    <m:r>
                      <a:rPr lang="en-US" b="0" i="1" smtClean="0">
                        <a:latin typeface="Cambria Math" panose="02040503050406030204" pitchFamily="18" charset="0"/>
                      </a:rPr>
                      <m:t>160</m:t>
                    </m:r>
                  </m:oMath>
                </a14:m>
                <a:r>
                  <a:rPr lang="en-CH" dirty="0">
                    <a:latin typeface="Arial" panose="020B0604020202020204" pitchFamily="34" charset="0"/>
                    <a:cs typeface="Arial" panose="020B0604020202020204" pitchFamily="34" charset="0"/>
                  </a:rPr>
                  <a:t>MeV to </a:t>
                </a:r>
                <a14:m>
                  <m:oMath xmlns:m="http://schemas.openxmlformats.org/officeDocument/2006/math">
                    <m:r>
                      <a:rPr lang="en-US" b="0" i="1" smtClean="0">
                        <a:latin typeface="Cambria Math" panose="02040503050406030204" pitchFamily="18" charset="0"/>
                      </a:rPr>
                      <m:t>2</m:t>
                    </m:r>
                  </m:oMath>
                </a14:m>
                <a:r>
                  <a:rPr lang="en-CH" dirty="0">
                    <a:latin typeface="Arial" panose="020B0604020202020204" pitchFamily="34" charset="0"/>
                    <a:cs typeface="Arial" panose="020B0604020202020204" pitchFamily="34" charset="0"/>
                  </a:rPr>
                  <a:t>GeV in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0.5</m:t>
                    </m:r>
                  </m:oMath>
                </a14:m>
                <a:r>
                  <a:rPr lang="en-CH" dirty="0">
                    <a:latin typeface="Arial" panose="020B0604020202020204" pitchFamily="34" charset="0"/>
                    <a:cs typeface="Arial" panose="020B0604020202020204" pitchFamily="34" charset="0"/>
                  </a:rPr>
                  <a:t>sec.</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Common injection and extraction line.  </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16 periods (sectors), each with </a:t>
                </a:r>
                <a:r>
                  <a:rPr lang="en-CH" b="1" dirty="0">
                    <a:solidFill>
                      <a:srgbClr val="00B050"/>
                    </a:solidFill>
                    <a:latin typeface="Arial" panose="020B0604020202020204" pitchFamily="34" charset="0"/>
                    <a:cs typeface="Arial" panose="020B0604020202020204" pitchFamily="34" charset="0"/>
                  </a:rPr>
                  <a:t>two dipoles</a:t>
                </a:r>
                <a:r>
                  <a:rPr lang="en-CH" dirty="0">
                    <a:latin typeface="Arial" panose="020B0604020202020204" pitchFamily="34" charset="0"/>
                    <a:cs typeface="Arial" panose="020B0604020202020204" pitchFamily="34" charset="0"/>
                  </a:rPr>
                  <a:t>, </a:t>
                </a:r>
                <a:r>
                  <a:rPr lang="en-CH" b="1" dirty="0">
                    <a:solidFill>
                      <a:schemeClr val="accent3">
                        <a:lumMod val="75000"/>
                      </a:schemeClr>
                    </a:solidFill>
                    <a:latin typeface="Arial" panose="020B0604020202020204" pitchFamily="34" charset="0"/>
                    <a:cs typeface="Arial" panose="020B0604020202020204" pitchFamily="34" charset="0"/>
                  </a:rPr>
                  <a:t>three quadrupoles</a:t>
                </a:r>
                <a:r>
                  <a:rPr lang="en-CH" dirty="0">
                    <a:latin typeface="Arial" panose="020B0604020202020204" pitchFamily="34" charset="0"/>
                    <a:cs typeface="Arial" panose="020B0604020202020204" pitchFamily="34" charset="0"/>
                  </a:rPr>
                  <a:t> and a </a:t>
                </a:r>
                <a:r>
                  <a:rPr lang="en-CH" b="1" dirty="0">
                    <a:latin typeface="Arial" panose="020B0604020202020204" pitchFamily="34" charset="0"/>
                    <a:cs typeface="Arial" panose="020B0604020202020204" pitchFamily="34" charset="0"/>
                  </a:rPr>
                  <a:t>“straight section”</a:t>
                </a:r>
                <a:r>
                  <a:rPr lang="en-CH" dirty="0">
                    <a:latin typeface="Arial" panose="020B0604020202020204" pitchFamily="34" charset="0"/>
                    <a:cs typeface="Arial" panose="020B0604020202020204" pitchFamily="34" charset="0"/>
                  </a:rPr>
                  <a:t> for adittional elements.</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Magnetic cycle of </a:t>
                </a:r>
                <a14:m>
                  <m:oMath xmlns:m="http://schemas.openxmlformats.org/officeDocument/2006/math">
                    <m:r>
                      <a:rPr lang="en-US" b="0" i="1" smtClean="0">
                        <a:latin typeface="Cambria Math" panose="02040503050406030204" pitchFamily="18" charset="0"/>
                      </a:rPr>
                      <m:t>1.2</m:t>
                    </m:r>
                  </m:oMath>
                </a14:m>
                <a:r>
                  <a:rPr lang="en-CH" dirty="0">
                    <a:latin typeface="Arial" panose="020B0604020202020204" pitchFamily="34" charset="0"/>
                    <a:cs typeface="Arial" panose="020B0604020202020204" pitchFamily="34" charset="0"/>
                  </a:rPr>
                  <a:t>sec. Beam injection at </a:t>
                </a:r>
                <a14:m>
                  <m:oMath xmlns:m="http://schemas.openxmlformats.org/officeDocument/2006/math">
                    <m:r>
                      <a:rPr lang="en-US" b="0" i="1" smtClean="0">
                        <a:latin typeface="Cambria Math" panose="02040503050406030204" pitchFamily="18" charset="0"/>
                      </a:rPr>
                      <m:t>275</m:t>
                    </m:r>
                  </m:oMath>
                </a14:m>
                <a:r>
                  <a:rPr lang="en-CH" dirty="0">
                    <a:latin typeface="Arial" panose="020B0604020202020204" pitchFamily="34" charset="0"/>
                    <a:cs typeface="Arial" panose="020B0604020202020204" pitchFamily="34" charset="0"/>
                  </a:rPr>
                  <a:t>ms and extraction at </a:t>
                </a:r>
                <a14:m>
                  <m:oMath xmlns:m="http://schemas.openxmlformats.org/officeDocument/2006/math">
                    <m:r>
                      <a:rPr lang="en-US" b="0" i="1" smtClean="0">
                        <a:latin typeface="Cambria Math" panose="02040503050406030204" pitchFamily="18" charset="0"/>
                      </a:rPr>
                      <m:t>805</m:t>
                    </m:r>
                  </m:oMath>
                </a14:m>
                <a:r>
                  <a:rPr lang="en-CH" dirty="0">
                    <a:latin typeface="Arial" panose="020B0604020202020204" pitchFamily="34" charset="0"/>
                    <a:cs typeface="Arial" panose="020B0604020202020204" pitchFamily="34" charset="0"/>
                  </a:rPr>
                  <a:t>ms.</a:t>
                </a:r>
              </a:p>
            </p:txBody>
          </p:sp>
        </mc:Choice>
        <mc:Fallback xmlns="">
          <p:sp>
            <p:nvSpPr>
              <p:cNvPr id="6" name="TextBox 5">
                <a:extLst>
                  <a:ext uri="{FF2B5EF4-FFF2-40B4-BE49-F238E27FC236}">
                    <a16:creationId xmlns:a16="http://schemas.microsoft.com/office/drawing/2014/main" id="{51C2C54B-D483-73BC-047F-882627261986}"/>
                  </a:ext>
                </a:extLst>
              </p:cNvPr>
              <p:cNvSpPr txBox="1">
                <a:spLocks noRot="1" noChangeAspect="1" noMove="1" noResize="1" noEditPoints="1" noAdjustHandles="1" noChangeArrowheads="1" noChangeShapeType="1" noTextEdit="1"/>
              </p:cNvSpPr>
              <p:nvPr/>
            </p:nvSpPr>
            <p:spPr>
              <a:xfrm>
                <a:off x="6432331" y="761844"/>
                <a:ext cx="5660791" cy="3416320"/>
              </a:xfrm>
              <a:prstGeom prst="rect">
                <a:avLst/>
              </a:prstGeom>
              <a:blipFill>
                <a:blip r:embed="rId3"/>
                <a:stretch>
                  <a:fillRect l="-671" t="-743" r="-671" b="-1859"/>
                </a:stretch>
              </a:blipFill>
            </p:spPr>
            <p:txBody>
              <a:bodyPr/>
              <a:lstStyle/>
              <a:p>
                <a:r>
                  <a:rPr lang="en-CH">
                    <a:noFill/>
                  </a:rPr>
                  <a:t> </a:t>
                </a:r>
              </a:p>
            </p:txBody>
          </p:sp>
        </mc:Fallback>
      </mc:AlternateContent>
      <p:pic>
        <p:nvPicPr>
          <p:cNvPr id="4" name="Picture 3">
            <a:extLst>
              <a:ext uri="{FF2B5EF4-FFF2-40B4-BE49-F238E27FC236}">
                <a16:creationId xmlns:a16="http://schemas.microsoft.com/office/drawing/2014/main" id="{2FBB3DA6-FDFB-61E6-866F-D66A3B8CB4E2}"/>
              </a:ext>
            </a:extLst>
          </p:cNvPr>
          <p:cNvPicPr>
            <a:picLocks noChangeAspect="1"/>
          </p:cNvPicPr>
          <p:nvPr/>
        </p:nvPicPr>
        <p:blipFill>
          <a:blip r:embed="rId4"/>
          <a:stretch>
            <a:fillRect/>
          </a:stretch>
        </p:blipFill>
        <p:spPr>
          <a:xfrm>
            <a:off x="6432331" y="4361136"/>
            <a:ext cx="5341444" cy="2236612"/>
          </a:xfrm>
          <a:prstGeom prst="rect">
            <a:avLst/>
          </a:prstGeom>
        </p:spPr>
      </p:pic>
      <p:sp>
        <p:nvSpPr>
          <p:cNvPr id="3" name="TextBox 2">
            <a:extLst>
              <a:ext uri="{FF2B5EF4-FFF2-40B4-BE49-F238E27FC236}">
                <a16:creationId xmlns:a16="http://schemas.microsoft.com/office/drawing/2014/main" id="{5A4D80EA-CAE3-5E4D-59E0-0D638F4191B0}"/>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BA4B35CA-9D79-CDA9-470E-E5FE2EB788CC}"/>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0250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D9F2B-3432-59B3-3B7D-2ABE0FABFD5B}"/>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PSB layout</a:t>
            </a:r>
          </a:p>
        </p:txBody>
      </p:sp>
      <p:sp>
        <p:nvSpPr>
          <p:cNvPr id="5" name="Slide Number Placeholder 4">
            <a:extLst>
              <a:ext uri="{FF2B5EF4-FFF2-40B4-BE49-F238E27FC236}">
                <a16:creationId xmlns:a16="http://schemas.microsoft.com/office/drawing/2014/main" id="{B954772E-50A6-FBEE-131B-C8510A5FE197}"/>
              </a:ext>
            </a:extLst>
          </p:cNvPr>
          <p:cNvSpPr>
            <a:spLocks noGrp="1"/>
          </p:cNvSpPr>
          <p:nvPr>
            <p:ph type="sldNum" sz="quarter" idx="12"/>
          </p:nvPr>
        </p:nvSpPr>
        <p:spPr/>
        <p:txBody>
          <a:bodyPr/>
          <a:lstStyle/>
          <a:p>
            <a:r>
              <a:rPr lang="en-US" dirty="0"/>
              <a:t>2</a:t>
            </a:r>
            <a:endParaRPr lang="el-GR" dirty="0"/>
          </a:p>
        </p:txBody>
      </p:sp>
      <p:pic>
        <p:nvPicPr>
          <p:cNvPr id="2050" name="Picture 2">
            <a:extLst>
              <a:ext uri="{FF2B5EF4-FFF2-40B4-BE49-F238E27FC236}">
                <a16:creationId xmlns:a16="http://schemas.microsoft.com/office/drawing/2014/main" id="{EA232E8D-4F16-7338-90BD-2728ED2E00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79" y="685740"/>
            <a:ext cx="6174047" cy="44870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C2C54B-D483-73BC-047F-882627261986}"/>
                  </a:ext>
                </a:extLst>
              </p:cNvPr>
              <p:cNvSpPr txBox="1"/>
              <p:nvPr/>
            </p:nvSpPr>
            <p:spPr>
              <a:xfrm>
                <a:off x="6432331" y="761844"/>
                <a:ext cx="5660791" cy="4524315"/>
              </a:xfrm>
              <a:prstGeom prst="rect">
                <a:avLst/>
              </a:prstGeom>
              <a:noFill/>
            </p:spPr>
            <p:txBody>
              <a:bodyPr wrap="square" rtlCol="0">
                <a:spAutoFit/>
              </a:bodyPr>
              <a:lstStyle/>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4 identical superimposed rings of </a:t>
                </a:r>
                <a14:m>
                  <m:oMath xmlns:m="http://schemas.openxmlformats.org/officeDocument/2006/math">
                    <m:r>
                      <a:rPr lang="en-US" b="0" i="1" smtClean="0">
                        <a:latin typeface="Cambria Math" panose="02040503050406030204" pitchFamily="18" charset="0"/>
                      </a:rPr>
                      <m:t>25</m:t>
                    </m:r>
                  </m:oMath>
                </a14:m>
                <a:r>
                  <a:rPr lang="en-CH" dirty="0">
                    <a:latin typeface="Arial" panose="020B0604020202020204" pitchFamily="34" charset="0"/>
                    <a:cs typeface="Arial" panose="020B0604020202020204" pitchFamily="34" charset="0"/>
                  </a:rPr>
                  <a:t>m radius.</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Acceleration from </a:t>
                </a:r>
                <a14:m>
                  <m:oMath xmlns:m="http://schemas.openxmlformats.org/officeDocument/2006/math">
                    <m:r>
                      <a:rPr lang="en-US" b="0" i="1" smtClean="0">
                        <a:latin typeface="Cambria Math" panose="02040503050406030204" pitchFamily="18" charset="0"/>
                      </a:rPr>
                      <m:t>160</m:t>
                    </m:r>
                  </m:oMath>
                </a14:m>
                <a:r>
                  <a:rPr lang="en-CH" dirty="0">
                    <a:latin typeface="Arial" panose="020B0604020202020204" pitchFamily="34" charset="0"/>
                    <a:cs typeface="Arial" panose="020B0604020202020204" pitchFamily="34" charset="0"/>
                  </a:rPr>
                  <a:t>MeV to </a:t>
                </a:r>
                <a14:m>
                  <m:oMath xmlns:m="http://schemas.openxmlformats.org/officeDocument/2006/math">
                    <m:r>
                      <a:rPr lang="en-US" b="0" i="1" smtClean="0">
                        <a:latin typeface="Cambria Math" panose="02040503050406030204" pitchFamily="18" charset="0"/>
                      </a:rPr>
                      <m:t>2</m:t>
                    </m:r>
                  </m:oMath>
                </a14:m>
                <a:r>
                  <a:rPr lang="en-CH" dirty="0">
                    <a:latin typeface="Arial" panose="020B0604020202020204" pitchFamily="34" charset="0"/>
                    <a:cs typeface="Arial" panose="020B0604020202020204" pitchFamily="34" charset="0"/>
                  </a:rPr>
                  <a:t>GeV in </a:t>
                </a:r>
                <a14:m>
                  <m:oMath xmlns:m="http://schemas.openxmlformats.org/officeDocument/2006/math">
                    <m:r>
                      <a:rPr lang="en-US" b="0" i="0" smtClean="0">
                        <a:latin typeface="Cambria Math" panose="02040503050406030204" pitchFamily="18" charset="0"/>
                      </a:rPr>
                      <m:t>~</m:t>
                    </m:r>
                    <m:r>
                      <a:rPr lang="en-US" b="0" i="1" smtClean="0">
                        <a:latin typeface="Cambria Math" panose="02040503050406030204" pitchFamily="18" charset="0"/>
                      </a:rPr>
                      <m:t>0.5</m:t>
                    </m:r>
                  </m:oMath>
                </a14:m>
                <a:r>
                  <a:rPr lang="en-CH" dirty="0">
                    <a:latin typeface="Arial" panose="020B0604020202020204" pitchFamily="34" charset="0"/>
                    <a:cs typeface="Arial" panose="020B0604020202020204" pitchFamily="34" charset="0"/>
                  </a:rPr>
                  <a:t>sec.</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Common injection and extraction line.  </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16 periods (sectors), each with </a:t>
                </a:r>
                <a:r>
                  <a:rPr lang="en-CH" b="1" dirty="0">
                    <a:solidFill>
                      <a:srgbClr val="00B050"/>
                    </a:solidFill>
                    <a:latin typeface="Arial" panose="020B0604020202020204" pitchFamily="34" charset="0"/>
                    <a:cs typeface="Arial" panose="020B0604020202020204" pitchFamily="34" charset="0"/>
                  </a:rPr>
                  <a:t>two dipoles</a:t>
                </a:r>
                <a:r>
                  <a:rPr lang="en-CH" dirty="0">
                    <a:latin typeface="Arial" panose="020B0604020202020204" pitchFamily="34" charset="0"/>
                    <a:cs typeface="Arial" panose="020B0604020202020204" pitchFamily="34" charset="0"/>
                  </a:rPr>
                  <a:t>, </a:t>
                </a:r>
                <a:r>
                  <a:rPr lang="en-CH" b="1" dirty="0">
                    <a:solidFill>
                      <a:schemeClr val="accent3">
                        <a:lumMod val="75000"/>
                      </a:schemeClr>
                    </a:solidFill>
                    <a:latin typeface="Arial" panose="020B0604020202020204" pitchFamily="34" charset="0"/>
                    <a:cs typeface="Arial" panose="020B0604020202020204" pitchFamily="34" charset="0"/>
                  </a:rPr>
                  <a:t>three quadrupoles</a:t>
                </a:r>
                <a:r>
                  <a:rPr lang="en-CH" dirty="0">
                    <a:latin typeface="Arial" panose="020B0604020202020204" pitchFamily="34" charset="0"/>
                    <a:cs typeface="Arial" panose="020B0604020202020204" pitchFamily="34" charset="0"/>
                  </a:rPr>
                  <a:t> and a </a:t>
                </a:r>
                <a:r>
                  <a:rPr lang="en-CH" b="1" dirty="0">
                    <a:latin typeface="Arial" panose="020B0604020202020204" pitchFamily="34" charset="0"/>
                    <a:cs typeface="Arial" panose="020B0604020202020204" pitchFamily="34" charset="0"/>
                  </a:rPr>
                  <a:t>“straight section”</a:t>
                </a:r>
                <a:r>
                  <a:rPr lang="en-CH" dirty="0">
                    <a:latin typeface="Arial" panose="020B0604020202020204" pitchFamily="34" charset="0"/>
                    <a:cs typeface="Arial" panose="020B0604020202020204" pitchFamily="34" charset="0"/>
                  </a:rPr>
                  <a:t> for adittional elements.</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Magnetic cycle of </a:t>
                </a:r>
                <a14:m>
                  <m:oMath xmlns:m="http://schemas.openxmlformats.org/officeDocument/2006/math">
                    <m:r>
                      <a:rPr lang="en-US" b="0" i="1" smtClean="0">
                        <a:latin typeface="Cambria Math" panose="02040503050406030204" pitchFamily="18" charset="0"/>
                      </a:rPr>
                      <m:t>1.2</m:t>
                    </m:r>
                  </m:oMath>
                </a14:m>
                <a:r>
                  <a:rPr lang="en-CH" dirty="0">
                    <a:latin typeface="Arial" panose="020B0604020202020204" pitchFamily="34" charset="0"/>
                    <a:cs typeface="Arial" panose="020B0604020202020204" pitchFamily="34" charset="0"/>
                  </a:rPr>
                  <a:t>sec. Beam injection at </a:t>
                </a:r>
                <a14:m>
                  <m:oMath xmlns:m="http://schemas.openxmlformats.org/officeDocument/2006/math">
                    <m:r>
                      <a:rPr lang="en-US" b="0" i="1" smtClean="0">
                        <a:latin typeface="Cambria Math" panose="02040503050406030204" pitchFamily="18" charset="0"/>
                      </a:rPr>
                      <m:t>275</m:t>
                    </m:r>
                  </m:oMath>
                </a14:m>
                <a:r>
                  <a:rPr lang="en-CH" dirty="0">
                    <a:latin typeface="Arial" panose="020B0604020202020204" pitchFamily="34" charset="0"/>
                    <a:cs typeface="Arial" panose="020B0604020202020204" pitchFamily="34" charset="0"/>
                  </a:rPr>
                  <a:t>ms and extraction at </a:t>
                </a:r>
                <a14:m>
                  <m:oMath xmlns:m="http://schemas.openxmlformats.org/officeDocument/2006/math">
                    <m:r>
                      <a:rPr lang="en-US" b="0" i="1" smtClean="0">
                        <a:latin typeface="Cambria Math" panose="02040503050406030204" pitchFamily="18" charset="0"/>
                      </a:rPr>
                      <m:t>805</m:t>
                    </m:r>
                  </m:oMath>
                </a14:m>
                <a:r>
                  <a:rPr lang="en-CH" dirty="0">
                    <a:latin typeface="Arial" panose="020B0604020202020204" pitchFamily="34" charset="0"/>
                    <a:cs typeface="Arial" panose="020B0604020202020204" pitchFamily="34" charset="0"/>
                  </a:rPr>
                  <a:t>ms.</a:t>
                </a:r>
              </a:p>
              <a:p>
                <a:pPr marL="285750" indent="-285750">
                  <a:buFont typeface="Arial" panose="020B0604020202020204" pitchFamily="34" charset="0"/>
                  <a:buChar char="•"/>
                </a:pPr>
                <a:endParaRPr lang="en-CH"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PSB is constantly cycled with different beams. The cycles follow a predefined </a:t>
                </a:r>
                <a:r>
                  <a:rPr lang="en-CH" b="1" dirty="0">
                    <a:solidFill>
                      <a:srgbClr val="FF0000"/>
                    </a:solidFill>
                    <a:latin typeface="Arial" panose="020B0604020202020204" pitchFamily="34" charset="0"/>
                    <a:cs typeface="Arial" panose="020B0604020202020204" pitchFamily="34" charset="0"/>
                  </a:rPr>
                  <a:t>super-cycle</a:t>
                </a:r>
                <a:r>
                  <a:rPr lang="en-CH" dirty="0">
                    <a:latin typeface="Arial" panose="020B0604020202020204" pitchFamily="34" charset="0"/>
                    <a:cs typeface="Arial" panose="020B0604020202020204" pitchFamily="34" charset="0"/>
                  </a:rPr>
                  <a:t> which is repeated many times. </a:t>
                </a:r>
              </a:p>
            </p:txBody>
          </p:sp>
        </mc:Choice>
        <mc:Fallback xmlns="">
          <p:sp>
            <p:nvSpPr>
              <p:cNvPr id="6" name="TextBox 5">
                <a:extLst>
                  <a:ext uri="{FF2B5EF4-FFF2-40B4-BE49-F238E27FC236}">
                    <a16:creationId xmlns:a16="http://schemas.microsoft.com/office/drawing/2014/main" id="{51C2C54B-D483-73BC-047F-882627261986}"/>
                  </a:ext>
                </a:extLst>
              </p:cNvPr>
              <p:cNvSpPr txBox="1">
                <a:spLocks noRot="1" noChangeAspect="1" noMove="1" noResize="1" noEditPoints="1" noAdjustHandles="1" noChangeArrowheads="1" noChangeShapeType="1" noTextEdit="1"/>
              </p:cNvSpPr>
              <p:nvPr/>
            </p:nvSpPr>
            <p:spPr>
              <a:xfrm>
                <a:off x="6432331" y="761844"/>
                <a:ext cx="5660791" cy="4524315"/>
              </a:xfrm>
              <a:prstGeom prst="rect">
                <a:avLst/>
              </a:prstGeom>
              <a:blipFill>
                <a:blip r:embed="rId3"/>
                <a:stretch>
                  <a:fillRect l="-671" t="-560" r="-671" b="-1120"/>
                </a:stretch>
              </a:blipFill>
            </p:spPr>
            <p:txBody>
              <a:bodyPr/>
              <a:lstStyle/>
              <a:p>
                <a:r>
                  <a:rPr lang="en-CH">
                    <a:noFill/>
                  </a:rPr>
                  <a:t> </a:t>
                </a:r>
              </a:p>
            </p:txBody>
          </p:sp>
        </mc:Fallback>
      </mc:AlternateContent>
      <p:pic>
        <p:nvPicPr>
          <p:cNvPr id="3" name="Picture 2">
            <a:extLst>
              <a:ext uri="{FF2B5EF4-FFF2-40B4-BE49-F238E27FC236}">
                <a16:creationId xmlns:a16="http://schemas.microsoft.com/office/drawing/2014/main" id="{FDB22AAF-B79B-2718-AB66-DDC3BD7C27BD}"/>
              </a:ext>
            </a:extLst>
          </p:cNvPr>
          <p:cNvPicPr>
            <a:picLocks noChangeAspect="1"/>
          </p:cNvPicPr>
          <p:nvPr/>
        </p:nvPicPr>
        <p:blipFill>
          <a:blip r:embed="rId4"/>
          <a:stretch>
            <a:fillRect/>
          </a:stretch>
        </p:blipFill>
        <p:spPr>
          <a:xfrm>
            <a:off x="1178025" y="2554013"/>
            <a:ext cx="5152753" cy="3846785"/>
          </a:xfrm>
          <a:prstGeom prst="rect">
            <a:avLst/>
          </a:prstGeom>
          <a:ln w="38100">
            <a:solidFill>
              <a:srgbClr val="FF0000"/>
            </a:solidFill>
          </a:ln>
        </p:spPr>
      </p:pic>
      <p:sp>
        <p:nvSpPr>
          <p:cNvPr id="4" name="TextBox 3">
            <a:extLst>
              <a:ext uri="{FF2B5EF4-FFF2-40B4-BE49-F238E27FC236}">
                <a16:creationId xmlns:a16="http://schemas.microsoft.com/office/drawing/2014/main" id="{659DDA56-C7FD-35FE-4773-14115FAB8B55}"/>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066DD53-77CB-706A-6673-97500ADCB2C8}"/>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034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A46BD-48CF-80D2-1970-19FE1599230A}"/>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PSB beams</a:t>
            </a:r>
          </a:p>
        </p:txBody>
      </p:sp>
      <p:sp>
        <p:nvSpPr>
          <p:cNvPr id="5" name="Slide Number Placeholder 4">
            <a:extLst>
              <a:ext uri="{FF2B5EF4-FFF2-40B4-BE49-F238E27FC236}">
                <a16:creationId xmlns:a16="http://schemas.microsoft.com/office/drawing/2014/main" id="{2338A3A4-689B-DB8F-28B8-3F706DDDE563}"/>
              </a:ext>
            </a:extLst>
          </p:cNvPr>
          <p:cNvSpPr>
            <a:spLocks noGrp="1"/>
          </p:cNvSpPr>
          <p:nvPr>
            <p:ph type="sldNum" sz="quarter" idx="12"/>
          </p:nvPr>
        </p:nvSpPr>
        <p:spPr/>
        <p:txBody>
          <a:bodyPr/>
          <a:lstStyle/>
          <a:p>
            <a:r>
              <a:rPr lang="en-US" dirty="0"/>
              <a:t>3</a:t>
            </a:r>
            <a:endParaRPr lang="el-GR" dirty="0"/>
          </a:p>
        </p:txBody>
      </p:sp>
      <p:pic>
        <p:nvPicPr>
          <p:cNvPr id="6" name="Picture 5">
            <a:extLst>
              <a:ext uri="{FF2B5EF4-FFF2-40B4-BE49-F238E27FC236}">
                <a16:creationId xmlns:a16="http://schemas.microsoft.com/office/drawing/2014/main" id="{69027B70-B7C8-89B2-1DA9-FE1D41D44032}"/>
              </a:ext>
            </a:extLst>
          </p:cNvPr>
          <p:cNvPicPr>
            <a:picLocks noChangeAspect="1"/>
          </p:cNvPicPr>
          <p:nvPr/>
        </p:nvPicPr>
        <p:blipFill>
          <a:blip r:embed="rId2"/>
          <a:stretch>
            <a:fillRect/>
          </a:stretch>
        </p:blipFill>
        <p:spPr>
          <a:xfrm>
            <a:off x="2253945" y="741689"/>
            <a:ext cx="7679886" cy="2687311"/>
          </a:xfrm>
          <a:prstGeom prst="rect">
            <a:avLst/>
          </a:prstGeom>
        </p:spPr>
      </p:pic>
      <p:sp>
        <p:nvSpPr>
          <p:cNvPr id="3" name="TextBox 2">
            <a:extLst>
              <a:ext uri="{FF2B5EF4-FFF2-40B4-BE49-F238E27FC236}">
                <a16:creationId xmlns:a16="http://schemas.microsoft.com/office/drawing/2014/main" id="{630D677D-3D52-D39B-B45C-00A92A54B8EE}"/>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E99066A4-A99F-08BA-50DD-518E63A302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0393" y="3622051"/>
            <a:ext cx="4313019" cy="32347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2536B29-74A1-695A-93D6-061E6D29569A}"/>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cxnSp>
        <p:nvCxnSpPr>
          <p:cNvPr id="10" name="Curved Connector 9">
            <a:extLst>
              <a:ext uri="{FF2B5EF4-FFF2-40B4-BE49-F238E27FC236}">
                <a16:creationId xmlns:a16="http://schemas.microsoft.com/office/drawing/2014/main" id="{E600F8D6-6277-4C69-BB53-4D5520F812BB}"/>
              </a:ext>
            </a:extLst>
          </p:cNvPr>
          <p:cNvCxnSpPr>
            <a:cxnSpLocks/>
          </p:cNvCxnSpPr>
          <p:nvPr/>
        </p:nvCxnSpPr>
        <p:spPr>
          <a:xfrm>
            <a:off x="9676902" y="2870122"/>
            <a:ext cx="711260" cy="796202"/>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2C289F3-7C8C-C296-26B8-F8A07D9CFC3D}"/>
              </a:ext>
            </a:extLst>
          </p:cNvPr>
          <p:cNvPicPr>
            <a:picLocks noChangeAspect="1"/>
          </p:cNvPicPr>
          <p:nvPr/>
        </p:nvPicPr>
        <p:blipFill>
          <a:blip r:embed="rId4"/>
          <a:stretch>
            <a:fillRect/>
          </a:stretch>
        </p:blipFill>
        <p:spPr>
          <a:xfrm>
            <a:off x="603986" y="3508211"/>
            <a:ext cx="3861922" cy="3089537"/>
          </a:xfrm>
          <a:prstGeom prst="rect">
            <a:avLst/>
          </a:prstGeom>
        </p:spPr>
      </p:pic>
      <p:cxnSp>
        <p:nvCxnSpPr>
          <p:cNvPr id="23" name="Curved Connector 22">
            <a:extLst>
              <a:ext uri="{FF2B5EF4-FFF2-40B4-BE49-F238E27FC236}">
                <a16:creationId xmlns:a16="http://schemas.microsoft.com/office/drawing/2014/main" id="{40208CAD-A462-1944-57C3-60F93BF18AEA}"/>
              </a:ext>
            </a:extLst>
          </p:cNvPr>
          <p:cNvCxnSpPr>
            <a:cxnSpLocks/>
          </p:cNvCxnSpPr>
          <p:nvPr/>
        </p:nvCxnSpPr>
        <p:spPr>
          <a:xfrm rot="10800000" flipV="1">
            <a:off x="1215222" y="1452204"/>
            <a:ext cx="1168784" cy="1902466"/>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746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923B-BFDF-4601-7904-AA138F938414}"/>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Devices</a:t>
            </a:r>
          </a:p>
        </p:txBody>
      </p:sp>
      <p:sp>
        <p:nvSpPr>
          <p:cNvPr id="5" name="Slide Number Placeholder 4">
            <a:extLst>
              <a:ext uri="{FF2B5EF4-FFF2-40B4-BE49-F238E27FC236}">
                <a16:creationId xmlns:a16="http://schemas.microsoft.com/office/drawing/2014/main" id="{F412FD7E-45FD-5CD4-C710-2D82B5451A7E}"/>
              </a:ext>
            </a:extLst>
          </p:cNvPr>
          <p:cNvSpPr>
            <a:spLocks noGrp="1"/>
          </p:cNvSpPr>
          <p:nvPr>
            <p:ph type="sldNum" sz="quarter" idx="12"/>
          </p:nvPr>
        </p:nvSpPr>
        <p:spPr/>
        <p:txBody>
          <a:bodyPr/>
          <a:lstStyle/>
          <a:p>
            <a:r>
              <a:rPr lang="en-US" dirty="0"/>
              <a:t>4</a:t>
            </a:r>
            <a:endParaRPr lang="el-GR" dirty="0"/>
          </a:p>
        </p:txBody>
      </p:sp>
      <p:sp>
        <p:nvSpPr>
          <p:cNvPr id="7" name="TextBox 6">
            <a:extLst>
              <a:ext uri="{FF2B5EF4-FFF2-40B4-BE49-F238E27FC236}">
                <a16:creationId xmlns:a16="http://schemas.microsoft.com/office/drawing/2014/main" id="{EF5A60A4-DA33-119F-8BB4-BDDC6F3F9F19}"/>
              </a:ext>
            </a:extLst>
          </p:cNvPr>
          <p:cNvSpPr txBox="1"/>
          <p:nvPr/>
        </p:nvSpPr>
        <p:spPr>
          <a:xfrm>
            <a:off x="5886995" y="766354"/>
            <a:ext cx="6017622" cy="738664"/>
          </a:xfrm>
          <a:prstGeom prst="rect">
            <a:avLst/>
          </a:prstGeom>
          <a:noFill/>
        </p:spPr>
        <p:txBody>
          <a:bodyPr wrap="square" rtlCol="0">
            <a:spAutoFit/>
          </a:bodyPr>
          <a:lstStyle/>
          <a:p>
            <a:pPr marL="285750" indent="-285750">
              <a:buFont typeface="Arial" panose="020B0604020202020204" pitchFamily="34" charset="0"/>
              <a:buChar char="•"/>
            </a:pPr>
            <a:r>
              <a:rPr lang="en-CH" sz="1400" b="1" dirty="0">
                <a:solidFill>
                  <a:srgbClr val="00B050"/>
                </a:solidFill>
                <a:latin typeface="Arial" panose="020B0604020202020204" pitchFamily="34" charset="0"/>
                <a:cs typeface="Arial" panose="020B0604020202020204" pitchFamily="34" charset="0"/>
              </a:rPr>
              <a:t>Beam Position Monitors (BPMs)</a:t>
            </a:r>
            <a:r>
              <a:rPr lang="en-CH" sz="1400" dirty="0">
                <a:latin typeface="Arial" panose="020B0604020202020204" pitchFamily="34" charset="0"/>
                <a:cs typeface="Arial" panose="020B0604020202020204" pitchFamily="34" charset="0"/>
              </a:rPr>
              <a:t>: turn-by-turn measurement of the beam center of mass. 16 horizontal and 16 vertical for each ring. </a:t>
            </a:r>
          </a:p>
          <a:p>
            <a:endParaRPr lang="en-CH" sz="14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75CA1D29-BAE6-9B43-63BC-C9EF58673945}"/>
              </a:ext>
            </a:extLst>
          </p:cNvPr>
          <p:cNvPicPr>
            <a:picLocks noChangeAspect="1"/>
          </p:cNvPicPr>
          <p:nvPr/>
        </p:nvPicPr>
        <p:blipFill>
          <a:blip r:embed="rId2"/>
          <a:stretch>
            <a:fillRect/>
          </a:stretch>
        </p:blipFill>
        <p:spPr>
          <a:xfrm>
            <a:off x="104501" y="766354"/>
            <a:ext cx="5669279" cy="4565150"/>
          </a:xfrm>
          <a:prstGeom prst="rect">
            <a:avLst/>
          </a:prstGeom>
        </p:spPr>
      </p:pic>
      <p:sp>
        <p:nvSpPr>
          <p:cNvPr id="12" name="Oval 11">
            <a:extLst>
              <a:ext uri="{FF2B5EF4-FFF2-40B4-BE49-F238E27FC236}">
                <a16:creationId xmlns:a16="http://schemas.microsoft.com/office/drawing/2014/main" id="{83602D3B-BBE1-8A7E-65E4-4BAB9AF8EAD0}"/>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939939C3-61DD-10E5-802A-617D82EFE385}"/>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C0D19991-D4B5-CA6C-5DAA-C1DCDF97B474}"/>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4B1E127B-E3C6-CDBB-361E-38D4354C234F}"/>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39282263-A971-AD41-AF06-DA5CC1FE68D0}"/>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A2183C49-B8B5-DAC8-3403-475C1962E387}"/>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78FB188A-E764-7329-5B4F-63CDB49B734F}"/>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693FCA09-A2FC-CA38-1BDB-93C83B23A2C8}"/>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BF305B3D-0B3F-F7AD-5D54-8D137637D128}"/>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Oval 20">
            <a:extLst>
              <a:ext uri="{FF2B5EF4-FFF2-40B4-BE49-F238E27FC236}">
                <a16:creationId xmlns:a16="http://schemas.microsoft.com/office/drawing/2014/main" id="{3A900394-D3F5-2588-6BB1-64EBC6581BF9}"/>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Oval 21">
            <a:extLst>
              <a:ext uri="{FF2B5EF4-FFF2-40B4-BE49-F238E27FC236}">
                <a16:creationId xmlns:a16="http://schemas.microsoft.com/office/drawing/2014/main" id="{0BEC941D-1607-3A44-1EAB-88387EC13D0A}"/>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 name="Oval 22">
            <a:extLst>
              <a:ext uri="{FF2B5EF4-FFF2-40B4-BE49-F238E27FC236}">
                <a16:creationId xmlns:a16="http://schemas.microsoft.com/office/drawing/2014/main" id="{A196BB02-4EFA-1E08-AE32-906CDCD05A58}"/>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 name="Oval 23">
            <a:extLst>
              <a:ext uri="{FF2B5EF4-FFF2-40B4-BE49-F238E27FC236}">
                <a16:creationId xmlns:a16="http://schemas.microsoft.com/office/drawing/2014/main" id="{D2C3E355-023D-8589-53C6-A872353FD376}"/>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5" name="Oval 24">
            <a:extLst>
              <a:ext uri="{FF2B5EF4-FFF2-40B4-BE49-F238E27FC236}">
                <a16:creationId xmlns:a16="http://schemas.microsoft.com/office/drawing/2014/main" id="{E3D04AC3-96CA-18CA-FD57-23497D6121E7}"/>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6" name="Oval 25">
            <a:extLst>
              <a:ext uri="{FF2B5EF4-FFF2-40B4-BE49-F238E27FC236}">
                <a16:creationId xmlns:a16="http://schemas.microsoft.com/office/drawing/2014/main" id="{DA7F9A1E-274F-09D3-1E2E-AB08D2B0A72E}"/>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7" name="Oval 26">
            <a:extLst>
              <a:ext uri="{FF2B5EF4-FFF2-40B4-BE49-F238E27FC236}">
                <a16:creationId xmlns:a16="http://schemas.microsoft.com/office/drawing/2014/main" id="{ACF2DD41-33D2-B8D7-3456-93DF448C2E6B}"/>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38" name="Picture 37">
            <a:extLst>
              <a:ext uri="{FF2B5EF4-FFF2-40B4-BE49-F238E27FC236}">
                <a16:creationId xmlns:a16="http://schemas.microsoft.com/office/drawing/2014/main" id="{B65DF4F2-AC14-4CB8-EA77-46D8CAC29057}"/>
              </a:ext>
            </a:extLst>
          </p:cNvPr>
          <p:cNvPicPr>
            <a:picLocks noChangeAspect="1"/>
          </p:cNvPicPr>
          <p:nvPr/>
        </p:nvPicPr>
        <p:blipFill>
          <a:blip r:embed="rId3"/>
          <a:stretch>
            <a:fillRect/>
          </a:stretch>
        </p:blipFill>
        <p:spPr>
          <a:xfrm>
            <a:off x="6008908" y="2222728"/>
            <a:ext cx="5355777" cy="3108776"/>
          </a:xfrm>
          <a:prstGeom prst="rect">
            <a:avLst/>
          </a:prstGeom>
        </p:spPr>
      </p:pic>
      <p:sp>
        <p:nvSpPr>
          <p:cNvPr id="3" name="TextBox 2">
            <a:extLst>
              <a:ext uri="{FF2B5EF4-FFF2-40B4-BE49-F238E27FC236}">
                <a16:creationId xmlns:a16="http://schemas.microsoft.com/office/drawing/2014/main" id="{F32FE51D-88B5-8AE0-69C8-274BACDE92BE}"/>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F8DD146-A6AA-B29A-DA3A-DC7A1B6E38A8}"/>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787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par>
                                <p:cTn id="53" presetID="10" presetClass="entr" presetSubtype="0" fill="hold" nodeType="with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animEffect transition="in" filter="fade">
                                      <p:cBhvr>
                                        <p:cTn id="55" dur="500"/>
                                        <p:tgtEl>
                                          <p:spTgt spid="7">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923B-BFDF-4601-7904-AA138F938414}"/>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Devices</a:t>
            </a:r>
          </a:p>
        </p:txBody>
      </p:sp>
      <p:sp>
        <p:nvSpPr>
          <p:cNvPr id="5" name="Slide Number Placeholder 4">
            <a:extLst>
              <a:ext uri="{FF2B5EF4-FFF2-40B4-BE49-F238E27FC236}">
                <a16:creationId xmlns:a16="http://schemas.microsoft.com/office/drawing/2014/main" id="{F412FD7E-45FD-5CD4-C710-2D82B5451A7E}"/>
              </a:ext>
            </a:extLst>
          </p:cNvPr>
          <p:cNvSpPr>
            <a:spLocks noGrp="1"/>
          </p:cNvSpPr>
          <p:nvPr>
            <p:ph type="sldNum" sz="quarter" idx="12"/>
          </p:nvPr>
        </p:nvSpPr>
        <p:spPr/>
        <p:txBody>
          <a:bodyPr/>
          <a:lstStyle/>
          <a:p>
            <a:r>
              <a:rPr lang="en-US" dirty="0"/>
              <a:t>4</a:t>
            </a:r>
            <a:endParaRPr lang="el-GR"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F5A60A4-DA33-119F-8BB4-BDDC6F3F9F19}"/>
                  </a:ext>
                </a:extLst>
              </p:cNvPr>
              <p:cNvSpPr txBox="1"/>
              <p:nvPr/>
            </p:nvSpPr>
            <p:spPr>
              <a:xfrm>
                <a:off x="5886995" y="766354"/>
                <a:ext cx="6017622" cy="1169551"/>
              </a:xfrm>
              <a:prstGeom prst="rect">
                <a:avLst/>
              </a:prstGeom>
              <a:noFill/>
            </p:spPr>
            <p:txBody>
              <a:bodyPr wrap="square" rtlCol="0">
                <a:spAutoFit/>
              </a:bodyPr>
              <a:lstStyle/>
              <a:p>
                <a:pPr marL="285750" indent="-285750">
                  <a:buFont typeface="Arial" panose="020B0604020202020204" pitchFamily="34" charset="0"/>
                  <a:buChar char="•"/>
                </a:pPr>
                <a:r>
                  <a:rPr lang="en-CH" sz="1400" b="1" dirty="0">
                    <a:solidFill>
                      <a:srgbClr val="00B050"/>
                    </a:solidFill>
                    <a:latin typeface="Arial" panose="020B0604020202020204" pitchFamily="34" charset="0"/>
                    <a:cs typeface="Arial" panose="020B0604020202020204" pitchFamily="34" charset="0"/>
                  </a:rPr>
                  <a:t>Beam Position Monitors (BPMs)</a:t>
                </a:r>
                <a:r>
                  <a:rPr lang="en-CH" sz="1400" dirty="0">
                    <a:latin typeface="Arial" panose="020B0604020202020204" pitchFamily="34" charset="0"/>
                    <a:cs typeface="Arial" panose="020B0604020202020204" pitchFamily="34" charset="0"/>
                  </a:rPr>
                  <a:t>: turn-by-turn measurement of the beam center of mass. 16 horizontal and 16 vertical for each ring.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7030A0"/>
                    </a:solidFill>
                    <a:latin typeface="Arial" panose="020B0604020202020204" pitchFamily="34" charset="0"/>
                    <a:cs typeface="Arial" panose="020B0604020202020204" pitchFamily="34" charset="0"/>
                  </a:rPr>
                  <a:t>Beam Current Transformer (BCT)</a:t>
                </a:r>
                <a:r>
                  <a:rPr lang="en-CH" sz="1400" dirty="0">
                    <a:latin typeface="Arial" panose="020B0604020202020204" pitchFamily="34" charset="0"/>
                    <a:cs typeface="Arial" panose="020B0604020202020204" pitchFamily="34" charset="0"/>
                  </a:rPr>
                  <a:t>: measures average beam current every </a:t>
                </a:r>
                <a14:m>
                  <m:oMath xmlns:m="http://schemas.openxmlformats.org/officeDocument/2006/math">
                    <m:r>
                      <a:rPr lang="en-US" sz="1400" b="0" i="1" smtClean="0">
                        <a:latin typeface="Cambria Math" panose="02040503050406030204" pitchFamily="18" charset="0"/>
                      </a:rPr>
                      <m:t>1</m:t>
                    </m:r>
                  </m:oMath>
                </a14:m>
                <a:r>
                  <a:rPr lang="en-CH" sz="1400" dirty="0">
                    <a:latin typeface="Arial" panose="020B0604020202020204" pitchFamily="34" charset="0"/>
                    <a:cs typeface="Arial" panose="020B0604020202020204" pitchFamily="34" charset="0"/>
                  </a:rPr>
                  <a:t>ms.</a:t>
                </a:r>
              </a:p>
            </p:txBody>
          </p:sp>
        </mc:Choice>
        <mc:Fallback xmlns="">
          <p:sp>
            <p:nvSpPr>
              <p:cNvPr id="7" name="TextBox 6">
                <a:extLst>
                  <a:ext uri="{FF2B5EF4-FFF2-40B4-BE49-F238E27FC236}">
                    <a16:creationId xmlns:a16="http://schemas.microsoft.com/office/drawing/2014/main" id="{EF5A60A4-DA33-119F-8BB4-BDDC6F3F9F19}"/>
                  </a:ext>
                </a:extLst>
              </p:cNvPr>
              <p:cNvSpPr txBox="1">
                <a:spLocks noRot="1" noChangeAspect="1" noMove="1" noResize="1" noEditPoints="1" noAdjustHandles="1" noChangeArrowheads="1" noChangeShapeType="1" noTextEdit="1"/>
              </p:cNvSpPr>
              <p:nvPr/>
            </p:nvSpPr>
            <p:spPr>
              <a:xfrm>
                <a:off x="5886995" y="766354"/>
                <a:ext cx="6017622" cy="1169551"/>
              </a:xfrm>
              <a:prstGeom prst="rect">
                <a:avLst/>
              </a:prstGeom>
              <a:blipFill>
                <a:blip r:embed="rId2"/>
                <a:stretch>
                  <a:fillRect l="-211" t="-1075" b="-4301"/>
                </a:stretch>
              </a:blipFill>
            </p:spPr>
            <p:txBody>
              <a:bodyPr/>
              <a:lstStyle/>
              <a:p>
                <a:r>
                  <a:rPr lang="en-CH">
                    <a:noFill/>
                  </a:rPr>
                  <a:t> </a:t>
                </a:r>
              </a:p>
            </p:txBody>
          </p:sp>
        </mc:Fallback>
      </mc:AlternateContent>
      <p:pic>
        <p:nvPicPr>
          <p:cNvPr id="11" name="Picture 10">
            <a:extLst>
              <a:ext uri="{FF2B5EF4-FFF2-40B4-BE49-F238E27FC236}">
                <a16:creationId xmlns:a16="http://schemas.microsoft.com/office/drawing/2014/main" id="{75CA1D29-BAE6-9B43-63BC-C9EF58673945}"/>
              </a:ext>
            </a:extLst>
          </p:cNvPr>
          <p:cNvPicPr>
            <a:picLocks noChangeAspect="1"/>
          </p:cNvPicPr>
          <p:nvPr/>
        </p:nvPicPr>
        <p:blipFill>
          <a:blip r:embed="rId3"/>
          <a:stretch>
            <a:fillRect/>
          </a:stretch>
        </p:blipFill>
        <p:spPr>
          <a:xfrm>
            <a:off x="104501" y="766354"/>
            <a:ext cx="5669279" cy="4565150"/>
          </a:xfrm>
          <a:prstGeom prst="rect">
            <a:avLst/>
          </a:prstGeom>
        </p:spPr>
      </p:pic>
      <p:sp>
        <p:nvSpPr>
          <p:cNvPr id="12" name="Oval 11">
            <a:extLst>
              <a:ext uri="{FF2B5EF4-FFF2-40B4-BE49-F238E27FC236}">
                <a16:creationId xmlns:a16="http://schemas.microsoft.com/office/drawing/2014/main" id="{83602D3B-BBE1-8A7E-65E4-4BAB9AF8EAD0}"/>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939939C3-61DD-10E5-802A-617D82EFE385}"/>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C0D19991-D4B5-CA6C-5DAA-C1DCDF97B474}"/>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4B1E127B-E3C6-CDBB-361E-38D4354C234F}"/>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39282263-A971-AD41-AF06-DA5CC1FE68D0}"/>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A2183C49-B8B5-DAC8-3403-475C1962E387}"/>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78FB188A-E764-7329-5B4F-63CDB49B734F}"/>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693FCA09-A2FC-CA38-1BDB-93C83B23A2C8}"/>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BF305B3D-0B3F-F7AD-5D54-8D137637D128}"/>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Oval 20">
            <a:extLst>
              <a:ext uri="{FF2B5EF4-FFF2-40B4-BE49-F238E27FC236}">
                <a16:creationId xmlns:a16="http://schemas.microsoft.com/office/drawing/2014/main" id="{3A900394-D3F5-2588-6BB1-64EBC6581BF9}"/>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Oval 21">
            <a:extLst>
              <a:ext uri="{FF2B5EF4-FFF2-40B4-BE49-F238E27FC236}">
                <a16:creationId xmlns:a16="http://schemas.microsoft.com/office/drawing/2014/main" id="{0BEC941D-1607-3A44-1EAB-88387EC13D0A}"/>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 name="Oval 22">
            <a:extLst>
              <a:ext uri="{FF2B5EF4-FFF2-40B4-BE49-F238E27FC236}">
                <a16:creationId xmlns:a16="http://schemas.microsoft.com/office/drawing/2014/main" id="{A196BB02-4EFA-1E08-AE32-906CDCD05A58}"/>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 name="Oval 23">
            <a:extLst>
              <a:ext uri="{FF2B5EF4-FFF2-40B4-BE49-F238E27FC236}">
                <a16:creationId xmlns:a16="http://schemas.microsoft.com/office/drawing/2014/main" id="{D2C3E355-023D-8589-53C6-A872353FD376}"/>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5" name="Oval 24">
            <a:extLst>
              <a:ext uri="{FF2B5EF4-FFF2-40B4-BE49-F238E27FC236}">
                <a16:creationId xmlns:a16="http://schemas.microsoft.com/office/drawing/2014/main" id="{E3D04AC3-96CA-18CA-FD57-23497D6121E7}"/>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6" name="Oval 25">
            <a:extLst>
              <a:ext uri="{FF2B5EF4-FFF2-40B4-BE49-F238E27FC236}">
                <a16:creationId xmlns:a16="http://schemas.microsoft.com/office/drawing/2014/main" id="{DA7F9A1E-274F-09D3-1E2E-AB08D2B0A72E}"/>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7" name="Oval 26">
            <a:extLst>
              <a:ext uri="{FF2B5EF4-FFF2-40B4-BE49-F238E27FC236}">
                <a16:creationId xmlns:a16="http://schemas.microsoft.com/office/drawing/2014/main" id="{ACF2DD41-33D2-B8D7-3456-93DF448C2E6B}"/>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9" name="Rectangle 28">
            <a:extLst>
              <a:ext uri="{FF2B5EF4-FFF2-40B4-BE49-F238E27FC236}">
                <a16:creationId xmlns:a16="http://schemas.microsoft.com/office/drawing/2014/main" id="{0586E18F-02D6-84B0-74C8-BB14788DCB9F}"/>
              </a:ext>
            </a:extLst>
          </p:cNvPr>
          <p:cNvSpPr/>
          <p:nvPr/>
        </p:nvSpPr>
        <p:spPr>
          <a:xfrm>
            <a:off x="2680058" y="893731"/>
            <a:ext cx="165468" cy="360796"/>
          </a:xfrm>
          <a:prstGeom prst="rect">
            <a:avLst/>
          </a:prstGeom>
          <a:solidFill>
            <a:srgbClr val="7030A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3" name="Picture 2">
            <a:extLst>
              <a:ext uri="{FF2B5EF4-FFF2-40B4-BE49-F238E27FC236}">
                <a16:creationId xmlns:a16="http://schemas.microsoft.com/office/drawing/2014/main" id="{4A5B1417-4601-74C1-095F-2026AC8ED0F3}"/>
              </a:ext>
            </a:extLst>
          </p:cNvPr>
          <p:cNvPicPr>
            <a:picLocks noChangeAspect="1"/>
          </p:cNvPicPr>
          <p:nvPr/>
        </p:nvPicPr>
        <p:blipFill>
          <a:blip r:embed="rId4"/>
          <a:stretch>
            <a:fillRect/>
          </a:stretch>
        </p:blipFill>
        <p:spPr>
          <a:xfrm>
            <a:off x="6143897" y="2744202"/>
            <a:ext cx="4887906" cy="2949454"/>
          </a:xfrm>
          <a:prstGeom prst="rect">
            <a:avLst/>
          </a:prstGeom>
        </p:spPr>
      </p:pic>
      <p:sp>
        <p:nvSpPr>
          <p:cNvPr id="4" name="TextBox 3">
            <a:extLst>
              <a:ext uri="{FF2B5EF4-FFF2-40B4-BE49-F238E27FC236}">
                <a16:creationId xmlns:a16="http://schemas.microsoft.com/office/drawing/2014/main" id="{59C1FC6F-25FE-4622-5430-920C6012D75B}"/>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6B34886-1A59-B36F-6B15-AFE72611C08C}"/>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516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923B-BFDF-4601-7904-AA138F938414}"/>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Devices</a:t>
            </a:r>
          </a:p>
        </p:txBody>
      </p:sp>
      <p:sp>
        <p:nvSpPr>
          <p:cNvPr id="5" name="Slide Number Placeholder 4">
            <a:extLst>
              <a:ext uri="{FF2B5EF4-FFF2-40B4-BE49-F238E27FC236}">
                <a16:creationId xmlns:a16="http://schemas.microsoft.com/office/drawing/2014/main" id="{F412FD7E-45FD-5CD4-C710-2D82B5451A7E}"/>
              </a:ext>
            </a:extLst>
          </p:cNvPr>
          <p:cNvSpPr>
            <a:spLocks noGrp="1"/>
          </p:cNvSpPr>
          <p:nvPr>
            <p:ph type="sldNum" sz="quarter" idx="12"/>
          </p:nvPr>
        </p:nvSpPr>
        <p:spPr/>
        <p:txBody>
          <a:bodyPr/>
          <a:lstStyle/>
          <a:p>
            <a:r>
              <a:rPr lang="en-US" dirty="0"/>
              <a:t>4</a:t>
            </a:r>
            <a:endParaRPr lang="el-GR"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F5A60A4-DA33-119F-8BB4-BDDC6F3F9F19}"/>
                  </a:ext>
                </a:extLst>
              </p:cNvPr>
              <p:cNvSpPr txBox="1"/>
              <p:nvPr/>
            </p:nvSpPr>
            <p:spPr>
              <a:xfrm>
                <a:off x="5886995" y="766354"/>
                <a:ext cx="6017622" cy="1815882"/>
              </a:xfrm>
              <a:prstGeom prst="rect">
                <a:avLst/>
              </a:prstGeom>
              <a:noFill/>
            </p:spPr>
            <p:txBody>
              <a:bodyPr wrap="square" rtlCol="0">
                <a:spAutoFit/>
              </a:bodyPr>
              <a:lstStyle/>
              <a:p>
                <a:pPr marL="285750" indent="-285750">
                  <a:buFont typeface="Arial" panose="020B0604020202020204" pitchFamily="34" charset="0"/>
                  <a:buChar char="•"/>
                </a:pPr>
                <a:r>
                  <a:rPr lang="en-CH" sz="1400" b="1" dirty="0">
                    <a:solidFill>
                      <a:srgbClr val="00B050"/>
                    </a:solidFill>
                    <a:latin typeface="Arial" panose="020B0604020202020204" pitchFamily="34" charset="0"/>
                    <a:cs typeface="Arial" panose="020B0604020202020204" pitchFamily="34" charset="0"/>
                  </a:rPr>
                  <a:t>Beam Position Monitors (BPMs)</a:t>
                </a:r>
                <a:r>
                  <a:rPr lang="en-CH" sz="1400" dirty="0">
                    <a:latin typeface="Arial" panose="020B0604020202020204" pitchFamily="34" charset="0"/>
                    <a:cs typeface="Arial" panose="020B0604020202020204" pitchFamily="34" charset="0"/>
                  </a:rPr>
                  <a:t>: turn-by-turn measurement of the beam center of mass. 16 horizontal and 16 vertical for each ring.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7030A0"/>
                    </a:solidFill>
                    <a:latin typeface="Arial" panose="020B0604020202020204" pitchFamily="34" charset="0"/>
                    <a:cs typeface="Arial" panose="020B0604020202020204" pitchFamily="34" charset="0"/>
                  </a:rPr>
                  <a:t>Beam Current Transformer (BCT)</a:t>
                </a:r>
                <a:r>
                  <a:rPr lang="en-CH" sz="1400" dirty="0">
                    <a:latin typeface="Arial" panose="020B0604020202020204" pitchFamily="34" charset="0"/>
                    <a:cs typeface="Arial" panose="020B0604020202020204" pitchFamily="34" charset="0"/>
                  </a:rPr>
                  <a:t>: measures average beam current every </a:t>
                </a:r>
                <a14:m>
                  <m:oMath xmlns:m="http://schemas.openxmlformats.org/officeDocument/2006/math">
                    <m:r>
                      <a:rPr lang="en-US" sz="1400" b="0" i="1" smtClean="0">
                        <a:latin typeface="Cambria Math" panose="02040503050406030204" pitchFamily="18" charset="0"/>
                      </a:rPr>
                      <m:t>1</m:t>
                    </m:r>
                  </m:oMath>
                </a14:m>
                <a:r>
                  <a:rPr lang="en-CH" sz="1400" dirty="0">
                    <a:latin typeface="Arial" panose="020B0604020202020204" pitchFamily="34" charset="0"/>
                    <a:cs typeface="Arial" panose="020B0604020202020204" pitchFamily="34" charset="0"/>
                  </a:rPr>
                  <a:t>ms.</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FF0000"/>
                    </a:solidFill>
                    <a:latin typeface="Arial" panose="020B0604020202020204" pitchFamily="34" charset="0"/>
                    <a:cs typeface="Arial" panose="020B0604020202020204" pitchFamily="34" charset="0"/>
                  </a:rPr>
                  <a:t>Wire Scanners (WS)</a:t>
                </a:r>
                <a:r>
                  <a:rPr lang="en-CH" sz="1400" dirty="0">
                    <a:latin typeface="Arial" panose="020B0604020202020204" pitchFamily="34" charset="0"/>
                    <a:cs typeface="Arial" panose="020B0604020202020204" pitchFamily="34" charset="0"/>
                  </a:rPr>
                  <a:t>: measurement of the horizontal and vertical beam profiles at most twice within the cycle. </a:t>
                </a:r>
              </a:p>
            </p:txBody>
          </p:sp>
        </mc:Choice>
        <mc:Fallback xmlns="">
          <p:sp>
            <p:nvSpPr>
              <p:cNvPr id="7" name="TextBox 6">
                <a:extLst>
                  <a:ext uri="{FF2B5EF4-FFF2-40B4-BE49-F238E27FC236}">
                    <a16:creationId xmlns:a16="http://schemas.microsoft.com/office/drawing/2014/main" id="{EF5A60A4-DA33-119F-8BB4-BDDC6F3F9F19}"/>
                  </a:ext>
                </a:extLst>
              </p:cNvPr>
              <p:cNvSpPr txBox="1">
                <a:spLocks noRot="1" noChangeAspect="1" noMove="1" noResize="1" noEditPoints="1" noAdjustHandles="1" noChangeArrowheads="1" noChangeShapeType="1" noTextEdit="1"/>
              </p:cNvSpPr>
              <p:nvPr/>
            </p:nvSpPr>
            <p:spPr>
              <a:xfrm>
                <a:off x="5886995" y="766354"/>
                <a:ext cx="6017622" cy="1815882"/>
              </a:xfrm>
              <a:prstGeom prst="rect">
                <a:avLst/>
              </a:prstGeom>
              <a:blipFill>
                <a:blip r:embed="rId2"/>
                <a:stretch>
                  <a:fillRect l="-211" t="-694" b="-2083"/>
                </a:stretch>
              </a:blipFill>
            </p:spPr>
            <p:txBody>
              <a:bodyPr/>
              <a:lstStyle/>
              <a:p>
                <a:r>
                  <a:rPr lang="en-CH">
                    <a:noFill/>
                  </a:rPr>
                  <a:t> </a:t>
                </a:r>
              </a:p>
            </p:txBody>
          </p:sp>
        </mc:Fallback>
      </mc:AlternateContent>
      <p:pic>
        <p:nvPicPr>
          <p:cNvPr id="11" name="Picture 10">
            <a:extLst>
              <a:ext uri="{FF2B5EF4-FFF2-40B4-BE49-F238E27FC236}">
                <a16:creationId xmlns:a16="http://schemas.microsoft.com/office/drawing/2014/main" id="{75CA1D29-BAE6-9B43-63BC-C9EF58673945}"/>
              </a:ext>
            </a:extLst>
          </p:cNvPr>
          <p:cNvPicPr>
            <a:picLocks noChangeAspect="1"/>
          </p:cNvPicPr>
          <p:nvPr/>
        </p:nvPicPr>
        <p:blipFill>
          <a:blip r:embed="rId3"/>
          <a:stretch>
            <a:fillRect/>
          </a:stretch>
        </p:blipFill>
        <p:spPr>
          <a:xfrm>
            <a:off x="104501" y="766354"/>
            <a:ext cx="5669279" cy="4565150"/>
          </a:xfrm>
          <a:prstGeom prst="rect">
            <a:avLst/>
          </a:prstGeom>
        </p:spPr>
      </p:pic>
      <p:sp>
        <p:nvSpPr>
          <p:cNvPr id="12" name="Oval 11">
            <a:extLst>
              <a:ext uri="{FF2B5EF4-FFF2-40B4-BE49-F238E27FC236}">
                <a16:creationId xmlns:a16="http://schemas.microsoft.com/office/drawing/2014/main" id="{83602D3B-BBE1-8A7E-65E4-4BAB9AF8EAD0}"/>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939939C3-61DD-10E5-802A-617D82EFE385}"/>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C0D19991-D4B5-CA6C-5DAA-C1DCDF97B474}"/>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4B1E127B-E3C6-CDBB-361E-38D4354C234F}"/>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39282263-A971-AD41-AF06-DA5CC1FE68D0}"/>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A2183C49-B8B5-DAC8-3403-475C1962E387}"/>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78FB188A-E764-7329-5B4F-63CDB49B734F}"/>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693FCA09-A2FC-CA38-1BDB-93C83B23A2C8}"/>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BF305B3D-0B3F-F7AD-5D54-8D137637D128}"/>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Oval 20">
            <a:extLst>
              <a:ext uri="{FF2B5EF4-FFF2-40B4-BE49-F238E27FC236}">
                <a16:creationId xmlns:a16="http://schemas.microsoft.com/office/drawing/2014/main" id="{3A900394-D3F5-2588-6BB1-64EBC6581BF9}"/>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Oval 21">
            <a:extLst>
              <a:ext uri="{FF2B5EF4-FFF2-40B4-BE49-F238E27FC236}">
                <a16:creationId xmlns:a16="http://schemas.microsoft.com/office/drawing/2014/main" id="{0BEC941D-1607-3A44-1EAB-88387EC13D0A}"/>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 name="Oval 22">
            <a:extLst>
              <a:ext uri="{FF2B5EF4-FFF2-40B4-BE49-F238E27FC236}">
                <a16:creationId xmlns:a16="http://schemas.microsoft.com/office/drawing/2014/main" id="{A196BB02-4EFA-1E08-AE32-906CDCD05A58}"/>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 name="Oval 23">
            <a:extLst>
              <a:ext uri="{FF2B5EF4-FFF2-40B4-BE49-F238E27FC236}">
                <a16:creationId xmlns:a16="http://schemas.microsoft.com/office/drawing/2014/main" id="{D2C3E355-023D-8589-53C6-A872353FD376}"/>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5" name="Oval 24">
            <a:extLst>
              <a:ext uri="{FF2B5EF4-FFF2-40B4-BE49-F238E27FC236}">
                <a16:creationId xmlns:a16="http://schemas.microsoft.com/office/drawing/2014/main" id="{E3D04AC3-96CA-18CA-FD57-23497D6121E7}"/>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6" name="Oval 25">
            <a:extLst>
              <a:ext uri="{FF2B5EF4-FFF2-40B4-BE49-F238E27FC236}">
                <a16:creationId xmlns:a16="http://schemas.microsoft.com/office/drawing/2014/main" id="{DA7F9A1E-274F-09D3-1E2E-AB08D2B0A72E}"/>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7" name="Oval 26">
            <a:extLst>
              <a:ext uri="{FF2B5EF4-FFF2-40B4-BE49-F238E27FC236}">
                <a16:creationId xmlns:a16="http://schemas.microsoft.com/office/drawing/2014/main" id="{ACF2DD41-33D2-B8D7-3456-93DF448C2E6B}"/>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9" name="Rectangle 28">
            <a:extLst>
              <a:ext uri="{FF2B5EF4-FFF2-40B4-BE49-F238E27FC236}">
                <a16:creationId xmlns:a16="http://schemas.microsoft.com/office/drawing/2014/main" id="{0586E18F-02D6-84B0-74C8-BB14788DCB9F}"/>
              </a:ext>
            </a:extLst>
          </p:cNvPr>
          <p:cNvSpPr/>
          <p:nvPr/>
        </p:nvSpPr>
        <p:spPr>
          <a:xfrm>
            <a:off x="2680058" y="893731"/>
            <a:ext cx="165468" cy="360796"/>
          </a:xfrm>
          <a:prstGeom prst="rect">
            <a:avLst/>
          </a:prstGeom>
          <a:solidFill>
            <a:srgbClr val="7030A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1" name="Extract 30">
            <a:extLst>
              <a:ext uri="{FF2B5EF4-FFF2-40B4-BE49-F238E27FC236}">
                <a16:creationId xmlns:a16="http://schemas.microsoft.com/office/drawing/2014/main" id="{3E539084-965D-F184-2094-B798FB02FA4A}"/>
              </a:ext>
            </a:extLst>
          </p:cNvPr>
          <p:cNvSpPr/>
          <p:nvPr/>
        </p:nvSpPr>
        <p:spPr>
          <a:xfrm rot="8151013">
            <a:off x="4125808" y="4097259"/>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2" name="Extract 31">
            <a:extLst>
              <a:ext uri="{FF2B5EF4-FFF2-40B4-BE49-F238E27FC236}">
                <a16:creationId xmlns:a16="http://schemas.microsoft.com/office/drawing/2014/main" id="{50B4BE5F-EA82-E944-0E00-0FA4C0ED72B8}"/>
              </a:ext>
            </a:extLst>
          </p:cNvPr>
          <p:cNvSpPr/>
          <p:nvPr/>
        </p:nvSpPr>
        <p:spPr>
          <a:xfrm rot="17677774">
            <a:off x="883953" y="2033994"/>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3" name="Extract 32">
            <a:extLst>
              <a:ext uri="{FF2B5EF4-FFF2-40B4-BE49-F238E27FC236}">
                <a16:creationId xmlns:a16="http://schemas.microsoft.com/office/drawing/2014/main" id="{AB7BC26D-D829-4C04-A6DB-09A5FE1A0A9D}"/>
              </a:ext>
            </a:extLst>
          </p:cNvPr>
          <p:cNvSpPr/>
          <p:nvPr/>
        </p:nvSpPr>
        <p:spPr>
          <a:xfrm rot="5400000">
            <a:off x="4639862" y="2725877"/>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3074" name="Picture 2" descr="Principle of the beam wire scanner. | Download Scientific Diagram">
            <a:extLst>
              <a:ext uri="{FF2B5EF4-FFF2-40B4-BE49-F238E27FC236}">
                <a16:creationId xmlns:a16="http://schemas.microsoft.com/office/drawing/2014/main" id="{33BCA722-BF9A-9666-346C-7CCD0819BF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7986" y="2696582"/>
            <a:ext cx="5669279" cy="37351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A18E0B5-80A6-5880-8DAC-0A809BE765F5}"/>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B59B63E-E4A4-EE00-60C0-089380367A54}"/>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140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923B-BFDF-4601-7904-AA138F938414}"/>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Devices</a:t>
            </a:r>
          </a:p>
        </p:txBody>
      </p:sp>
      <p:sp>
        <p:nvSpPr>
          <p:cNvPr id="5" name="Slide Number Placeholder 4">
            <a:extLst>
              <a:ext uri="{FF2B5EF4-FFF2-40B4-BE49-F238E27FC236}">
                <a16:creationId xmlns:a16="http://schemas.microsoft.com/office/drawing/2014/main" id="{F412FD7E-45FD-5CD4-C710-2D82B5451A7E}"/>
              </a:ext>
            </a:extLst>
          </p:cNvPr>
          <p:cNvSpPr>
            <a:spLocks noGrp="1"/>
          </p:cNvSpPr>
          <p:nvPr>
            <p:ph type="sldNum" sz="quarter" idx="12"/>
          </p:nvPr>
        </p:nvSpPr>
        <p:spPr/>
        <p:txBody>
          <a:bodyPr/>
          <a:lstStyle/>
          <a:p>
            <a:r>
              <a:rPr lang="en-US" dirty="0"/>
              <a:t>4</a:t>
            </a:r>
            <a:endParaRPr lang="el-GR"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F5A60A4-DA33-119F-8BB4-BDDC6F3F9F19}"/>
                  </a:ext>
                </a:extLst>
              </p:cNvPr>
              <p:cNvSpPr txBox="1"/>
              <p:nvPr/>
            </p:nvSpPr>
            <p:spPr>
              <a:xfrm>
                <a:off x="5886995" y="766354"/>
                <a:ext cx="6017622" cy="2893100"/>
              </a:xfrm>
              <a:prstGeom prst="rect">
                <a:avLst/>
              </a:prstGeom>
              <a:noFill/>
            </p:spPr>
            <p:txBody>
              <a:bodyPr wrap="square" rtlCol="0">
                <a:spAutoFit/>
              </a:bodyPr>
              <a:lstStyle/>
              <a:p>
                <a:pPr marL="285750" indent="-285750">
                  <a:buFont typeface="Arial" panose="020B0604020202020204" pitchFamily="34" charset="0"/>
                  <a:buChar char="•"/>
                </a:pPr>
                <a:r>
                  <a:rPr lang="en-CH" sz="1400" b="1" dirty="0">
                    <a:solidFill>
                      <a:srgbClr val="00B050"/>
                    </a:solidFill>
                    <a:latin typeface="Arial" panose="020B0604020202020204" pitchFamily="34" charset="0"/>
                    <a:cs typeface="Arial" panose="020B0604020202020204" pitchFamily="34" charset="0"/>
                  </a:rPr>
                  <a:t>Beam Position Monitors (BPMs)</a:t>
                </a:r>
                <a:r>
                  <a:rPr lang="en-CH" sz="1400" dirty="0">
                    <a:latin typeface="Arial" panose="020B0604020202020204" pitchFamily="34" charset="0"/>
                    <a:cs typeface="Arial" panose="020B0604020202020204" pitchFamily="34" charset="0"/>
                  </a:rPr>
                  <a:t>: turn-by-turn measurement of the beam center of mass. 16 horizontal and 16 vertical for each ring.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7030A0"/>
                    </a:solidFill>
                    <a:latin typeface="Arial" panose="020B0604020202020204" pitchFamily="34" charset="0"/>
                    <a:cs typeface="Arial" panose="020B0604020202020204" pitchFamily="34" charset="0"/>
                  </a:rPr>
                  <a:t>Beam Current Transformer (BCT)</a:t>
                </a:r>
                <a:r>
                  <a:rPr lang="en-CH" sz="1400" dirty="0">
                    <a:latin typeface="Arial" panose="020B0604020202020204" pitchFamily="34" charset="0"/>
                    <a:cs typeface="Arial" panose="020B0604020202020204" pitchFamily="34" charset="0"/>
                  </a:rPr>
                  <a:t>: measures average beam current every </a:t>
                </a:r>
                <a14:m>
                  <m:oMath xmlns:m="http://schemas.openxmlformats.org/officeDocument/2006/math">
                    <m:r>
                      <a:rPr lang="en-US" sz="1400" b="0" i="1" smtClean="0">
                        <a:latin typeface="Cambria Math" panose="02040503050406030204" pitchFamily="18" charset="0"/>
                      </a:rPr>
                      <m:t>1</m:t>
                    </m:r>
                  </m:oMath>
                </a14:m>
                <a:r>
                  <a:rPr lang="en-CH" sz="1400" dirty="0">
                    <a:latin typeface="Arial" panose="020B0604020202020204" pitchFamily="34" charset="0"/>
                    <a:cs typeface="Arial" panose="020B0604020202020204" pitchFamily="34" charset="0"/>
                  </a:rPr>
                  <a:t>ms.</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FF0000"/>
                    </a:solidFill>
                    <a:latin typeface="Arial" panose="020B0604020202020204" pitchFamily="34" charset="0"/>
                    <a:cs typeface="Arial" panose="020B0604020202020204" pitchFamily="34" charset="0"/>
                  </a:rPr>
                  <a:t>Wire Scanners (WS)</a:t>
                </a:r>
                <a:r>
                  <a:rPr lang="en-CH" sz="1400" dirty="0">
                    <a:latin typeface="Arial" panose="020B0604020202020204" pitchFamily="34" charset="0"/>
                    <a:cs typeface="Arial" panose="020B0604020202020204" pitchFamily="34" charset="0"/>
                  </a:rPr>
                  <a:t>: measurement of the horizontal and vertical beam profiles at most twice within the cycle.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chemeClr val="accent2">
                        <a:lumMod val="75000"/>
                      </a:schemeClr>
                    </a:solidFill>
                    <a:latin typeface="Arial" panose="020B0604020202020204" pitchFamily="34" charset="0"/>
                    <a:cs typeface="Arial" panose="020B0604020202020204" pitchFamily="34" charset="0"/>
                  </a:rPr>
                  <a:t>Base-Band-tune pickup system (BBQ)</a:t>
                </a:r>
                <a:r>
                  <a:rPr lang="en-CH" sz="1400" dirty="0">
                    <a:latin typeface="Arial" panose="020B0604020202020204" pitchFamily="34" charset="0"/>
                    <a:cs typeface="Arial" panose="020B0604020202020204" pitchFamily="34" charset="0"/>
                  </a:rPr>
                  <a:t>: tune measurement by exciting the beam with a transverse damper (by applying a frequency chirp) and recording the turn-by-turb data through a pickup. Tune is extracted by FFT algorithms. </a:t>
                </a:r>
              </a:p>
            </p:txBody>
          </p:sp>
        </mc:Choice>
        <mc:Fallback xmlns="">
          <p:sp>
            <p:nvSpPr>
              <p:cNvPr id="7" name="TextBox 6">
                <a:extLst>
                  <a:ext uri="{FF2B5EF4-FFF2-40B4-BE49-F238E27FC236}">
                    <a16:creationId xmlns:a16="http://schemas.microsoft.com/office/drawing/2014/main" id="{EF5A60A4-DA33-119F-8BB4-BDDC6F3F9F19}"/>
                  </a:ext>
                </a:extLst>
              </p:cNvPr>
              <p:cNvSpPr txBox="1">
                <a:spLocks noRot="1" noChangeAspect="1" noMove="1" noResize="1" noEditPoints="1" noAdjustHandles="1" noChangeArrowheads="1" noChangeShapeType="1" noTextEdit="1"/>
              </p:cNvSpPr>
              <p:nvPr/>
            </p:nvSpPr>
            <p:spPr>
              <a:xfrm>
                <a:off x="5886995" y="766354"/>
                <a:ext cx="6017622" cy="2893100"/>
              </a:xfrm>
              <a:prstGeom prst="rect">
                <a:avLst/>
              </a:prstGeom>
              <a:blipFill>
                <a:blip r:embed="rId2"/>
                <a:stretch>
                  <a:fillRect l="-211" t="-439" b="-1316"/>
                </a:stretch>
              </a:blipFill>
            </p:spPr>
            <p:txBody>
              <a:bodyPr/>
              <a:lstStyle/>
              <a:p>
                <a:r>
                  <a:rPr lang="en-CH">
                    <a:noFill/>
                  </a:rPr>
                  <a:t> </a:t>
                </a:r>
              </a:p>
            </p:txBody>
          </p:sp>
        </mc:Fallback>
      </mc:AlternateContent>
      <p:pic>
        <p:nvPicPr>
          <p:cNvPr id="11" name="Picture 10">
            <a:extLst>
              <a:ext uri="{FF2B5EF4-FFF2-40B4-BE49-F238E27FC236}">
                <a16:creationId xmlns:a16="http://schemas.microsoft.com/office/drawing/2014/main" id="{75CA1D29-BAE6-9B43-63BC-C9EF58673945}"/>
              </a:ext>
            </a:extLst>
          </p:cNvPr>
          <p:cNvPicPr>
            <a:picLocks noChangeAspect="1"/>
          </p:cNvPicPr>
          <p:nvPr/>
        </p:nvPicPr>
        <p:blipFill>
          <a:blip r:embed="rId3"/>
          <a:stretch>
            <a:fillRect/>
          </a:stretch>
        </p:blipFill>
        <p:spPr>
          <a:xfrm>
            <a:off x="104501" y="766354"/>
            <a:ext cx="5669279" cy="4565150"/>
          </a:xfrm>
          <a:prstGeom prst="rect">
            <a:avLst/>
          </a:prstGeom>
        </p:spPr>
      </p:pic>
      <p:sp>
        <p:nvSpPr>
          <p:cNvPr id="12" name="Oval 11">
            <a:extLst>
              <a:ext uri="{FF2B5EF4-FFF2-40B4-BE49-F238E27FC236}">
                <a16:creationId xmlns:a16="http://schemas.microsoft.com/office/drawing/2014/main" id="{83602D3B-BBE1-8A7E-65E4-4BAB9AF8EAD0}"/>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939939C3-61DD-10E5-802A-617D82EFE385}"/>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C0D19991-D4B5-CA6C-5DAA-C1DCDF97B474}"/>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4B1E127B-E3C6-CDBB-361E-38D4354C234F}"/>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39282263-A971-AD41-AF06-DA5CC1FE68D0}"/>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A2183C49-B8B5-DAC8-3403-475C1962E387}"/>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78FB188A-E764-7329-5B4F-63CDB49B734F}"/>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693FCA09-A2FC-CA38-1BDB-93C83B23A2C8}"/>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BF305B3D-0B3F-F7AD-5D54-8D137637D128}"/>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Oval 20">
            <a:extLst>
              <a:ext uri="{FF2B5EF4-FFF2-40B4-BE49-F238E27FC236}">
                <a16:creationId xmlns:a16="http://schemas.microsoft.com/office/drawing/2014/main" id="{3A900394-D3F5-2588-6BB1-64EBC6581BF9}"/>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Oval 21">
            <a:extLst>
              <a:ext uri="{FF2B5EF4-FFF2-40B4-BE49-F238E27FC236}">
                <a16:creationId xmlns:a16="http://schemas.microsoft.com/office/drawing/2014/main" id="{0BEC941D-1607-3A44-1EAB-88387EC13D0A}"/>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 name="Oval 22">
            <a:extLst>
              <a:ext uri="{FF2B5EF4-FFF2-40B4-BE49-F238E27FC236}">
                <a16:creationId xmlns:a16="http://schemas.microsoft.com/office/drawing/2014/main" id="{A196BB02-4EFA-1E08-AE32-906CDCD05A58}"/>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 name="Oval 23">
            <a:extLst>
              <a:ext uri="{FF2B5EF4-FFF2-40B4-BE49-F238E27FC236}">
                <a16:creationId xmlns:a16="http://schemas.microsoft.com/office/drawing/2014/main" id="{D2C3E355-023D-8589-53C6-A872353FD376}"/>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5" name="Oval 24">
            <a:extLst>
              <a:ext uri="{FF2B5EF4-FFF2-40B4-BE49-F238E27FC236}">
                <a16:creationId xmlns:a16="http://schemas.microsoft.com/office/drawing/2014/main" id="{E3D04AC3-96CA-18CA-FD57-23497D6121E7}"/>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6" name="Oval 25">
            <a:extLst>
              <a:ext uri="{FF2B5EF4-FFF2-40B4-BE49-F238E27FC236}">
                <a16:creationId xmlns:a16="http://schemas.microsoft.com/office/drawing/2014/main" id="{DA7F9A1E-274F-09D3-1E2E-AB08D2B0A72E}"/>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7" name="Oval 26">
            <a:extLst>
              <a:ext uri="{FF2B5EF4-FFF2-40B4-BE49-F238E27FC236}">
                <a16:creationId xmlns:a16="http://schemas.microsoft.com/office/drawing/2014/main" id="{ACF2DD41-33D2-B8D7-3456-93DF448C2E6B}"/>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9" name="Rectangle 28">
            <a:extLst>
              <a:ext uri="{FF2B5EF4-FFF2-40B4-BE49-F238E27FC236}">
                <a16:creationId xmlns:a16="http://schemas.microsoft.com/office/drawing/2014/main" id="{0586E18F-02D6-84B0-74C8-BB14788DCB9F}"/>
              </a:ext>
            </a:extLst>
          </p:cNvPr>
          <p:cNvSpPr/>
          <p:nvPr/>
        </p:nvSpPr>
        <p:spPr>
          <a:xfrm>
            <a:off x="2680058" y="893731"/>
            <a:ext cx="165468" cy="360796"/>
          </a:xfrm>
          <a:prstGeom prst="rect">
            <a:avLst/>
          </a:prstGeom>
          <a:solidFill>
            <a:srgbClr val="7030A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1" name="Extract 30">
            <a:extLst>
              <a:ext uri="{FF2B5EF4-FFF2-40B4-BE49-F238E27FC236}">
                <a16:creationId xmlns:a16="http://schemas.microsoft.com/office/drawing/2014/main" id="{3E539084-965D-F184-2094-B798FB02FA4A}"/>
              </a:ext>
            </a:extLst>
          </p:cNvPr>
          <p:cNvSpPr/>
          <p:nvPr/>
        </p:nvSpPr>
        <p:spPr>
          <a:xfrm rot="8151013">
            <a:off x="4125808" y="4097259"/>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2" name="Extract 31">
            <a:extLst>
              <a:ext uri="{FF2B5EF4-FFF2-40B4-BE49-F238E27FC236}">
                <a16:creationId xmlns:a16="http://schemas.microsoft.com/office/drawing/2014/main" id="{50B4BE5F-EA82-E944-0E00-0FA4C0ED72B8}"/>
              </a:ext>
            </a:extLst>
          </p:cNvPr>
          <p:cNvSpPr/>
          <p:nvPr/>
        </p:nvSpPr>
        <p:spPr>
          <a:xfrm rot="17677774">
            <a:off x="883953" y="2033994"/>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3" name="Extract 32">
            <a:extLst>
              <a:ext uri="{FF2B5EF4-FFF2-40B4-BE49-F238E27FC236}">
                <a16:creationId xmlns:a16="http://schemas.microsoft.com/office/drawing/2014/main" id="{AB7BC26D-D829-4C04-A6DB-09A5FE1A0A9D}"/>
              </a:ext>
            </a:extLst>
          </p:cNvPr>
          <p:cNvSpPr/>
          <p:nvPr/>
        </p:nvSpPr>
        <p:spPr>
          <a:xfrm rot="5400000">
            <a:off x="4639862" y="2725877"/>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5" name="4-point Star 34">
            <a:extLst>
              <a:ext uri="{FF2B5EF4-FFF2-40B4-BE49-F238E27FC236}">
                <a16:creationId xmlns:a16="http://schemas.microsoft.com/office/drawing/2014/main" id="{8ACA281E-E34D-7066-E643-F77189836119}"/>
              </a:ext>
            </a:extLst>
          </p:cNvPr>
          <p:cNvSpPr/>
          <p:nvPr/>
        </p:nvSpPr>
        <p:spPr>
          <a:xfrm rot="17387481">
            <a:off x="4471850" y="3435571"/>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sp>
        <p:nvSpPr>
          <p:cNvPr id="36" name="4-point Star 35">
            <a:extLst>
              <a:ext uri="{FF2B5EF4-FFF2-40B4-BE49-F238E27FC236}">
                <a16:creationId xmlns:a16="http://schemas.microsoft.com/office/drawing/2014/main" id="{98470E7B-9E7F-6DF7-B38B-3F4423AFA234}"/>
              </a:ext>
            </a:extLst>
          </p:cNvPr>
          <p:cNvSpPr/>
          <p:nvPr/>
        </p:nvSpPr>
        <p:spPr>
          <a:xfrm rot="15975689">
            <a:off x="743916" y="2811255"/>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pic>
        <p:nvPicPr>
          <p:cNvPr id="4" name="Picture 3">
            <a:extLst>
              <a:ext uri="{FF2B5EF4-FFF2-40B4-BE49-F238E27FC236}">
                <a16:creationId xmlns:a16="http://schemas.microsoft.com/office/drawing/2014/main" id="{6E454433-550E-76E5-E53C-E62C1E08900A}"/>
              </a:ext>
            </a:extLst>
          </p:cNvPr>
          <p:cNvPicPr>
            <a:picLocks noChangeAspect="1"/>
          </p:cNvPicPr>
          <p:nvPr/>
        </p:nvPicPr>
        <p:blipFill>
          <a:blip r:embed="rId4"/>
          <a:stretch>
            <a:fillRect/>
          </a:stretch>
        </p:blipFill>
        <p:spPr>
          <a:xfrm>
            <a:off x="5496119" y="3827418"/>
            <a:ext cx="6087583" cy="2211976"/>
          </a:xfrm>
          <a:prstGeom prst="rect">
            <a:avLst/>
          </a:prstGeom>
        </p:spPr>
      </p:pic>
      <p:sp>
        <p:nvSpPr>
          <p:cNvPr id="3" name="TextBox 2">
            <a:extLst>
              <a:ext uri="{FF2B5EF4-FFF2-40B4-BE49-F238E27FC236}">
                <a16:creationId xmlns:a16="http://schemas.microsoft.com/office/drawing/2014/main" id="{262B34EB-0317-90C5-7734-B0DAD9B5ED80}"/>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747C219-A9C6-B083-A503-3DAE6257DF46}"/>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764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923B-BFDF-4601-7904-AA138F938414}"/>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Devices</a:t>
            </a:r>
          </a:p>
        </p:txBody>
      </p:sp>
      <p:sp>
        <p:nvSpPr>
          <p:cNvPr id="5" name="Slide Number Placeholder 4">
            <a:extLst>
              <a:ext uri="{FF2B5EF4-FFF2-40B4-BE49-F238E27FC236}">
                <a16:creationId xmlns:a16="http://schemas.microsoft.com/office/drawing/2014/main" id="{F412FD7E-45FD-5CD4-C710-2D82B5451A7E}"/>
              </a:ext>
            </a:extLst>
          </p:cNvPr>
          <p:cNvSpPr>
            <a:spLocks noGrp="1"/>
          </p:cNvSpPr>
          <p:nvPr>
            <p:ph type="sldNum" sz="quarter" idx="12"/>
          </p:nvPr>
        </p:nvSpPr>
        <p:spPr/>
        <p:txBody>
          <a:bodyPr/>
          <a:lstStyle/>
          <a:p>
            <a:r>
              <a:rPr lang="en-US" dirty="0"/>
              <a:t>4</a:t>
            </a:r>
            <a:endParaRPr lang="el-GR"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F5A60A4-DA33-119F-8BB4-BDDC6F3F9F19}"/>
                  </a:ext>
                </a:extLst>
              </p:cNvPr>
              <p:cNvSpPr txBox="1"/>
              <p:nvPr/>
            </p:nvSpPr>
            <p:spPr>
              <a:xfrm>
                <a:off x="5886995" y="766354"/>
                <a:ext cx="6017622" cy="4185761"/>
              </a:xfrm>
              <a:prstGeom prst="rect">
                <a:avLst/>
              </a:prstGeom>
              <a:noFill/>
            </p:spPr>
            <p:txBody>
              <a:bodyPr wrap="square" rtlCol="0">
                <a:spAutoFit/>
              </a:bodyPr>
              <a:lstStyle/>
              <a:p>
                <a:pPr marL="285750" indent="-285750">
                  <a:buFont typeface="Arial" panose="020B0604020202020204" pitchFamily="34" charset="0"/>
                  <a:buChar char="•"/>
                </a:pPr>
                <a:r>
                  <a:rPr lang="en-CH" sz="1400" b="1" dirty="0">
                    <a:solidFill>
                      <a:srgbClr val="00B050"/>
                    </a:solidFill>
                    <a:latin typeface="Arial" panose="020B0604020202020204" pitchFamily="34" charset="0"/>
                    <a:cs typeface="Arial" panose="020B0604020202020204" pitchFamily="34" charset="0"/>
                  </a:rPr>
                  <a:t>Beam Position Monitors (BPMs)</a:t>
                </a:r>
                <a:r>
                  <a:rPr lang="en-CH" sz="1400" dirty="0">
                    <a:latin typeface="Arial" panose="020B0604020202020204" pitchFamily="34" charset="0"/>
                    <a:cs typeface="Arial" panose="020B0604020202020204" pitchFamily="34" charset="0"/>
                  </a:rPr>
                  <a:t>: turn-by-turn measurement of the beam center of mass. 16 horizontal and 16 vertical for each ring.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7030A0"/>
                    </a:solidFill>
                    <a:latin typeface="Arial" panose="020B0604020202020204" pitchFamily="34" charset="0"/>
                    <a:cs typeface="Arial" panose="020B0604020202020204" pitchFamily="34" charset="0"/>
                  </a:rPr>
                  <a:t>Beam Current Transformer (BCT)</a:t>
                </a:r>
                <a:r>
                  <a:rPr lang="en-CH" sz="1400" dirty="0">
                    <a:latin typeface="Arial" panose="020B0604020202020204" pitchFamily="34" charset="0"/>
                    <a:cs typeface="Arial" panose="020B0604020202020204" pitchFamily="34" charset="0"/>
                  </a:rPr>
                  <a:t>: measures average beam current every </a:t>
                </a:r>
                <a14:m>
                  <m:oMath xmlns:m="http://schemas.openxmlformats.org/officeDocument/2006/math">
                    <m:r>
                      <a:rPr lang="en-US" sz="1400" b="0" i="1" smtClean="0">
                        <a:latin typeface="Cambria Math" panose="02040503050406030204" pitchFamily="18" charset="0"/>
                      </a:rPr>
                      <m:t>1</m:t>
                    </m:r>
                  </m:oMath>
                </a14:m>
                <a:r>
                  <a:rPr lang="en-CH" sz="1400" dirty="0">
                    <a:latin typeface="Arial" panose="020B0604020202020204" pitchFamily="34" charset="0"/>
                    <a:cs typeface="Arial" panose="020B0604020202020204" pitchFamily="34" charset="0"/>
                  </a:rPr>
                  <a:t>ms.</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FF0000"/>
                    </a:solidFill>
                    <a:latin typeface="Arial" panose="020B0604020202020204" pitchFamily="34" charset="0"/>
                    <a:cs typeface="Arial" panose="020B0604020202020204" pitchFamily="34" charset="0"/>
                  </a:rPr>
                  <a:t>Wire Scanners (WS)</a:t>
                </a:r>
                <a:r>
                  <a:rPr lang="en-CH" sz="1400" dirty="0">
                    <a:latin typeface="Arial" panose="020B0604020202020204" pitchFamily="34" charset="0"/>
                    <a:cs typeface="Arial" panose="020B0604020202020204" pitchFamily="34" charset="0"/>
                  </a:rPr>
                  <a:t>: measurement of the horizontal and vertical beam profiles at most twice within the cycle.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chemeClr val="accent2">
                        <a:lumMod val="75000"/>
                      </a:schemeClr>
                    </a:solidFill>
                    <a:latin typeface="Arial" panose="020B0604020202020204" pitchFamily="34" charset="0"/>
                    <a:cs typeface="Arial" panose="020B0604020202020204" pitchFamily="34" charset="0"/>
                  </a:rPr>
                  <a:t>Base-Band-tune pickup system (BBQ)</a:t>
                </a:r>
                <a:r>
                  <a:rPr lang="en-CH" sz="1400" dirty="0">
                    <a:latin typeface="Arial" panose="020B0604020202020204" pitchFamily="34" charset="0"/>
                    <a:cs typeface="Arial" panose="020B0604020202020204" pitchFamily="34" charset="0"/>
                  </a:rPr>
                  <a:t>: tune measurement by exciting the beam with a transverse damper (by applying a frequency chirp) and recording the turn-by-turb data through a pickup. Tune is extracted by FFT algorithms.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00B0F0"/>
                    </a:solidFill>
                    <a:latin typeface="Arial" panose="020B0604020202020204" pitchFamily="34" charset="0"/>
                    <a:cs typeface="Arial" panose="020B0604020202020204" pitchFamily="34" charset="0"/>
                  </a:rPr>
                  <a:t>Tomoscope</a:t>
                </a:r>
                <a:r>
                  <a:rPr lang="en-CH" sz="1400" dirty="0">
                    <a:latin typeface="Arial" panose="020B0604020202020204" pitchFamily="34" charset="0"/>
                    <a:cs typeface="Arial" panose="020B0604020202020204" pitchFamily="34" charset="0"/>
                  </a:rPr>
                  <a:t>: longitudinal phase space reconstruction. The longitudinal profile measurements over many turns correspond to different projections of the phase space at different angles (due to the synchrotron motion). By properly combining these profiles, the 2-D longitudinal phase space is reconstructed (like tomography).</a:t>
                </a:r>
              </a:p>
            </p:txBody>
          </p:sp>
        </mc:Choice>
        <mc:Fallback xmlns="">
          <p:sp>
            <p:nvSpPr>
              <p:cNvPr id="7" name="TextBox 6">
                <a:extLst>
                  <a:ext uri="{FF2B5EF4-FFF2-40B4-BE49-F238E27FC236}">
                    <a16:creationId xmlns:a16="http://schemas.microsoft.com/office/drawing/2014/main" id="{EF5A60A4-DA33-119F-8BB4-BDDC6F3F9F19}"/>
                  </a:ext>
                </a:extLst>
              </p:cNvPr>
              <p:cNvSpPr txBox="1">
                <a:spLocks noRot="1" noChangeAspect="1" noMove="1" noResize="1" noEditPoints="1" noAdjustHandles="1" noChangeArrowheads="1" noChangeShapeType="1" noTextEdit="1"/>
              </p:cNvSpPr>
              <p:nvPr/>
            </p:nvSpPr>
            <p:spPr>
              <a:xfrm>
                <a:off x="5886995" y="766354"/>
                <a:ext cx="6017622" cy="4185761"/>
              </a:xfrm>
              <a:prstGeom prst="rect">
                <a:avLst/>
              </a:prstGeom>
              <a:blipFill>
                <a:blip r:embed="rId2"/>
                <a:stretch>
                  <a:fillRect l="-211" t="-303" r="-842" b="-606"/>
                </a:stretch>
              </a:blipFill>
            </p:spPr>
            <p:txBody>
              <a:bodyPr/>
              <a:lstStyle/>
              <a:p>
                <a:r>
                  <a:rPr lang="en-CH">
                    <a:noFill/>
                  </a:rPr>
                  <a:t> </a:t>
                </a:r>
              </a:p>
            </p:txBody>
          </p:sp>
        </mc:Fallback>
      </mc:AlternateContent>
      <p:pic>
        <p:nvPicPr>
          <p:cNvPr id="11" name="Picture 10">
            <a:extLst>
              <a:ext uri="{FF2B5EF4-FFF2-40B4-BE49-F238E27FC236}">
                <a16:creationId xmlns:a16="http://schemas.microsoft.com/office/drawing/2014/main" id="{75CA1D29-BAE6-9B43-63BC-C9EF58673945}"/>
              </a:ext>
            </a:extLst>
          </p:cNvPr>
          <p:cNvPicPr>
            <a:picLocks noChangeAspect="1"/>
          </p:cNvPicPr>
          <p:nvPr/>
        </p:nvPicPr>
        <p:blipFill>
          <a:blip r:embed="rId3"/>
          <a:stretch>
            <a:fillRect/>
          </a:stretch>
        </p:blipFill>
        <p:spPr>
          <a:xfrm>
            <a:off x="104501" y="766354"/>
            <a:ext cx="5669279" cy="4565150"/>
          </a:xfrm>
          <a:prstGeom prst="rect">
            <a:avLst/>
          </a:prstGeom>
        </p:spPr>
      </p:pic>
      <p:sp>
        <p:nvSpPr>
          <p:cNvPr id="12" name="Oval 11">
            <a:extLst>
              <a:ext uri="{FF2B5EF4-FFF2-40B4-BE49-F238E27FC236}">
                <a16:creationId xmlns:a16="http://schemas.microsoft.com/office/drawing/2014/main" id="{83602D3B-BBE1-8A7E-65E4-4BAB9AF8EAD0}"/>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939939C3-61DD-10E5-802A-617D82EFE385}"/>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C0D19991-D4B5-CA6C-5DAA-C1DCDF97B474}"/>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4B1E127B-E3C6-CDBB-361E-38D4354C234F}"/>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39282263-A971-AD41-AF06-DA5CC1FE68D0}"/>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A2183C49-B8B5-DAC8-3403-475C1962E387}"/>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78FB188A-E764-7329-5B4F-63CDB49B734F}"/>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693FCA09-A2FC-CA38-1BDB-93C83B23A2C8}"/>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BF305B3D-0B3F-F7AD-5D54-8D137637D128}"/>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Oval 20">
            <a:extLst>
              <a:ext uri="{FF2B5EF4-FFF2-40B4-BE49-F238E27FC236}">
                <a16:creationId xmlns:a16="http://schemas.microsoft.com/office/drawing/2014/main" id="{3A900394-D3F5-2588-6BB1-64EBC6581BF9}"/>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Oval 21">
            <a:extLst>
              <a:ext uri="{FF2B5EF4-FFF2-40B4-BE49-F238E27FC236}">
                <a16:creationId xmlns:a16="http://schemas.microsoft.com/office/drawing/2014/main" id="{0BEC941D-1607-3A44-1EAB-88387EC13D0A}"/>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 name="Oval 22">
            <a:extLst>
              <a:ext uri="{FF2B5EF4-FFF2-40B4-BE49-F238E27FC236}">
                <a16:creationId xmlns:a16="http://schemas.microsoft.com/office/drawing/2014/main" id="{A196BB02-4EFA-1E08-AE32-906CDCD05A58}"/>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 name="Oval 23">
            <a:extLst>
              <a:ext uri="{FF2B5EF4-FFF2-40B4-BE49-F238E27FC236}">
                <a16:creationId xmlns:a16="http://schemas.microsoft.com/office/drawing/2014/main" id="{D2C3E355-023D-8589-53C6-A872353FD376}"/>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5" name="Oval 24">
            <a:extLst>
              <a:ext uri="{FF2B5EF4-FFF2-40B4-BE49-F238E27FC236}">
                <a16:creationId xmlns:a16="http://schemas.microsoft.com/office/drawing/2014/main" id="{E3D04AC3-96CA-18CA-FD57-23497D6121E7}"/>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6" name="Oval 25">
            <a:extLst>
              <a:ext uri="{FF2B5EF4-FFF2-40B4-BE49-F238E27FC236}">
                <a16:creationId xmlns:a16="http://schemas.microsoft.com/office/drawing/2014/main" id="{DA7F9A1E-274F-09D3-1E2E-AB08D2B0A72E}"/>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7" name="Oval 26">
            <a:extLst>
              <a:ext uri="{FF2B5EF4-FFF2-40B4-BE49-F238E27FC236}">
                <a16:creationId xmlns:a16="http://schemas.microsoft.com/office/drawing/2014/main" id="{ACF2DD41-33D2-B8D7-3456-93DF448C2E6B}"/>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9" name="Rectangle 28">
            <a:extLst>
              <a:ext uri="{FF2B5EF4-FFF2-40B4-BE49-F238E27FC236}">
                <a16:creationId xmlns:a16="http://schemas.microsoft.com/office/drawing/2014/main" id="{0586E18F-02D6-84B0-74C8-BB14788DCB9F}"/>
              </a:ext>
            </a:extLst>
          </p:cNvPr>
          <p:cNvSpPr/>
          <p:nvPr/>
        </p:nvSpPr>
        <p:spPr>
          <a:xfrm>
            <a:off x="2680058" y="893731"/>
            <a:ext cx="165468" cy="360796"/>
          </a:xfrm>
          <a:prstGeom prst="rect">
            <a:avLst/>
          </a:prstGeom>
          <a:solidFill>
            <a:srgbClr val="7030A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1" name="Extract 30">
            <a:extLst>
              <a:ext uri="{FF2B5EF4-FFF2-40B4-BE49-F238E27FC236}">
                <a16:creationId xmlns:a16="http://schemas.microsoft.com/office/drawing/2014/main" id="{3E539084-965D-F184-2094-B798FB02FA4A}"/>
              </a:ext>
            </a:extLst>
          </p:cNvPr>
          <p:cNvSpPr/>
          <p:nvPr/>
        </p:nvSpPr>
        <p:spPr>
          <a:xfrm rot="8151013">
            <a:off x="4125808" y="4097259"/>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2" name="Extract 31">
            <a:extLst>
              <a:ext uri="{FF2B5EF4-FFF2-40B4-BE49-F238E27FC236}">
                <a16:creationId xmlns:a16="http://schemas.microsoft.com/office/drawing/2014/main" id="{50B4BE5F-EA82-E944-0E00-0FA4C0ED72B8}"/>
              </a:ext>
            </a:extLst>
          </p:cNvPr>
          <p:cNvSpPr/>
          <p:nvPr/>
        </p:nvSpPr>
        <p:spPr>
          <a:xfrm rot="17677774">
            <a:off x="883953" y="2033994"/>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3" name="Extract 32">
            <a:extLst>
              <a:ext uri="{FF2B5EF4-FFF2-40B4-BE49-F238E27FC236}">
                <a16:creationId xmlns:a16="http://schemas.microsoft.com/office/drawing/2014/main" id="{AB7BC26D-D829-4C04-A6DB-09A5FE1A0A9D}"/>
              </a:ext>
            </a:extLst>
          </p:cNvPr>
          <p:cNvSpPr/>
          <p:nvPr/>
        </p:nvSpPr>
        <p:spPr>
          <a:xfrm rot="5400000">
            <a:off x="4639862" y="2725877"/>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5" name="4-point Star 34">
            <a:extLst>
              <a:ext uri="{FF2B5EF4-FFF2-40B4-BE49-F238E27FC236}">
                <a16:creationId xmlns:a16="http://schemas.microsoft.com/office/drawing/2014/main" id="{8ACA281E-E34D-7066-E643-F77189836119}"/>
              </a:ext>
            </a:extLst>
          </p:cNvPr>
          <p:cNvSpPr/>
          <p:nvPr/>
        </p:nvSpPr>
        <p:spPr>
          <a:xfrm rot="17387481">
            <a:off x="4471850" y="3435571"/>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sp>
        <p:nvSpPr>
          <p:cNvPr id="36" name="4-point Star 35">
            <a:extLst>
              <a:ext uri="{FF2B5EF4-FFF2-40B4-BE49-F238E27FC236}">
                <a16:creationId xmlns:a16="http://schemas.microsoft.com/office/drawing/2014/main" id="{98470E7B-9E7F-6DF7-B38B-3F4423AFA234}"/>
              </a:ext>
            </a:extLst>
          </p:cNvPr>
          <p:cNvSpPr/>
          <p:nvPr/>
        </p:nvSpPr>
        <p:spPr>
          <a:xfrm rot="15975689">
            <a:off x="743916" y="2811255"/>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sp>
        <p:nvSpPr>
          <p:cNvPr id="3" name="Process 2">
            <a:extLst>
              <a:ext uri="{FF2B5EF4-FFF2-40B4-BE49-F238E27FC236}">
                <a16:creationId xmlns:a16="http://schemas.microsoft.com/office/drawing/2014/main" id="{B29C4951-53DC-2167-CE6E-48421F532707}"/>
              </a:ext>
            </a:extLst>
          </p:cNvPr>
          <p:cNvSpPr/>
          <p:nvPr/>
        </p:nvSpPr>
        <p:spPr>
          <a:xfrm>
            <a:off x="2592971" y="791567"/>
            <a:ext cx="60960" cy="496388"/>
          </a:xfrm>
          <a:prstGeom prst="flowChartProcess">
            <a:avLst/>
          </a:prstGeom>
          <a:solidFill>
            <a:srgbClr val="00B0F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4" name="Picture 3">
            <a:extLst>
              <a:ext uri="{FF2B5EF4-FFF2-40B4-BE49-F238E27FC236}">
                <a16:creationId xmlns:a16="http://schemas.microsoft.com/office/drawing/2014/main" id="{D770AAF7-54ED-D270-12D9-AFA3A970A7AE}"/>
              </a:ext>
            </a:extLst>
          </p:cNvPr>
          <p:cNvPicPr>
            <a:picLocks noChangeAspect="1"/>
          </p:cNvPicPr>
          <p:nvPr/>
        </p:nvPicPr>
        <p:blipFill>
          <a:blip r:embed="rId4"/>
          <a:stretch>
            <a:fillRect/>
          </a:stretch>
        </p:blipFill>
        <p:spPr>
          <a:xfrm>
            <a:off x="87128" y="3858669"/>
            <a:ext cx="2869385" cy="2533824"/>
          </a:xfrm>
          <a:prstGeom prst="rect">
            <a:avLst/>
          </a:prstGeom>
          <a:ln w="38100">
            <a:solidFill>
              <a:schemeClr val="bg2"/>
            </a:solidFill>
          </a:ln>
        </p:spPr>
      </p:pic>
      <p:pic>
        <p:nvPicPr>
          <p:cNvPr id="6" name="Picture 5">
            <a:extLst>
              <a:ext uri="{FF2B5EF4-FFF2-40B4-BE49-F238E27FC236}">
                <a16:creationId xmlns:a16="http://schemas.microsoft.com/office/drawing/2014/main" id="{8E501EF7-FADE-C6CA-E9F9-699AFD6592AB}"/>
              </a:ext>
            </a:extLst>
          </p:cNvPr>
          <p:cNvPicPr>
            <a:picLocks noChangeAspect="1"/>
          </p:cNvPicPr>
          <p:nvPr/>
        </p:nvPicPr>
        <p:blipFill>
          <a:blip r:embed="rId5"/>
          <a:stretch>
            <a:fillRect/>
          </a:stretch>
        </p:blipFill>
        <p:spPr>
          <a:xfrm>
            <a:off x="3252833" y="3849403"/>
            <a:ext cx="2538320" cy="2538320"/>
          </a:xfrm>
          <a:prstGeom prst="rect">
            <a:avLst/>
          </a:prstGeom>
          <a:ln w="38100">
            <a:solidFill>
              <a:schemeClr val="bg2"/>
            </a:solidFill>
          </a:ln>
        </p:spPr>
      </p:pic>
      <p:sp>
        <p:nvSpPr>
          <p:cNvPr id="8" name="Right Arrow 7">
            <a:extLst>
              <a:ext uri="{FF2B5EF4-FFF2-40B4-BE49-F238E27FC236}">
                <a16:creationId xmlns:a16="http://schemas.microsoft.com/office/drawing/2014/main" id="{1BE7D6C1-8F52-1BB1-546B-A3EEFBC22CE0}"/>
              </a:ext>
            </a:extLst>
          </p:cNvPr>
          <p:cNvSpPr/>
          <p:nvPr/>
        </p:nvSpPr>
        <p:spPr>
          <a:xfrm>
            <a:off x="2747529" y="3963329"/>
            <a:ext cx="770734" cy="421233"/>
          </a:xfrm>
          <a:prstGeom prst="rightArrow">
            <a:avLst/>
          </a:prstGeom>
          <a:solidFill>
            <a:schemeClr val="tx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TextBox 8">
            <a:extLst>
              <a:ext uri="{FF2B5EF4-FFF2-40B4-BE49-F238E27FC236}">
                <a16:creationId xmlns:a16="http://schemas.microsoft.com/office/drawing/2014/main" id="{086541EA-7C5A-5BD7-1603-C79BE0AA9861}"/>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47CCC3FB-C291-1D4C-BD6F-71D315DE8CC4}"/>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756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923B-BFDF-4601-7904-AA138F938414}"/>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Devices</a:t>
            </a:r>
          </a:p>
        </p:txBody>
      </p:sp>
      <p:sp>
        <p:nvSpPr>
          <p:cNvPr id="5" name="Slide Number Placeholder 4">
            <a:extLst>
              <a:ext uri="{FF2B5EF4-FFF2-40B4-BE49-F238E27FC236}">
                <a16:creationId xmlns:a16="http://schemas.microsoft.com/office/drawing/2014/main" id="{F412FD7E-45FD-5CD4-C710-2D82B5451A7E}"/>
              </a:ext>
            </a:extLst>
          </p:cNvPr>
          <p:cNvSpPr>
            <a:spLocks noGrp="1"/>
          </p:cNvSpPr>
          <p:nvPr>
            <p:ph type="sldNum" sz="quarter" idx="12"/>
          </p:nvPr>
        </p:nvSpPr>
        <p:spPr/>
        <p:txBody>
          <a:bodyPr/>
          <a:lstStyle/>
          <a:p>
            <a:r>
              <a:rPr lang="en-US" dirty="0"/>
              <a:t>4</a:t>
            </a:r>
            <a:endParaRPr lang="el-GR"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F5A60A4-DA33-119F-8BB4-BDDC6F3F9F19}"/>
                  </a:ext>
                </a:extLst>
              </p:cNvPr>
              <p:cNvSpPr txBox="1"/>
              <p:nvPr/>
            </p:nvSpPr>
            <p:spPr>
              <a:xfrm>
                <a:off x="5886995" y="766354"/>
                <a:ext cx="6017622" cy="5478423"/>
              </a:xfrm>
              <a:prstGeom prst="rect">
                <a:avLst/>
              </a:prstGeom>
              <a:noFill/>
            </p:spPr>
            <p:txBody>
              <a:bodyPr wrap="square" rtlCol="0">
                <a:spAutoFit/>
              </a:bodyPr>
              <a:lstStyle/>
              <a:p>
                <a:pPr marL="285750" indent="-285750">
                  <a:buFont typeface="Arial" panose="020B0604020202020204" pitchFamily="34" charset="0"/>
                  <a:buChar char="•"/>
                </a:pPr>
                <a:r>
                  <a:rPr lang="en-CH" sz="1400" b="1" dirty="0">
                    <a:solidFill>
                      <a:srgbClr val="00B050"/>
                    </a:solidFill>
                    <a:latin typeface="Arial" panose="020B0604020202020204" pitchFamily="34" charset="0"/>
                    <a:cs typeface="Arial" panose="020B0604020202020204" pitchFamily="34" charset="0"/>
                  </a:rPr>
                  <a:t>Beam Position Monitors (BPMs)</a:t>
                </a:r>
                <a:r>
                  <a:rPr lang="en-CH" sz="1400" dirty="0">
                    <a:latin typeface="Arial" panose="020B0604020202020204" pitchFamily="34" charset="0"/>
                    <a:cs typeface="Arial" panose="020B0604020202020204" pitchFamily="34" charset="0"/>
                  </a:rPr>
                  <a:t>: turn-by-turn measurement of the beam center of mass. 16 horizontal and 16 vertical for each ring.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7030A0"/>
                    </a:solidFill>
                    <a:latin typeface="Arial" panose="020B0604020202020204" pitchFamily="34" charset="0"/>
                    <a:cs typeface="Arial" panose="020B0604020202020204" pitchFamily="34" charset="0"/>
                  </a:rPr>
                  <a:t>Beam Current Transformer (BCT)</a:t>
                </a:r>
                <a:r>
                  <a:rPr lang="en-CH" sz="1400" dirty="0">
                    <a:latin typeface="Arial" panose="020B0604020202020204" pitchFamily="34" charset="0"/>
                    <a:cs typeface="Arial" panose="020B0604020202020204" pitchFamily="34" charset="0"/>
                  </a:rPr>
                  <a:t>: measures average beam current every </a:t>
                </a:r>
                <a14:m>
                  <m:oMath xmlns:m="http://schemas.openxmlformats.org/officeDocument/2006/math">
                    <m:r>
                      <a:rPr lang="en-US" sz="1400" b="0" i="1" smtClean="0">
                        <a:latin typeface="Cambria Math" panose="02040503050406030204" pitchFamily="18" charset="0"/>
                      </a:rPr>
                      <m:t>1</m:t>
                    </m:r>
                  </m:oMath>
                </a14:m>
                <a:r>
                  <a:rPr lang="en-CH" sz="1400" dirty="0">
                    <a:latin typeface="Arial" panose="020B0604020202020204" pitchFamily="34" charset="0"/>
                    <a:cs typeface="Arial" panose="020B0604020202020204" pitchFamily="34" charset="0"/>
                  </a:rPr>
                  <a:t>ms.</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FF0000"/>
                    </a:solidFill>
                    <a:latin typeface="Arial" panose="020B0604020202020204" pitchFamily="34" charset="0"/>
                    <a:cs typeface="Arial" panose="020B0604020202020204" pitchFamily="34" charset="0"/>
                  </a:rPr>
                  <a:t>Wire Scanners (WS)</a:t>
                </a:r>
                <a:r>
                  <a:rPr lang="en-CH" sz="1400" dirty="0">
                    <a:latin typeface="Arial" panose="020B0604020202020204" pitchFamily="34" charset="0"/>
                    <a:cs typeface="Arial" panose="020B0604020202020204" pitchFamily="34" charset="0"/>
                  </a:rPr>
                  <a:t>: measurement of the horizontal and vertical beam profiles at most twice within the cycle.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chemeClr val="accent2">
                        <a:lumMod val="75000"/>
                      </a:schemeClr>
                    </a:solidFill>
                    <a:latin typeface="Arial" panose="020B0604020202020204" pitchFamily="34" charset="0"/>
                    <a:cs typeface="Arial" panose="020B0604020202020204" pitchFamily="34" charset="0"/>
                  </a:rPr>
                  <a:t>Base-Band-tune pickup system (BBQ)</a:t>
                </a:r>
                <a:r>
                  <a:rPr lang="en-CH" sz="1400" dirty="0">
                    <a:latin typeface="Arial" panose="020B0604020202020204" pitchFamily="34" charset="0"/>
                    <a:cs typeface="Arial" panose="020B0604020202020204" pitchFamily="34" charset="0"/>
                  </a:rPr>
                  <a:t>: tune measurement by exciting the beam with a transverse damper (by applying a frequency chirp) and recording the turn-by-turb data through a pickup. Tune is extracted by FFT algorithms. </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00B0F0"/>
                    </a:solidFill>
                    <a:latin typeface="Arial" panose="020B0604020202020204" pitchFamily="34" charset="0"/>
                    <a:cs typeface="Arial" panose="020B0604020202020204" pitchFamily="34" charset="0"/>
                  </a:rPr>
                  <a:t>Tomoscope</a:t>
                </a:r>
                <a:r>
                  <a:rPr lang="en-CH" sz="1400" dirty="0">
                    <a:latin typeface="Arial" panose="020B0604020202020204" pitchFamily="34" charset="0"/>
                    <a:cs typeface="Arial" panose="020B0604020202020204" pitchFamily="34" charset="0"/>
                  </a:rPr>
                  <a:t>: longitudinal phase space reconstruction. The longitudinal profile measurements over many turns correspond to different projections of the phase space at different angles (due to the synchrotron motion). By properly combining these profiles, the 2-D longitudinal phase space is reconstructed (like tomography).</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b="1" dirty="0">
                    <a:solidFill>
                      <a:srgbClr val="002060"/>
                    </a:solidFill>
                    <a:latin typeface="Arial" panose="020B0604020202020204" pitchFamily="34" charset="0"/>
                    <a:cs typeface="Arial" panose="020B0604020202020204" pitchFamily="34" charset="0"/>
                  </a:rPr>
                  <a:t>Radio-Frequency cavities (RF)</a:t>
                </a:r>
                <a:r>
                  <a:rPr lang="en-CH" sz="1400" dirty="0">
                    <a:latin typeface="Arial" panose="020B0604020202020204" pitchFamily="34" charset="0"/>
                    <a:cs typeface="Arial" panose="020B0604020202020204" pitchFamily="34" charset="0"/>
                  </a:rPr>
                  <a:t>: for acceleration, longitudinal control (blow-up, higher harmonics, etc.).</a:t>
                </a:r>
              </a:p>
              <a:p>
                <a:pPr marL="285750" indent="-285750">
                  <a:buFont typeface="Arial" panose="020B0604020202020204" pitchFamily="34" charset="0"/>
                  <a:buChar char="•"/>
                </a:pPr>
                <a:endParaRPr lang="en-CH"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sz="1400" dirty="0">
                    <a:latin typeface="Arial" panose="020B0604020202020204" pitchFamily="34" charset="0"/>
                    <a:cs typeface="Arial" panose="020B0604020202020204" pitchFamily="34" charset="0"/>
                  </a:rPr>
                  <a:t>Plenty of quadrupole, sextupole and octupole correctors (normal and skew).</a:t>
                </a:r>
              </a:p>
            </p:txBody>
          </p:sp>
        </mc:Choice>
        <mc:Fallback xmlns="">
          <p:sp>
            <p:nvSpPr>
              <p:cNvPr id="7" name="TextBox 6">
                <a:extLst>
                  <a:ext uri="{FF2B5EF4-FFF2-40B4-BE49-F238E27FC236}">
                    <a16:creationId xmlns:a16="http://schemas.microsoft.com/office/drawing/2014/main" id="{EF5A60A4-DA33-119F-8BB4-BDDC6F3F9F19}"/>
                  </a:ext>
                </a:extLst>
              </p:cNvPr>
              <p:cNvSpPr txBox="1">
                <a:spLocks noRot="1" noChangeAspect="1" noMove="1" noResize="1" noEditPoints="1" noAdjustHandles="1" noChangeArrowheads="1" noChangeShapeType="1" noTextEdit="1"/>
              </p:cNvSpPr>
              <p:nvPr/>
            </p:nvSpPr>
            <p:spPr>
              <a:xfrm>
                <a:off x="5886995" y="766354"/>
                <a:ext cx="6017622" cy="5478423"/>
              </a:xfrm>
              <a:prstGeom prst="rect">
                <a:avLst/>
              </a:prstGeom>
              <a:blipFill>
                <a:blip r:embed="rId2"/>
                <a:stretch>
                  <a:fillRect l="-211" t="-231" r="-842" b="-231"/>
                </a:stretch>
              </a:blipFill>
            </p:spPr>
            <p:txBody>
              <a:bodyPr/>
              <a:lstStyle/>
              <a:p>
                <a:r>
                  <a:rPr lang="en-CH">
                    <a:noFill/>
                  </a:rPr>
                  <a:t> </a:t>
                </a:r>
              </a:p>
            </p:txBody>
          </p:sp>
        </mc:Fallback>
      </mc:AlternateContent>
      <p:pic>
        <p:nvPicPr>
          <p:cNvPr id="11" name="Picture 10">
            <a:extLst>
              <a:ext uri="{FF2B5EF4-FFF2-40B4-BE49-F238E27FC236}">
                <a16:creationId xmlns:a16="http://schemas.microsoft.com/office/drawing/2014/main" id="{75CA1D29-BAE6-9B43-63BC-C9EF58673945}"/>
              </a:ext>
            </a:extLst>
          </p:cNvPr>
          <p:cNvPicPr>
            <a:picLocks noChangeAspect="1"/>
          </p:cNvPicPr>
          <p:nvPr/>
        </p:nvPicPr>
        <p:blipFill>
          <a:blip r:embed="rId3"/>
          <a:stretch>
            <a:fillRect/>
          </a:stretch>
        </p:blipFill>
        <p:spPr>
          <a:xfrm>
            <a:off x="104501" y="766354"/>
            <a:ext cx="5669279" cy="4565150"/>
          </a:xfrm>
          <a:prstGeom prst="rect">
            <a:avLst/>
          </a:prstGeom>
        </p:spPr>
      </p:pic>
      <p:sp>
        <p:nvSpPr>
          <p:cNvPr id="12" name="Oval 11">
            <a:extLst>
              <a:ext uri="{FF2B5EF4-FFF2-40B4-BE49-F238E27FC236}">
                <a16:creationId xmlns:a16="http://schemas.microsoft.com/office/drawing/2014/main" id="{83602D3B-BBE1-8A7E-65E4-4BAB9AF8EAD0}"/>
              </a:ext>
            </a:extLst>
          </p:cNvPr>
          <p:cNvSpPr/>
          <p:nvPr/>
        </p:nvSpPr>
        <p:spPr>
          <a:xfrm>
            <a:off x="3814355" y="443359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Oval 12">
            <a:extLst>
              <a:ext uri="{FF2B5EF4-FFF2-40B4-BE49-F238E27FC236}">
                <a16:creationId xmlns:a16="http://schemas.microsoft.com/office/drawing/2014/main" id="{939939C3-61DD-10E5-802A-617D82EFE385}"/>
              </a:ext>
            </a:extLst>
          </p:cNvPr>
          <p:cNvSpPr/>
          <p:nvPr/>
        </p:nvSpPr>
        <p:spPr>
          <a:xfrm>
            <a:off x="4319448"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Oval 13">
            <a:extLst>
              <a:ext uri="{FF2B5EF4-FFF2-40B4-BE49-F238E27FC236}">
                <a16:creationId xmlns:a16="http://schemas.microsoft.com/office/drawing/2014/main" id="{C0D19991-D4B5-CA6C-5DAA-C1DCDF97B474}"/>
              </a:ext>
            </a:extLst>
          </p:cNvPr>
          <p:cNvSpPr/>
          <p:nvPr/>
        </p:nvSpPr>
        <p:spPr>
          <a:xfrm>
            <a:off x="4606834" y="3247049"/>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Oval 14">
            <a:extLst>
              <a:ext uri="{FF2B5EF4-FFF2-40B4-BE49-F238E27FC236}">
                <a16:creationId xmlns:a16="http://schemas.microsoft.com/office/drawing/2014/main" id="{4B1E127B-E3C6-CDBB-361E-38D4354C234F}"/>
              </a:ext>
            </a:extLst>
          </p:cNvPr>
          <p:cNvSpPr/>
          <p:nvPr/>
        </p:nvSpPr>
        <p:spPr>
          <a:xfrm>
            <a:off x="4606833" y="247416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Oval 15">
            <a:extLst>
              <a:ext uri="{FF2B5EF4-FFF2-40B4-BE49-F238E27FC236}">
                <a16:creationId xmlns:a16="http://schemas.microsoft.com/office/drawing/2014/main" id="{39282263-A971-AD41-AF06-DA5CC1FE68D0}"/>
              </a:ext>
            </a:extLst>
          </p:cNvPr>
          <p:cNvSpPr/>
          <p:nvPr/>
        </p:nvSpPr>
        <p:spPr>
          <a:xfrm>
            <a:off x="4310735" y="1838437"/>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Oval 16">
            <a:extLst>
              <a:ext uri="{FF2B5EF4-FFF2-40B4-BE49-F238E27FC236}">
                <a16:creationId xmlns:a16="http://schemas.microsoft.com/office/drawing/2014/main" id="{A2183C49-B8B5-DAC8-3403-475C1962E387}"/>
              </a:ext>
            </a:extLst>
          </p:cNvPr>
          <p:cNvSpPr/>
          <p:nvPr/>
        </p:nvSpPr>
        <p:spPr>
          <a:xfrm>
            <a:off x="3814355" y="131592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8" name="Oval 17">
            <a:extLst>
              <a:ext uri="{FF2B5EF4-FFF2-40B4-BE49-F238E27FC236}">
                <a16:creationId xmlns:a16="http://schemas.microsoft.com/office/drawing/2014/main" id="{78FB188A-E764-7329-5B4F-63CDB49B734F}"/>
              </a:ext>
            </a:extLst>
          </p:cNvPr>
          <p:cNvSpPr/>
          <p:nvPr/>
        </p:nvSpPr>
        <p:spPr>
          <a:xfrm>
            <a:off x="3143795" y="9831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9" name="Oval 18">
            <a:extLst>
              <a:ext uri="{FF2B5EF4-FFF2-40B4-BE49-F238E27FC236}">
                <a16:creationId xmlns:a16="http://schemas.microsoft.com/office/drawing/2014/main" id="{693FCA09-A2FC-CA38-1BDB-93C83B23A2C8}"/>
              </a:ext>
            </a:extLst>
          </p:cNvPr>
          <p:cNvSpPr/>
          <p:nvPr/>
        </p:nvSpPr>
        <p:spPr>
          <a:xfrm>
            <a:off x="2364378" y="98315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0" name="Oval 19">
            <a:extLst>
              <a:ext uri="{FF2B5EF4-FFF2-40B4-BE49-F238E27FC236}">
                <a16:creationId xmlns:a16="http://schemas.microsoft.com/office/drawing/2014/main" id="{BF305B3D-0B3F-F7AD-5D54-8D137637D128}"/>
              </a:ext>
            </a:extLst>
          </p:cNvPr>
          <p:cNvSpPr/>
          <p:nvPr/>
        </p:nvSpPr>
        <p:spPr>
          <a:xfrm>
            <a:off x="1685110" y="1273774"/>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1" name="Oval 20">
            <a:extLst>
              <a:ext uri="{FF2B5EF4-FFF2-40B4-BE49-F238E27FC236}">
                <a16:creationId xmlns:a16="http://schemas.microsoft.com/office/drawing/2014/main" id="{3A900394-D3F5-2588-6BB1-64EBC6581BF9}"/>
              </a:ext>
            </a:extLst>
          </p:cNvPr>
          <p:cNvSpPr/>
          <p:nvPr/>
        </p:nvSpPr>
        <p:spPr>
          <a:xfrm>
            <a:off x="1101635" y="1791933"/>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2" name="Oval 21">
            <a:extLst>
              <a:ext uri="{FF2B5EF4-FFF2-40B4-BE49-F238E27FC236}">
                <a16:creationId xmlns:a16="http://schemas.microsoft.com/office/drawing/2014/main" id="{0BEC941D-1607-3A44-1EAB-88387EC13D0A}"/>
              </a:ext>
            </a:extLst>
          </p:cNvPr>
          <p:cNvSpPr/>
          <p:nvPr/>
        </p:nvSpPr>
        <p:spPr>
          <a:xfrm>
            <a:off x="827315" y="247416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3" name="Oval 22">
            <a:extLst>
              <a:ext uri="{FF2B5EF4-FFF2-40B4-BE49-F238E27FC236}">
                <a16:creationId xmlns:a16="http://schemas.microsoft.com/office/drawing/2014/main" id="{A196BB02-4EFA-1E08-AE32-906CDCD05A58}"/>
              </a:ext>
            </a:extLst>
          </p:cNvPr>
          <p:cNvSpPr/>
          <p:nvPr/>
        </p:nvSpPr>
        <p:spPr>
          <a:xfrm>
            <a:off x="827314" y="3209718"/>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4" name="Oval 23">
            <a:extLst>
              <a:ext uri="{FF2B5EF4-FFF2-40B4-BE49-F238E27FC236}">
                <a16:creationId xmlns:a16="http://schemas.microsoft.com/office/drawing/2014/main" id="{D2C3E355-023D-8589-53C6-A872353FD376}"/>
              </a:ext>
            </a:extLst>
          </p:cNvPr>
          <p:cNvSpPr/>
          <p:nvPr/>
        </p:nvSpPr>
        <p:spPr>
          <a:xfrm>
            <a:off x="1062444" y="3915432"/>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5" name="Oval 24">
            <a:extLst>
              <a:ext uri="{FF2B5EF4-FFF2-40B4-BE49-F238E27FC236}">
                <a16:creationId xmlns:a16="http://schemas.microsoft.com/office/drawing/2014/main" id="{E3D04AC3-96CA-18CA-FD57-23497D6121E7}"/>
              </a:ext>
            </a:extLst>
          </p:cNvPr>
          <p:cNvSpPr/>
          <p:nvPr/>
        </p:nvSpPr>
        <p:spPr>
          <a:xfrm>
            <a:off x="1593670" y="4433591"/>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6" name="Oval 25">
            <a:extLst>
              <a:ext uri="{FF2B5EF4-FFF2-40B4-BE49-F238E27FC236}">
                <a16:creationId xmlns:a16="http://schemas.microsoft.com/office/drawing/2014/main" id="{DA7F9A1E-274F-09D3-1E2E-AB08D2B0A72E}"/>
              </a:ext>
            </a:extLst>
          </p:cNvPr>
          <p:cNvSpPr/>
          <p:nvPr/>
        </p:nvSpPr>
        <p:spPr>
          <a:xfrm>
            <a:off x="3052355"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7" name="Oval 26">
            <a:extLst>
              <a:ext uri="{FF2B5EF4-FFF2-40B4-BE49-F238E27FC236}">
                <a16:creationId xmlns:a16="http://schemas.microsoft.com/office/drawing/2014/main" id="{ACF2DD41-33D2-B8D7-3456-93DF448C2E6B}"/>
              </a:ext>
            </a:extLst>
          </p:cNvPr>
          <p:cNvSpPr/>
          <p:nvPr/>
        </p:nvSpPr>
        <p:spPr>
          <a:xfrm>
            <a:off x="2364377" y="4751455"/>
            <a:ext cx="182879" cy="181951"/>
          </a:xfrm>
          <a:prstGeom prst="ellipse">
            <a:avLst/>
          </a:prstGeom>
          <a:solidFill>
            <a:srgbClr val="00B05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9" name="Rectangle 28">
            <a:extLst>
              <a:ext uri="{FF2B5EF4-FFF2-40B4-BE49-F238E27FC236}">
                <a16:creationId xmlns:a16="http://schemas.microsoft.com/office/drawing/2014/main" id="{0586E18F-02D6-84B0-74C8-BB14788DCB9F}"/>
              </a:ext>
            </a:extLst>
          </p:cNvPr>
          <p:cNvSpPr/>
          <p:nvPr/>
        </p:nvSpPr>
        <p:spPr>
          <a:xfrm>
            <a:off x="2680058" y="893731"/>
            <a:ext cx="165468" cy="360796"/>
          </a:xfrm>
          <a:prstGeom prst="rect">
            <a:avLst/>
          </a:prstGeom>
          <a:solidFill>
            <a:srgbClr val="7030A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1" name="Extract 30">
            <a:extLst>
              <a:ext uri="{FF2B5EF4-FFF2-40B4-BE49-F238E27FC236}">
                <a16:creationId xmlns:a16="http://schemas.microsoft.com/office/drawing/2014/main" id="{3E539084-965D-F184-2094-B798FB02FA4A}"/>
              </a:ext>
            </a:extLst>
          </p:cNvPr>
          <p:cNvSpPr/>
          <p:nvPr/>
        </p:nvSpPr>
        <p:spPr>
          <a:xfrm rot="8151013">
            <a:off x="4125808" y="4097259"/>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2" name="Extract 31">
            <a:extLst>
              <a:ext uri="{FF2B5EF4-FFF2-40B4-BE49-F238E27FC236}">
                <a16:creationId xmlns:a16="http://schemas.microsoft.com/office/drawing/2014/main" id="{50B4BE5F-EA82-E944-0E00-0FA4C0ED72B8}"/>
              </a:ext>
            </a:extLst>
          </p:cNvPr>
          <p:cNvSpPr/>
          <p:nvPr/>
        </p:nvSpPr>
        <p:spPr>
          <a:xfrm rot="17677774">
            <a:off x="883953" y="2033994"/>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3" name="Extract 32">
            <a:extLst>
              <a:ext uri="{FF2B5EF4-FFF2-40B4-BE49-F238E27FC236}">
                <a16:creationId xmlns:a16="http://schemas.microsoft.com/office/drawing/2014/main" id="{AB7BC26D-D829-4C04-A6DB-09A5FE1A0A9D}"/>
              </a:ext>
            </a:extLst>
          </p:cNvPr>
          <p:cNvSpPr/>
          <p:nvPr/>
        </p:nvSpPr>
        <p:spPr>
          <a:xfrm rot="5400000">
            <a:off x="4639862" y="2725877"/>
            <a:ext cx="158312" cy="433383"/>
          </a:xfrm>
          <a:prstGeom prst="flowChartExtract">
            <a:avLst/>
          </a:prstGeom>
          <a:solidFill>
            <a:srgbClr val="FF000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5" name="4-point Star 34">
            <a:extLst>
              <a:ext uri="{FF2B5EF4-FFF2-40B4-BE49-F238E27FC236}">
                <a16:creationId xmlns:a16="http://schemas.microsoft.com/office/drawing/2014/main" id="{8ACA281E-E34D-7066-E643-F77189836119}"/>
              </a:ext>
            </a:extLst>
          </p:cNvPr>
          <p:cNvSpPr/>
          <p:nvPr/>
        </p:nvSpPr>
        <p:spPr>
          <a:xfrm rot="17387481">
            <a:off x="4471850" y="3435571"/>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sp>
        <p:nvSpPr>
          <p:cNvPr id="36" name="4-point Star 35">
            <a:extLst>
              <a:ext uri="{FF2B5EF4-FFF2-40B4-BE49-F238E27FC236}">
                <a16:creationId xmlns:a16="http://schemas.microsoft.com/office/drawing/2014/main" id="{98470E7B-9E7F-6DF7-B38B-3F4423AFA234}"/>
              </a:ext>
            </a:extLst>
          </p:cNvPr>
          <p:cNvSpPr/>
          <p:nvPr/>
        </p:nvSpPr>
        <p:spPr>
          <a:xfrm rot="15975689">
            <a:off x="743916" y="2811255"/>
            <a:ext cx="269966" cy="437505"/>
          </a:xfrm>
          <a:prstGeom prst="star4">
            <a:avLst/>
          </a:prstGeom>
          <a:solidFill>
            <a:schemeClr val="accent2">
              <a:lumMod val="60000"/>
              <a:lumOff val="4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solidFill>
                <a:schemeClr val="accent2"/>
              </a:solidFill>
            </a:endParaRPr>
          </a:p>
        </p:txBody>
      </p:sp>
      <p:sp>
        <p:nvSpPr>
          <p:cNvPr id="3" name="Process 2">
            <a:extLst>
              <a:ext uri="{FF2B5EF4-FFF2-40B4-BE49-F238E27FC236}">
                <a16:creationId xmlns:a16="http://schemas.microsoft.com/office/drawing/2014/main" id="{B29C4951-53DC-2167-CE6E-48421F532707}"/>
              </a:ext>
            </a:extLst>
          </p:cNvPr>
          <p:cNvSpPr/>
          <p:nvPr/>
        </p:nvSpPr>
        <p:spPr>
          <a:xfrm>
            <a:off x="2592971" y="791567"/>
            <a:ext cx="60960" cy="496388"/>
          </a:xfrm>
          <a:prstGeom prst="flowChartProcess">
            <a:avLst/>
          </a:prstGeom>
          <a:solidFill>
            <a:srgbClr val="00B0F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Diamond 8">
            <a:extLst>
              <a:ext uri="{FF2B5EF4-FFF2-40B4-BE49-F238E27FC236}">
                <a16:creationId xmlns:a16="http://schemas.microsoft.com/office/drawing/2014/main" id="{BC9F1202-F725-01E8-378E-CF73D6C81E92}"/>
              </a:ext>
            </a:extLst>
          </p:cNvPr>
          <p:cNvSpPr/>
          <p:nvPr/>
        </p:nvSpPr>
        <p:spPr>
          <a:xfrm rot="14873986">
            <a:off x="4508740" y="2013797"/>
            <a:ext cx="113219" cy="407445"/>
          </a:xfrm>
          <a:prstGeom prst="diamond">
            <a:avLst/>
          </a:prstGeom>
          <a:solidFill>
            <a:srgbClr val="00206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0" name="Diamond 9">
            <a:extLst>
              <a:ext uri="{FF2B5EF4-FFF2-40B4-BE49-F238E27FC236}">
                <a16:creationId xmlns:a16="http://schemas.microsoft.com/office/drawing/2014/main" id="{1784F088-BEB9-0B7B-ABB0-3C760048477D}"/>
              </a:ext>
            </a:extLst>
          </p:cNvPr>
          <p:cNvSpPr/>
          <p:nvPr/>
        </p:nvSpPr>
        <p:spPr>
          <a:xfrm rot="12055478">
            <a:off x="3447940" y="994458"/>
            <a:ext cx="113219" cy="407445"/>
          </a:xfrm>
          <a:prstGeom prst="diamond">
            <a:avLst/>
          </a:prstGeom>
          <a:solidFill>
            <a:srgbClr val="00206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28" name="Diamond 27">
            <a:extLst>
              <a:ext uri="{FF2B5EF4-FFF2-40B4-BE49-F238E27FC236}">
                <a16:creationId xmlns:a16="http://schemas.microsoft.com/office/drawing/2014/main" id="{DFD9C5E4-16C1-0153-9BAC-CBAD8333C60B}"/>
              </a:ext>
            </a:extLst>
          </p:cNvPr>
          <p:cNvSpPr/>
          <p:nvPr/>
        </p:nvSpPr>
        <p:spPr>
          <a:xfrm rot="14657414">
            <a:off x="991938" y="3531294"/>
            <a:ext cx="113219" cy="407445"/>
          </a:xfrm>
          <a:prstGeom prst="diamond">
            <a:avLst/>
          </a:prstGeom>
          <a:solidFill>
            <a:srgbClr val="00206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 name="TextBox 3">
            <a:extLst>
              <a:ext uri="{FF2B5EF4-FFF2-40B4-BE49-F238E27FC236}">
                <a16:creationId xmlns:a16="http://schemas.microsoft.com/office/drawing/2014/main" id="{3C26D39D-6FE3-9650-FD61-72EFE3596D9F}"/>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02E4E1D-9813-4D96-729D-CBBB1E2F92DD}"/>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8367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12" end="12"/>
                                            </p:txEl>
                                          </p:spTgt>
                                        </p:tgtEl>
                                        <p:attrNameLst>
                                          <p:attrName>style.visibility</p:attrName>
                                        </p:attrNameLst>
                                      </p:cBhvr>
                                      <p:to>
                                        <p:strVal val="visible"/>
                                      </p:to>
                                    </p:set>
                                    <p:animEffect transition="in" filter="fade">
                                      <p:cBhvr>
                                        <p:cTn id="7"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34A3A-816C-A6AF-4FE6-81F09710773A}"/>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Beam Dynamics</a:t>
            </a:r>
          </a:p>
        </p:txBody>
      </p:sp>
      <p:sp>
        <p:nvSpPr>
          <p:cNvPr id="5" name="Slide Number Placeholder 4">
            <a:extLst>
              <a:ext uri="{FF2B5EF4-FFF2-40B4-BE49-F238E27FC236}">
                <a16:creationId xmlns:a16="http://schemas.microsoft.com/office/drawing/2014/main" id="{851581E8-3716-CF6D-4F66-AE99CB576971}"/>
              </a:ext>
            </a:extLst>
          </p:cNvPr>
          <p:cNvSpPr>
            <a:spLocks noGrp="1"/>
          </p:cNvSpPr>
          <p:nvPr>
            <p:ph type="sldNum" sz="quarter" idx="12"/>
          </p:nvPr>
        </p:nvSpPr>
        <p:spPr/>
        <p:txBody>
          <a:bodyPr/>
          <a:lstStyle/>
          <a:p>
            <a:r>
              <a:rPr lang="en-US" dirty="0"/>
              <a:t>5</a:t>
            </a:r>
            <a:endParaRPr lang="el-GR" dirty="0"/>
          </a:p>
        </p:txBody>
      </p:sp>
      <p:pic>
        <p:nvPicPr>
          <p:cNvPr id="1026" name="Picture 2">
            <a:extLst>
              <a:ext uri="{FF2B5EF4-FFF2-40B4-BE49-F238E27FC236}">
                <a16:creationId xmlns:a16="http://schemas.microsoft.com/office/drawing/2014/main" id="{DADB9761-9AC2-F5C4-7015-2400FC4476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1470" y="1334726"/>
            <a:ext cx="2749590" cy="198798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A5C5D26B-5D60-87E0-7ADB-0841C45CABAC}"/>
              </a:ext>
            </a:extLst>
          </p:cNvPr>
          <p:cNvPicPr>
            <a:picLocks noChangeAspect="1"/>
          </p:cNvPicPr>
          <p:nvPr/>
        </p:nvPicPr>
        <p:blipFill>
          <a:blip r:embed="rId3"/>
          <a:stretch>
            <a:fillRect/>
          </a:stretch>
        </p:blipFill>
        <p:spPr>
          <a:xfrm>
            <a:off x="233965" y="1276970"/>
            <a:ext cx="2834099" cy="2063776"/>
          </a:xfrm>
          <a:prstGeom prst="rect">
            <a:avLst/>
          </a:prstGeom>
        </p:spPr>
      </p:pic>
      <p:sp>
        <p:nvSpPr>
          <p:cNvPr id="4" name="TextBox 3">
            <a:extLst>
              <a:ext uri="{FF2B5EF4-FFF2-40B4-BE49-F238E27FC236}">
                <a16:creationId xmlns:a16="http://schemas.microsoft.com/office/drawing/2014/main" id="{F0CF8503-3CB9-3A5E-7449-61A9E43FB09C}"/>
              </a:ext>
            </a:extLst>
          </p:cNvPr>
          <p:cNvSpPr txBox="1"/>
          <p:nvPr/>
        </p:nvSpPr>
        <p:spPr>
          <a:xfrm>
            <a:off x="1053906" y="995278"/>
            <a:ext cx="1651437" cy="369332"/>
          </a:xfrm>
          <a:prstGeom prst="rect">
            <a:avLst/>
          </a:prstGeom>
          <a:noFill/>
        </p:spPr>
        <p:txBody>
          <a:bodyPr wrap="square" rtlCol="0">
            <a:spAutoFit/>
          </a:bodyPr>
          <a:lstStyle/>
          <a:p>
            <a:r>
              <a:rPr lang="en-CH" dirty="0">
                <a:latin typeface="Arial" panose="020B0604020202020204" pitchFamily="34" charset="0"/>
                <a:cs typeface="Arial" panose="020B0604020202020204" pitchFamily="34" charset="0"/>
              </a:rPr>
              <a:t>Space Charge</a:t>
            </a:r>
          </a:p>
        </p:txBody>
      </p:sp>
      <p:sp>
        <p:nvSpPr>
          <p:cNvPr id="7" name="TextBox 6">
            <a:extLst>
              <a:ext uri="{FF2B5EF4-FFF2-40B4-BE49-F238E27FC236}">
                <a16:creationId xmlns:a16="http://schemas.microsoft.com/office/drawing/2014/main" id="{BF8EFEAB-44D1-73E2-C9DF-3CDE95084D49}"/>
              </a:ext>
            </a:extLst>
          </p:cNvPr>
          <p:cNvSpPr txBox="1"/>
          <p:nvPr/>
        </p:nvSpPr>
        <p:spPr>
          <a:xfrm>
            <a:off x="4291749" y="1027064"/>
            <a:ext cx="1651437" cy="369332"/>
          </a:xfrm>
          <a:prstGeom prst="rect">
            <a:avLst/>
          </a:prstGeom>
          <a:noFill/>
        </p:spPr>
        <p:txBody>
          <a:bodyPr wrap="square" rtlCol="0">
            <a:spAutoFit/>
          </a:bodyPr>
          <a:lstStyle/>
          <a:p>
            <a:r>
              <a:rPr lang="en-CH" dirty="0">
                <a:latin typeface="Arial" panose="020B0604020202020204" pitchFamily="34" charset="0"/>
                <a:cs typeface="Arial" panose="020B0604020202020204" pitchFamily="34" charset="0"/>
              </a:rPr>
              <a:t>Resonances</a:t>
            </a:r>
          </a:p>
        </p:txBody>
      </p:sp>
      <p:pic>
        <p:nvPicPr>
          <p:cNvPr id="8" name="Picture 7">
            <a:extLst>
              <a:ext uri="{FF2B5EF4-FFF2-40B4-BE49-F238E27FC236}">
                <a16:creationId xmlns:a16="http://schemas.microsoft.com/office/drawing/2014/main" id="{B4358B0E-6E59-E62F-FE1A-49520B4C54E2}"/>
              </a:ext>
            </a:extLst>
          </p:cNvPr>
          <p:cNvPicPr>
            <a:picLocks noChangeAspect="1"/>
          </p:cNvPicPr>
          <p:nvPr/>
        </p:nvPicPr>
        <p:blipFill>
          <a:blip r:embed="rId4"/>
          <a:stretch>
            <a:fillRect/>
          </a:stretch>
        </p:blipFill>
        <p:spPr>
          <a:xfrm>
            <a:off x="7541183" y="4218793"/>
            <a:ext cx="2721091" cy="2176872"/>
          </a:xfrm>
          <a:prstGeom prst="rect">
            <a:avLst/>
          </a:prstGeom>
        </p:spPr>
      </p:pic>
      <p:sp>
        <p:nvSpPr>
          <p:cNvPr id="9" name="TextBox 8">
            <a:extLst>
              <a:ext uri="{FF2B5EF4-FFF2-40B4-BE49-F238E27FC236}">
                <a16:creationId xmlns:a16="http://schemas.microsoft.com/office/drawing/2014/main" id="{C7BDC062-2CAB-D896-02EE-42F3FD0223AE}"/>
              </a:ext>
            </a:extLst>
          </p:cNvPr>
          <p:cNvSpPr txBox="1"/>
          <p:nvPr/>
        </p:nvSpPr>
        <p:spPr>
          <a:xfrm>
            <a:off x="8495088" y="3948810"/>
            <a:ext cx="1130309" cy="307777"/>
          </a:xfrm>
          <a:prstGeom prst="rect">
            <a:avLst/>
          </a:prstGeom>
          <a:noFill/>
        </p:spPr>
        <p:txBody>
          <a:bodyPr wrap="square" rtlCol="0">
            <a:spAutoFit/>
          </a:bodyPr>
          <a:lstStyle/>
          <a:p>
            <a:r>
              <a:rPr lang="en-CH" sz="1400" dirty="0">
                <a:latin typeface="Arial" panose="020B0604020202020204" pitchFamily="34" charset="0"/>
                <a:cs typeface="Arial" panose="020B0604020202020204" pitchFamily="34" charset="0"/>
              </a:rPr>
              <a:t>Brightness</a:t>
            </a:r>
            <a:endParaRPr lang="en-CH" dirty="0">
              <a:latin typeface="Arial" panose="020B0604020202020204" pitchFamily="34" charset="0"/>
              <a:cs typeface="Arial" panose="020B0604020202020204" pitchFamily="34" charset="0"/>
            </a:endParaRPr>
          </a:p>
        </p:txBody>
      </p:sp>
      <p:pic>
        <p:nvPicPr>
          <p:cNvPr id="10" name="Picture 9" descr="Chart&#10;&#10;Description automatically generated with medium confidence">
            <a:extLst>
              <a:ext uri="{FF2B5EF4-FFF2-40B4-BE49-F238E27FC236}">
                <a16:creationId xmlns:a16="http://schemas.microsoft.com/office/drawing/2014/main" id="{01F86334-728E-CDCC-516B-494CCEC15C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6718" y="4313853"/>
            <a:ext cx="6026640" cy="1992027"/>
          </a:xfrm>
          <a:prstGeom prst="rect">
            <a:avLst/>
          </a:prstGeom>
        </p:spPr>
      </p:pic>
      <p:sp>
        <p:nvSpPr>
          <p:cNvPr id="11" name="TextBox 10">
            <a:extLst>
              <a:ext uri="{FF2B5EF4-FFF2-40B4-BE49-F238E27FC236}">
                <a16:creationId xmlns:a16="http://schemas.microsoft.com/office/drawing/2014/main" id="{59E56B1D-E631-E05F-1F1A-4ADC31ED68CF}"/>
              </a:ext>
            </a:extLst>
          </p:cNvPr>
          <p:cNvSpPr txBox="1"/>
          <p:nvPr/>
        </p:nvSpPr>
        <p:spPr>
          <a:xfrm>
            <a:off x="596834" y="3918603"/>
            <a:ext cx="5474548" cy="307777"/>
          </a:xfrm>
          <a:prstGeom prst="rect">
            <a:avLst/>
          </a:prstGeom>
          <a:noFill/>
        </p:spPr>
        <p:txBody>
          <a:bodyPr wrap="square" rtlCol="0">
            <a:spAutoFit/>
          </a:bodyPr>
          <a:lstStyle/>
          <a:p>
            <a:pPr algn="ctr"/>
            <a:r>
              <a:rPr lang="en-CH" sz="1400" dirty="0">
                <a:latin typeface="Arial" panose="020B0604020202020204" pitchFamily="34" charset="0"/>
                <a:cs typeface="Arial" panose="020B0604020202020204" pitchFamily="34" charset="0"/>
              </a:rPr>
              <a:t>While beam is accelerated, tunes are dynamically changed. </a:t>
            </a:r>
          </a:p>
        </p:txBody>
      </p:sp>
      <p:sp>
        <p:nvSpPr>
          <p:cNvPr id="12" name="Rectangle 11">
            <a:extLst>
              <a:ext uri="{FF2B5EF4-FFF2-40B4-BE49-F238E27FC236}">
                <a16:creationId xmlns:a16="http://schemas.microsoft.com/office/drawing/2014/main" id="{3D080444-0B53-1C18-A948-083AF892D385}"/>
              </a:ext>
            </a:extLst>
          </p:cNvPr>
          <p:cNvSpPr/>
          <p:nvPr/>
        </p:nvSpPr>
        <p:spPr>
          <a:xfrm>
            <a:off x="233965" y="3918603"/>
            <a:ext cx="6150708" cy="2418710"/>
          </a:xfrm>
          <a:prstGeom prst="rect">
            <a:avLst/>
          </a:prstGeom>
          <a:no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3" name="Rectangle 12">
            <a:extLst>
              <a:ext uri="{FF2B5EF4-FFF2-40B4-BE49-F238E27FC236}">
                <a16:creationId xmlns:a16="http://schemas.microsoft.com/office/drawing/2014/main" id="{15B978C2-4491-41E3-D50F-4684A3530BC4}"/>
              </a:ext>
            </a:extLst>
          </p:cNvPr>
          <p:cNvSpPr/>
          <p:nvPr/>
        </p:nvSpPr>
        <p:spPr>
          <a:xfrm>
            <a:off x="173005" y="1026711"/>
            <a:ext cx="3008635" cy="2314036"/>
          </a:xfrm>
          <a:prstGeom prst="rect">
            <a:avLst/>
          </a:prstGeom>
          <a:no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4" name="Rectangle 13">
            <a:extLst>
              <a:ext uri="{FF2B5EF4-FFF2-40B4-BE49-F238E27FC236}">
                <a16:creationId xmlns:a16="http://schemas.microsoft.com/office/drawing/2014/main" id="{47D2B609-D5A6-D29E-987A-601EDA321432}"/>
              </a:ext>
            </a:extLst>
          </p:cNvPr>
          <p:cNvSpPr/>
          <p:nvPr/>
        </p:nvSpPr>
        <p:spPr>
          <a:xfrm>
            <a:off x="3411842" y="1046573"/>
            <a:ext cx="3008635" cy="2314036"/>
          </a:xfrm>
          <a:prstGeom prst="rect">
            <a:avLst/>
          </a:prstGeom>
          <a:no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5" name="Rectangle 14">
            <a:extLst>
              <a:ext uri="{FF2B5EF4-FFF2-40B4-BE49-F238E27FC236}">
                <a16:creationId xmlns:a16="http://schemas.microsoft.com/office/drawing/2014/main" id="{3CE2C237-633D-ABD0-07EB-B189D79A1FD6}"/>
              </a:ext>
            </a:extLst>
          </p:cNvPr>
          <p:cNvSpPr/>
          <p:nvPr/>
        </p:nvSpPr>
        <p:spPr>
          <a:xfrm>
            <a:off x="6736256" y="827897"/>
            <a:ext cx="5352098" cy="2935039"/>
          </a:xfrm>
          <a:prstGeom prst="rect">
            <a:avLst/>
          </a:prstGeom>
          <a:noFill/>
          <a:ln w="38100">
            <a:solidFill>
              <a:srgbClr val="00206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pic>
        <p:nvPicPr>
          <p:cNvPr id="17" name="Picture 16">
            <a:extLst>
              <a:ext uri="{FF2B5EF4-FFF2-40B4-BE49-F238E27FC236}">
                <a16:creationId xmlns:a16="http://schemas.microsoft.com/office/drawing/2014/main" id="{726ADEC5-6BE0-2FBC-CEB5-D24A9A88DD3E}"/>
              </a:ext>
            </a:extLst>
          </p:cNvPr>
          <p:cNvPicPr>
            <a:picLocks noChangeAspect="1"/>
          </p:cNvPicPr>
          <p:nvPr/>
        </p:nvPicPr>
        <p:blipFill>
          <a:blip r:embed="rId6"/>
          <a:stretch>
            <a:fillRect/>
          </a:stretch>
        </p:blipFill>
        <p:spPr>
          <a:xfrm>
            <a:off x="7175035" y="1535348"/>
            <a:ext cx="2404563" cy="2132223"/>
          </a:xfrm>
          <a:prstGeom prst="rect">
            <a:avLst/>
          </a:prstGeom>
        </p:spPr>
      </p:pic>
      <p:pic>
        <p:nvPicPr>
          <p:cNvPr id="18" name="Picture 17">
            <a:extLst>
              <a:ext uri="{FF2B5EF4-FFF2-40B4-BE49-F238E27FC236}">
                <a16:creationId xmlns:a16="http://schemas.microsoft.com/office/drawing/2014/main" id="{415D1029-0C26-46A2-EE7E-BE2A0ACD4936}"/>
              </a:ext>
            </a:extLst>
          </p:cNvPr>
          <p:cNvPicPr>
            <a:picLocks noChangeAspect="1"/>
          </p:cNvPicPr>
          <p:nvPr/>
        </p:nvPicPr>
        <p:blipFill>
          <a:blip r:embed="rId7"/>
          <a:stretch>
            <a:fillRect/>
          </a:stretch>
        </p:blipFill>
        <p:spPr>
          <a:xfrm>
            <a:off x="9579598" y="1508470"/>
            <a:ext cx="2404563" cy="2121852"/>
          </a:xfrm>
          <a:prstGeom prst="rect">
            <a:avLst/>
          </a:prstGeom>
        </p:spPr>
      </p:pic>
      <p:sp>
        <p:nvSpPr>
          <p:cNvPr id="19" name="TextBox 18">
            <a:extLst>
              <a:ext uri="{FF2B5EF4-FFF2-40B4-BE49-F238E27FC236}">
                <a16:creationId xmlns:a16="http://schemas.microsoft.com/office/drawing/2014/main" id="{6C2B2F29-FA14-7A1E-FA9B-5A56979A49C8}"/>
              </a:ext>
            </a:extLst>
          </p:cNvPr>
          <p:cNvSpPr txBox="1"/>
          <p:nvPr/>
        </p:nvSpPr>
        <p:spPr>
          <a:xfrm>
            <a:off x="6849832" y="853793"/>
            <a:ext cx="5238522" cy="584775"/>
          </a:xfrm>
          <a:prstGeom prst="rect">
            <a:avLst/>
          </a:prstGeom>
          <a:noFill/>
        </p:spPr>
        <p:txBody>
          <a:bodyPr wrap="square" rtlCol="0">
            <a:spAutoFit/>
          </a:bodyPr>
          <a:lstStyle/>
          <a:p>
            <a:r>
              <a:rPr lang="en-CH" sz="1600" dirty="0">
                <a:latin typeface="Arial" panose="020B0604020202020204" pitchFamily="34" charset="0"/>
                <a:cs typeface="Arial" panose="020B0604020202020204" pitchFamily="34" charset="0"/>
              </a:rPr>
              <a:t>Beam goes from double harmonic to single harmonic to reduce the peak line density (therefore space charge)</a:t>
            </a:r>
          </a:p>
        </p:txBody>
      </p:sp>
      <p:sp>
        <p:nvSpPr>
          <p:cNvPr id="20" name="Rectangle 19">
            <a:extLst>
              <a:ext uri="{FF2B5EF4-FFF2-40B4-BE49-F238E27FC236}">
                <a16:creationId xmlns:a16="http://schemas.microsoft.com/office/drawing/2014/main" id="{D0E23D79-611A-138D-90D2-5DDA63C574C5}"/>
              </a:ext>
            </a:extLst>
          </p:cNvPr>
          <p:cNvSpPr/>
          <p:nvPr/>
        </p:nvSpPr>
        <p:spPr>
          <a:xfrm>
            <a:off x="7436035" y="3984246"/>
            <a:ext cx="3086345" cy="2349240"/>
          </a:xfrm>
          <a:prstGeom prst="rect">
            <a:avLst/>
          </a:prstGeom>
          <a:no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TextBox 5">
            <a:extLst>
              <a:ext uri="{FF2B5EF4-FFF2-40B4-BE49-F238E27FC236}">
                <a16:creationId xmlns:a16="http://schemas.microsoft.com/office/drawing/2014/main" id="{09F2EF69-8F67-B186-4204-7EE7750B13DF}"/>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0512A87E-D5D4-0B84-DE35-ADCC1F5BC042}"/>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9258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fade">
                                      <p:cBhvr>
                                        <p:cTn id="46" dur="500"/>
                                        <p:tgtEl>
                                          <p:spTgt spid="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2" grpId="0" animBg="1"/>
      <p:bldP spid="14" grpId="0" animBg="1"/>
      <p:bldP spid="15" grpId="0" animBg="1"/>
      <p:bldP spid="19" grpId="0"/>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902BA-69C0-76A7-F7D0-D5C56E467FF7}"/>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Control Systems</a:t>
            </a:r>
          </a:p>
        </p:txBody>
      </p:sp>
      <p:sp>
        <p:nvSpPr>
          <p:cNvPr id="5" name="Slide Number Placeholder 4">
            <a:extLst>
              <a:ext uri="{FF2B5EF4-FFF2-40B4-BE49-F238E27FC236}">
                <a16:creationId xmlns:a16="http://schemas.microsoft.com/office/drawing/2014/main" id="{82056EE0-DD89-3BB9-02E3-E169C7BB9BD5}"/>
              </a:ext>
            </a:extLst>
          </p:cNvPr>
          <p:cNvSpPr>
            <a:spLocks noGrp="1"/>
          </p:cNvSpPr>
          <p:nvPr>
            <p:ph type="sldNum" sz="quarter" idx="12"/>
          </p:nvPr>
        </p:nvSpPr>
        <p:spPr/>
        <p:txBody>
          <a:bodyPr/>
          <a:lstStyle/>
          <a:p>
            <a:r>
              <a:rPr lang="en-US" dirty="0"/>
              <a:t>6</a:t>
            </a:r>
            <a:endParaRPr lang="el-GR" dirty="0"/>
          </a:p>
        </p:txBody>
      </p:sp>
      <p:sp>
        <p:nvSpPr>
          <p:cNvPr id="9" name="TextBox 8">
            <a:extLst>
              <a:ext uri="{FF2B5EF4-FFF2-40B4-BE49-F238E27FC236}">
                <a16:creationId xmlns:a16="http://schemas.microsoft.com/office/drawing/2014/main" id="{88D8C020-1812-11E5-52CF-36F2B668BFE3}"/>
              </a:ext>
            </a:extLst>
          </p:cNvPr>
          <p:cNvSpPr txBox="1"/>
          <p:nvPr/>
        </p:nvSpPr>
        <p:spPr>
          <a:xfrm>
            <a:off x="1071330" y="1037877"/>
            <a:ext cx="1837427" cy="677108"/>
          </a:xfrm>
          <a:prstGeom prst="rect">
            <a:avLst/>
          </a:prstGeom>
          <a:solidFill>
            <a:srgbClr val="002060"/>
          </a:solidFill>
          <a:ln>
            <a:noFill/>
          </a:ln>
          <a:effectLst>
            <a:glow rad="63500">
              <a:schemeClr val="accent1">
                <a:satMod val="175000"/>
                <a:alpha val="40000"/>
              </a:schemeClr>
            </a:glow>
            <a:outerShdw blurRad="50800" dist="38100" dir="13500000" algn="br" rotWithShape="0">
              <a:prstClr val="black">
                <a:alpha val="40000"/>
              </a:prstClr>
            </a:outerShdw>
            <a:softEdge rad="12700"/>
          </a:effectLst>
          <a:scene3d>
            <a:camera prst="orthographicFront"/>
            <a:lightRig rig="threePt" dir="t"/>
          </a:scene3d>
          <a:sp3d>
            <a:bevelT w="165100" prst="coolSlant"/>
          </a:sp3d>
        </p:spPr>
        <p:txBody>
          <a:bodyPr wrap="square" rtlCol="0">
            <a:spAutoFit/>
          </a:bodyPr>
          <a:lstStyle/>
          <a:p>
            <a:pPr algn="ctr"/>
            <a:r>
              <a:rPr lang="en-CH" sz="1600" b="1" dirty="0">
                <a:solidFill>
                  <a:schemeClr val="bg1"/>
                </a:solidFill>
                <a:latin typeface="Arial" panose="020B0604020202020204" pitchFamily="34" charset="0"/>
                <a:cs typeface="Arial" panose="020B0604020202020204" pitchFamily="34" charset="0"/>
              </a:rPr>
              <a:t>CCC Consoles </a:t>
            </a:r>
          </a:p>
          <a:p>
            <a:pPr algn="ctr"/>
            <a:r>
              <a:rPr lang="en-CH" sz="1100" b="1" dirty="0">
                <a:solidFill>
                  <a:schemeClr val="bg1"/>
                </a:solidFill>
                <a:latin typeface="Arial" panose="020B0604020202020204" pitchFamily="34" charset="0"/>
                <a:cs typeface="Arial" panose="020B0604020202020204" pitchFamily="34" charset="0"/>
              </a:rPr>
              <a:t>(Linux-based with high-level Java/Python GUIs)</a:t>
            </a:r>
          </a:p>
        </p:txBody>
      </p:sp>
      <p:sp>
        <p:nvSpPr>
          <p:cNvPr id="10" name="TextBox 9">
            <a:extLst>
              <a:ext uri="{FF2B5EF4-FFF2-40B4-BE49-F238E27FC236}">
                <a16:creationId xmlns:a16="http://schemas.microsoft.com/office/drawing/2014/main" id="{E7DC0128-8679-B30C-0576-1CBE24D6BE91}"/>
              </a:ext>
            </a:extLst>
          </p:cNvPr>
          <p:cNvSpPr txBox="1"/>
          <p:nvPr/>
        </p:nvSpPr>
        <p:spPr>
          <a:xfrm>
            <a:off x="1071330" y="5480059"/>
            <a:ext cx="1837427" cy="584775"/>
          </a:xfrm>
          <a:prstGeom prst="rect">
            <a:avLst/>
          </a:prstGeom>
          <a:solidFill>
            <a:srgbClr val="002060"/>
          </a:solidFill>
          <a:ln>
            <a:noFill/>
          </a:ln>
          <a:effectLst>
            <a:glow rad="63500">
              <a:schemeClr val="accent1">
                <a:satMod val="175000"/>
                <a:alpha val="40000"/>
              </a:schemeClr>
            </a:glow>
            <a:outerShdw blurRad="50800" dist="38100" dir="13500000" algn="br" rotWithShape="0">
              <a:prstClr val="black">
                <a:alpha val="40000"/>
              </a:prstClr>
            </a:outerShdw>
            <a:softEdge rad="12700"/>
          </a:effectLst>
          <a:scene3d>
            <a:camera prst="orthographicFront"/>
            <a:lightRig rig="threePt" dir="t"/>
          </a:scene3d>
          <a:sp3d>
            <a:bevelT w="165100" prst="coolSlant"/>
          </a:sp3d>
        </p:spPr>
        <p:txBody>
          <a:bodyPr wrap="square" rtlCol="0">
            <a:spAutoFit/>
          </a:bodyPr>
          <a:lstStyle/>
          <a:p>
            <a:pPr algn="ctr"/>
            <a:r>
              <a:rPr lang="en-CH" sz="1600" b="1" dirty="0">
                <a:solidFill>
                  <a:schemeClr val="bg1"/>
                </a:solidFill>
                <a:latin typeface="Arial" panose="020B0604020202020204" pitchFamily="34" charset="0"/>
                <a:cs typeface="Arial" panose="020B0604020202020204" pitchFamily="34" charset="0"/>
              </a:rPr>
              <a:t>Accelerator Equipment</a:t>
            </a:r>
          </a:p>
        </p:txBody>
      </p:sp>
      <p:sp>
        <p:nvSpPr>
          <p:cNvPr id="11" name="Rounded Rectangle 10">
            <a:extLst>
              <a:ext uri="{FF2B5EF4-FFF2-40B4-BE49-F238E27FC236}">
                <a16:creationId xmlns:a16="http://schemas.microsoft.com/office/drawing/2014/main" id="{28F59923-1AA1-415B-9377-533A399D88BD}"/>
              </a:ext>
            </a:extLst>
          </p:cNvPr>
          <p:cNvSpPr/>
          <p:nvPr/>
        </p:nvSpPr>
        <p:spPr>
          <a:xfrm>
            <a:off x="642802" y="743729"/>
            <a:ext cx="10906391" cy="5658928"/>
          </a:xfrm>
          <a:prstGeom prst="round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dirty="0"/>
          </a:p>
        </p:txBody>
      </p:sp>
      <p:sp>
        <p:nvSpPr>
          <p:cNvPr id="12" name="TextBox 11">
            <a:extLst>
              <a:ext uri="{FF2B5EF4-FFF2-40B4-BE49-F238E27FC236}">
                <a16:creationId xmlns:a16="http://schemas.microsoft.com/office/drawing/2014/main" id="{7FC3B2F3-D39E-21C7-087A-55D446EE5DDC}"/>
              </a:ext>
            </a:extLst>
          </p:cNvPr>
          <p:cNvSpPr txBox="1"/>
          <p:nvPr/>
        </p:nvSpPr>
        <p:spPr>
          <a:xfrm>
            <a:off x="7653097" y="6114271"/>
            <a:ext cx="3200400" cy="276999"/>
          </a:xfrm>
          <a:prstGeom prst="rect">
            <a:avLst/>
          </a:prstGeom>
          <a:noFill/>
        </p:spPr>
        <p:txBody>
          <a:bodyPr wrap="square" rtlCol="0">
            <a:spAutoFit/>
          </a:bodyPr>
          <a:lstStyle/>
          <a:p>
            <a:r>
              <a:rPr lang="en-CH" sz="1200" dirty="0">
                <a:solidFill>
                  <a:srgbClr val="7030A0"/>
                </a:solidFill>
              </a:rPr>
              <a:t>CERN Gigabit Ethernet Technical Network (TN)</a:t>
            </a:r>
          </a:p>
        </p:txBody>
      </p:sp>
      <p:sp>
        <p:nvSpPr>
          <p:cNvPr id="13" name="TextBox 12">
            <a:extLst>
              <a:ext uri="{FF2B5EF4-FFF2-40B4-BE49-F238E27FC236}">
                <a16:creationId xmlns:a16="http://schemas.microsoft.com/office/drawing/2014/main" id="{739D121F-2950-C0DE-C696-B0D980E5F7D8}"/>
              </a:ext>
            </a:extLst>
          </p:cNvPr>
          <p:cNvSpPr txBox="1"/>
          <p:nvPr/>
        </p:nvSpPr>
        <p:spPr>
          <a:xfrm>
            <a:off x="1071331" y="4042177"/>
            <a:ext cx="1837427" cy="830997"/>
          </a:xfrm>
          <a:prstGeom prst="rect">
            <a:avLst/>
          </a:prstGeom>
          <a:solidFill>
            <a:srgbClr val="002060"/>
          </a:solidFill>
          <a:ln>
            <a:noFill/>
          </a:ln>
          <a:effectLst>
            <a:glow rad="63500">
              <a:schemeClr val="accent1">
                <a:satMod val="175000"/>
                <a:alpha val="40000"/>
              </a:schemeClr>
            </a:glow>
            <a:outerShdw blurRad="50800" dist="38100" dir="13500000" algn="br" rotWithShape="0">
              <a:prstClr val="black">
                <a:alpha val="40000"/>
              </a:prstClr>
            </a:outerShdw>
            <a:softEdge rad="12700"/>
          </a:effectLst>
          <a:scene3d>
            <a:camera prst="orthographicFront"/>
            <a:lightRig rig="threePt" dir="t"/>
          </a:scene3d>
          <a:sp3d>
            <a:bevelT w="165100" prst="coolSlant"/>
          </a:sp3d>
        </p:spPr>
        <p:txBody>
          <a:bodyPr wrap="square" rtlCol="0">
            <a:spAutoFit/>
          </a:bodyPr>
          <a:lstStyle/>
          <a:p>
            <a:pPr algn="ctr"/>
            <a:r>
              <a:rPr lang="en-CH" sz="1600" b="1" dirty="0">
                <a:solidFill>
                  <a:schemeClr val="bg1"/>
                </a:solidFill>
                <a:latin typeface="Arial" panose="020B0604020202020204" pitchFamily="34" charset="0"/>
                <a:cs typeface="Arial" panose="020B0604020202020204" pitchFamily="34" charset="0"/>
              </a:rPr>
              <a:t>Front-End Computers (FECs)</a:t>
            </a:r>
          </a:p>
        </p:txBody>
      </p:sp>
      <p:sp>
        <p:nvSpPr>
          <p:cNvPr id="14" name="TextBox 13">
            <a:extLst>
              <a:ext uri="{FF2B5EF4-FFF2-40B4-BE49-F238E27FC236}">
                <a16:creationId xmlns:a16="http://schemas.microsoft.com/office/drawing/2014/main" id="{44BE66AA-1828-D170-6941-A18E2AAE66B1}"/>
              </a:ext>
            </a:extLst>
          </p:cNvPr>
          <p:cNvSpPr txBox="1"/>
          <p:nvPr/>
        </p:nvSpPr>
        <p:spPr>
          <a:xfrm>
            <a:off x="1071330" y="2293975"/>
            <a:ext cx="1837427" cy="584775"/>
          </a:xfrm>
          <a:prstGeom prst="rect">
            <a:avLst/>
          </a:prstGeom>
          <a:solidFill>
            <a:srgbClr val="002060"/>
          </a:solidFill>
          <a:ln>
            <a:noFill/>
          </a:ln>
          <a:effectLst>
            <a:glow rad="63500">
              <a:schemeClr val="accent1">
                <a:satMod val="175000"/>
                <a:alpha val="40000"/>
              </a:schemeClr>
            </a:glow>
            <a:outerShdw blurRad="50800" dist="38100" dir="13500000" algn="br" rotWithShape="0">
              <a:prstClr val="black">
                <a:alpha val="40000"/>
              </a:prstClr>
            </a:outerShdw>
            <a:softEdge rad="12700"/>
          </a:effectLst>
          <a:scene3d>
            <a:camera prst="orthographicFront"/>
            <a:lightRig rig="threePt" dir="t"/>
          </a:scene3d>
          <a:sp3d>
            <a:bevelT w="165100" prst="coolSlant"/>
          </a:sp3d>
        </p:spPr>
        <p:txBody>
          <a:bodyPr wrap="square" rtlCol="0">
            <a:spAutoFit/>
          </a:bodyPr>
          <a:lstStyle/>
          <a:p>
            <a:pPr algn="ctr"/>
            <a:r>
              <a:rPr lang="en-CH" sz="1600" b="1" dirty="0">
                <a:solidFill>
                  <a:schemeClr val="bg1"/>
                </a:solidFill>
                <a:latin typeface="Arial" panose="020B0604020202020204" pitchFamily="34" charset="0"/>
                <a:cs typeface="Arial" panose="020B0604020202020204" pitchFamily="34" charset="0"/>
              </a:rPr>
              <a:t>Back-End Severs</a:t>
            </a:r>
          </a:p>
        </p:txBody>
      </p:sp>
      <p:sp>
        <p:nvSpPr>
          <p:cNvPr id="19" name="Up-down Arrow 18">
            <a:extLst>
              <a:ext uri="{FF2B5EF4-FFF2-40B4-BE49-F238E27FC236}">
                <a16:creationId xmlns:a16="http://schemas.microsoft.com/office/drawing/2014/main" id="{79225C5E-ACBE-0A4F-4D29-CF096A1F1280}"/>
              </a:ext>
            </a:extLst>
          </p:cNvPr>
          <p:cNvSpPr/>
          <p:nvPr/>
        </p:nvSpPr>
        <p:spPr>
          <a:xfrm>
            <a:off x="1860647" y="1850592"/>
            <a:ext cx="258792" cy="369332"/>
          </a:xfrm>
          <a:prstGeom prst="up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dirty="0"/>
          </a:p>
        </p:txBody>
      </p:sp>
      <p:sp>
        <p:nvSpPr>
          <p:cNvPr id="20" name="Up-down Arrow 19">
            <a:extLst>
              <a:ext uri="{FF2B5EF4-FFF2-40B4-BE49-F238E27FC236}">
                <a16:creationId xmlns:a16="http://schemas.microsoft.com/office/drawing/2014/main" id="{EC252540-BDCF-F69E-4787-11DBA2098C28}"/>
              </a:ext>
            </a:extLst>
          </p:cNvPr>
          <p:cNvSpPr/>
          <p:nvPr/>
        </p:nvSpPr>
        <p:spPr>
          <a:xfrm>
            <a:off x="1860647" y="5035142"/>
            <a:ext cx="258792" cy="369332"/>
          </a:xfrm>
          <a:prstGeom prst="up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34" name="TextBox 33">
            <a:extLst>
              <a:ext uri="{FF2B5EF4-FFF2-40B4-BE49-F238E27FC236}">
                <a16:creationId xmlns:a16="http://schemas.microsoft.com/office/drawing/2014/main" id="{2C7B5C0A-D09C-51B4-ABCD-E95A433373AA}"/>
              </a:ext>
            </a:extLst>
          </p:cNvPr>
          <p:cNvSpPr txBox="1"/>
          <p:nvPr/>
        </p:nvSpPr>
        <p:spPr>
          <a:xfrm>
            <a:off x="3546476" y="4042177"/>
            <a:ext cx="1837427" cy="830997"/>
          </a:xfrm>
          <a:prstGeom prst="rect">
            <a:avLst/>
          </a:prstGeom>
          <a:solidFill>
            <a:srgbClr val="002060"/>
          </a:solidFill>
          <a:ln>
            <a:noFill/>
          </a:ln>
          <a:effectLst>
            <a:glow rad="63500">
              <a:schemeClr val="accent1">
                <a:satMod val="175000"/>
                <a:alpha val="40000"/>
              </a:schemeClr>
            </a:glow>
            <a:outerShdw blurRad="50800" dist="38100" dir="13500000" algn="br" rotWithShape="0">
              <a:prstClr val="black">
                <a:alpha val="40000"/>
              </a:prstClr>
            </a:outerShdw>
            <a:softEdge rad="12700"/>
          </a:effectLst>
          <a:scene3d>
            <a:camera prst="orthographicFront"/>
            <a:lightRig rig="threePt" dir="t"/>
          </a:scene3d>
          <a:sp3d>
            <a:bevelT w="165100" prst="coolSlant"/>
          </a:sp3d>
        </p:spPr>
        <p:txBody>
          <a:bodyPr wrap="square" rtlCol="0">
            <a:spAutoFit/>
          </a:bodyPr>
          <a:lstStyle/>
          <a:p>
            <a:pPr algn="ctr"/>
            <a:r>
              <a:rPr lang="en-CH" sz="1600" b="1" dirty="0">
                <a:solidFill>
                  <a:schemeClr val="bg1"/>
                </a:solidFill>
                <a:latin typeface="Arial" panose="020B0604020202020204" pitchFamily="34" charset="0"/>
                <a:cs typeface="Arial" panose="020B0604020202020204" pitchFamily="34" charset="0"/>
              </a:rPr>
              <a:t>FESA classes</a:t>
            </a:r>
          </a:p>
          <a:p>
            <a:pPr algn="ctr"/>
            <a:r>
              <a:rPr lang="en-CH" sz="1600" b="1" dirty="0">
                <a:solidFill>
                  <a:schemeClr val="bg1"/>
                </a:solidFill>
                <a:latin typeface="Arial" panose="020B0604020202020204" pitchFamily="34" charset="0"/>
                <a:cs typeface="Arial" panose="020B0604020202020204" pitchFamily="34" charset="0"/>
              </a:rPr>
              <a:t>(Device-Property model)</a:t>
            </a:r>
          </a:p>
        </p:txBody>
      </p:sp>
      <p:sp>
        <p:nvSpPr>
          <p:cNvPr id="38" name="TextBox 37">
            <a:extLst>
              <a:ext uri="{FF2B5EF4-FFF2-40B4-BE49-F238E27FC236}">
                <a16:creationId xmlns:a16="http://schemas.microsoft.com/office/drawing/2014/main" id="{AF62D59E-9583-4C30-E56F-4D8968C125D2}"/>
              </a:ext>
            </a:extLst>
          </p:cNvPr>
          <p:cNvSpPr txBox="1"/>
          <p:nvPr/>
        </p:nvSpPr>
        <p:spPr>
          <a:xfrm>
            <a:off x="3546476" y="2432474"/>
            <a:ext cx="1837427" cy="338554"/>
          </a:xfrm>
          <a:prstGeom prst="rect">
            <a:avLst/>
          </a:prstGeom>
          <a:solidFill>
            <a:srgbClr val="002060"/>
          </a:solidFill>
          <a:ln>
            <a:noFill/>
          </a:ln>
          <a:effectLst>
            <a:glow rad="63500">
              <a:schemeClr val="accent1">
                <a:satMod val="175000"/>
                <a:alpha val="40000"/>
              </a:schemeClr>
            </a:glow>
            <a:outerShdw blurRad="50800" dist="38100" dir="13500000" algn="br" rotWithShape="0">
              <a:prstClr val="black">
                <a:alpha val="40000"/>
              </a:prstClr>
            </a:outerShdw>
            <a:softEdge rad="12700"/>
          </a:effectLst>
          <a:scene3d>
            <a:camera prst="orthographicFront"/>
            <a:lightRig rig="threePt" dir="t"/>
          </a:scene3d>
          <a:sp3d>
            <a:bevelT w="165100" prst="coolSlant"/>
          </a:sp3d>
        </p:spPr>
        <p:txBody>
          <a:bodyPr wrap="square" rtlCol="0">
            <a:spAutoFit/>
          </a:bodyPr>
          <a:lstStyle/>
          <a:p>
            <a:pPr algn="ctr"/>
            <a:r>
              <a:rPr lang="en-CH" sz="1600" b="1" dirty="0">
                <a:solidFill>
                  <a:schemeClr val="bg1"/>
                </a:solidFill>
                <a:latin typeface="Arial" panose="020B0604020202020204" pitchFamily="34" charset="0"/>
                <a:cs typeface="Arial" panose="020B0604020202020204" pitchFamily="34" charset="0"/>
              </a:rPr>
              <a:t>JAPC framework</a:t>
            </a:r>
          </a:p>
        </p:txBody>
      </p:sp>
      <p:sp>
        <p:nvSpPr>
          <p:cNvPr id="39" name="Up-down Arrow 38">
            <a:extLst>
              <a:ext uri="{FF2B5EF4-FFF2-40B4-BE49-F238E27FC236}">
                <a16:creationId xmlns:a16="http://schemas.microsoft.com/office/drawing/2014/main" id="{94B70511-8ABB-6D3F-A30B-008C27B718A3}"/>
              </a:ext>
            </a:extLst>
          </p:cNvPr>
          <p:cNvSpPr/>
          <p:nvPr/>
        </p:nvSpPr>
        <p:spPr>
          <a:xfrm rot="5400000">
            <a:off x="3074731" y="2432474"/>
            <a:ext cx="258792" cy="369332"/>
          </a:xfrm>
          <a:prstGeom prst="up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0" name="Up-down Arrow 39">
            <a:extLst>
              <a:ext uri="{FF2B5EF4-FFF2-40B4-BE49-F238E27FC236}">
                <a16:creationId xmlns:a16="http://schemas.microsoft.com/office/drawing/2014/main" id="{248CDEC2-F4B8-BA8A-EE91-40CAF06D3292}"/>
              </a:ext>
            </a:extLst>
          </p:cNvPr>
          <p:cNvSpPr/>
          <p:nvPr/>
        </p:nvSpPr>
        <p:spPr>
          <a:xfrm rot="5400000">
            <a:off x="3074732" y="4319176"/>
            <a:ext cx="258792" cy="369332"/>
          </a:xfrm>
          <a:prstGeom prst="up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41" name="TextBox 40">
            <a:extLst>
              <a:ext uri="{FF2B5EF4-FFF2-40B4-BE49-F238E27FC236}">
                <a16:creationId xmlns:a16="http://schemas.microsoft.com/office/drawing/2014/main" id="{C95F2354-2E4B-9127-F108-936B508AE5D5}"/>
              </a:ext>
            </a:extLst>
          </p:cNvPr>
          <p:cNvSpPr txBox="1"/>
          <p:nvPr/>
        </p:nvSpPr>
        <p:spPr>
          <a:xfrm>
            <a:off x="3544957" y="4967375"/>
            <a:ext cx="3126992" cy="830997"/>
          </a:xfrm>
          <a:prstGeom prst="rect">
            <a:avLst/>
          </a:prstGeom>
          <a:noFill/>
        </p:spPr>
        <p:txBody>
          <a:bodyPr wrap="square" rtlCol="0">
            <a:spAutoFit/>
          </a:bodyPr>
          <a:lstStyle/>
          <a:p>
            <a:r>
              <a:rPr lang="en-CH" sz="1200" b="1" dirty="0">
                <a:latin typeface="Arial" panose="020B0604020202020204" pitchFamily="34" charset="0"/>
                <a:cs typeface="Arial" panose="020B0604020202020204" pitchFamily="34" charset="0"/>
              </a:rPr>
              <a:t>device/property#field</a:t>
            </a:r>
          </a:p>
          <a:p>
            <a:r>
              <a:rPr lang="en-CH" sz="1200" dirty="0">
                <a:latin typeface="Arial" panose="020B0604020202020204" pitchFamily="34" charset="0"/>
                <a:cs typeface="Arial" panose="020B0604020202020204" pitchFamily="34" charset="0"/>
              </a:rPr>
              <a:t>e.g.: BR3.BWS.11V1/Scan#scanSelection</a:t>
            </a:r>
          </a:p>
          <a:p>
            <a:r>
              <a:rPr lang="en-US" sz="1200" dirty="0">
                <a:latin typeface="Arial" panose="020B0604020202020204" pitchFamily="34" charset="0"/>
                <a:cs typeface="Arial" panose="020B0604020202020204" pitchFamily="34" charset="0"/>
              </a:rPr>
              <a:t>Controls Configuration Data Editor</a:t>
            </a:r>
            <a:r>
              <a:rPr lang="en-CH" sz="1200" dirty="0">
                <a:latin typeface="Arial" panose="020B0604020202020204" pitchFamily="34" charset="0"/>
                <a:cs typeface="Arial" panose="020B0604020202020204" pitchFamily="34" charset="0"/>
              </a:rPr>
              <a:t>: </a:t>
            </a:r>
            <a:r>
              <a:rPr lang="en-CH" sz="1200" dirty="0">
                <a:latin typeface="Arial" panose="020B0604020202020204" pitchFamily="34" charset="0"/>
                <a:cs typeface="Arial" panose="020B0604020202020204" pitchFamily="34" charset="0"/>
                <a:hlinkClick r:id="rId3"/>
              </a:rPr>
              <a:t>ccde.cern.ch</a:t>
            </a:r>
            <a:endParaRPr lang="en-CH" sz="1200" dirty="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D42EB5C4-EF7F-7E76-35EF-ACA734317493}"/>
              </a:ext>
            </a:extLst>
          </p:cNvPr>
          <p:cNvSpPr txBox="1"/>
          <p:nvPr/>
        </p:nvSpPr>
        <p:spPr>
          <a:xfrm>
            <a:off x="6997528" y="1711155"/>
            <a:ext cx="4591792" cy="4616648"/>
          </a:xfrm>
          <a:prstGeom prst="rect">
            <a:avLst/>
          </a:prstGeom>
          <a:noFill/>
        </p:spPr>
        <p:txBody>
          <a:bodyPr wrap="square">
            <a:spAutoFit/>
          </a:bodyPr>
          <a:lstStyle/>
          <a:p>
            <a:pPr marL="285750" indent="-285750">
              <a:buFont typeface="Wingdings" pitchFamily="2" charset="2"/>
              <a:buChar char="§"/>
            </a:pPr>
            <a:endParaRPr lang="en-CH" sz="1400" dirty="0">
              <a:latin typeface="Arial" panose="020B0604020202020204" pitchFamily="34" charset="0"/>
              <a:cs typeface="Arial" panose="020B0604020202020204" pitchFamily="34" charset="0"/>
            </a:endParaRPr>
          </a:p>
          <a:p>
            <a:pPr marL="285750" indent="-285750">
              <a:buFont typeface="Wingdings" pitchFamily="2" charset="2"/>
              <a:buChar char="§"/>
            </a:pPr>
            <a:r>
              <a:rPr lang="en-CH" sz="1400" dirty="0">
                <a:latin typeface="Arial" panose="020B0604020202020204" pitchFamily="34" charset="0"/>
                <a:cs typeface="Arial" panose="020B0604020202020204" pitchFamily="34" charset="0"/>
                <a:hlinkClick r:id="rId4"/>
              </a:rPr>
              <a:t>LSA</a:t>
            </a:r>
            <a:r>
              <a:rPr lang="en-CH" sz="1400" dirty="0">
                <a:latin typeface="Arial" panose="020B0604020202020204" pitchFamily="34" charset="0"/>
                <a:cs typeface="Arial" panose="020B0604020202020204" pitchFamily="34" charset="0"/>
              </a:rPr>
              <a:t>/InCA: control system of the settings manag</a:t>
            </a:r>
            <a:r>
              <a:rPr lang="en-GB" sz="1400" dirty="0">
                <a:latin typeface="Arial" panose="020B0604020202020204" pitchFamily="34" charset="0"/>
                <a:cs typeface="Arial" panose="020B0604020202020204" pitchFamily="34" charset="0"/>
              </a:rPr>
              <a:t>e</a:t>
            </a:r>
            <a:r>
              <a:rPr lang="en-CH" sz="1400" dirty="0">
                <a:latin typeface="Arial" panose="020B0604020202020204" pitchFamily="34" charset="0"/>
                <a:cs typeface="Arial" panose="020B0604020202020204" pitchFamily="34" charset="0"/>
              </a:rPr>
              <a:t>ment </a:t>
            </a:r>
          </a:p>
          <a:p>
            <a:pPr marL="285750" indent="-285750">
              <a:buFont typeface="Wingdings" pitchFamily="2" charset="2"/>
              <a:buChar char="§"/>
            </a:pPr>
            <a:endParaRPr lang="en-CH" sz="1400" dirty="0">
              <a:latin typeface="Arial" panose="020B0604020202020204" pitchFamily="34" charset="0"/>
              <a:cs typeface="Arial" panose="020B0604020202020204" pitchFamily="34" charset="0"/>
            </a:endParaRPr>
          </a:p>
          <a:p>
            <a:pPr marL="285750" indent="-285750">
              <a:buFont typeface="Wingdings" pitchFamily="2" charset="2"/>
              <a:buChar char="§"/>
            </a:pPr>
            <a:endParaRPr lang="en-CH" sz="1400" dirty="0">
              <a:latin typeface="Arial" panose="020B0604020202020204" pitchFamily="34" charset="0"/>
              <a:cs typeface="Arial" panose="020B0604020202020204" pitchFamily="34" charset="0"/>
            </a:endParaRPr>
          </a:p>
          <a:p>
            <a:pPr marL="285750" indent="-285750">
              <a:buFont typeface="Wingdings" pitchFamily="2" charset="2"/>
              <a:buChar char="§"/>
            </a:pPr>
            <a:r>
              <a:rPr lang="en-CH" sz="1400" dirty="0">
                <a:latin typeface="Arial" panose="020B0604020202020204" pitchFamily="34" charset="0"/>
                <a:cs typeface="Arial" panose="020B0604020202020204" pitchFamily="34" charset="0"/>
              </a:rPr>
              <a:t>Cycle selector:</a:t>
            </a:r>
          </a:p>
          <a:p>
            <a:r>
              <a:rPr lang="en-CH" sz="1400" b="1" dirty="0">
                <a:latin typeface="Arial" panose="020B0604020202020204" pitchFamily="34" charset="0"/>
                <a:cs typeface="Arial" panose="020B0604020202020204" pitchFamily="34" charset="0"/>
              </a:rPr>
              <a:t>       machine.USER.user_name</a:t>
            </a:r>
          </a:p>
          <a:p>
            <a:r>
              <a:rPr lang="en-CH" sz="1400" dirty="0">
                <a:latin typeface="Arial" panose="020B0604020202020204" pitchFamily="34" charset="0"/>
                <a:cs typeface="Arial" panose="020B0604020202020204" pitchFamily="34" charset="0"/>
              </a:rPr>
              <a:t>       e.g..: PSB.USER.MD2</a:t>
            </a:r>
          </a:p>
          <a:p>
            <a:pPr marL="285750" indent="-285750">
              <a:buFont typeface="Wingdings" pitchFamily="2" charset="2"/>
              <a:buChar char="§"/>
            </a:pPr>
            <a:endParaRPr lang="en-CH" sz="1400" dirty="0">
              <a:latin typeface="Arial" panose="020B0604020202020204" pitchFamily="34" charset="0"/>
              <a:cs typeface="Arial" panose="020B0604020202020204" pitchFamily="34" charset="0"/>
            </a:endParaRPr>
          </a:p>
          <a:p>
            <a:pPr marL="285750" indent="-285750">
              <a:buFont typeface="Wingdings" pitchFamily="2" charset="2"/>
              <a:buChar char="§"/>
            </a:pPr>
            <a:endParaRPr lang="en-CH" sz="1400" dirty="0">
              <a:latin typeface="Arial" panose="020B0604020202020204" pitchFamily="34" charset="0"/>
              <a:cs typeface="Arial" panose="020B0604020202020204" pitchFamily="34" charset="0"/>
            </a:endParaRPr>
          </a:p>
          <a:p>
            <a:pPr marL="285750" indent="-285750">
              <a:buFont typeface="Wingdings" pitchFamily="2" charset="2"/>
              <a:buChar char="§"/>
            </a:pPr>
            <a:r>
              <a:rPr lang="en-CH" sz="1400" dirty="0">
                <a:latin typeface="Arial" panose="020B0604020202020204" pitchFamily="34" charset="0"/>
                <a:cs typeface="Arial" panose="020B0604020202020204" pitchFamily="34" charset="0"/>
              </a:rPr>
              <a:t>A cycle selector is mapped with a specific LSA user:</a:t>
            </a:r>
          </a:p>
          <a:p>
            <a:r>
              <a:rPr lang="en-CH" sz="1400" dirty="0">
                <a:latin typeface="Arial" panose="020B0604020202020204" pitchFamily="34" charset="0"/>
                <a:cs typeface="Arial" panose="020B0604020202020204" pitchFamily="34" charset="0"/>
              </a:rPr>
              <a:t>      e.g.: MD2 </a:t>
            </a:r>
            <a:r>
              <a:rPr lang="en-CH" sz="1400" dirty="0">
                <a:latin typeface="Arial" panose="020B0604020202020204" pitchFamily="34" charset="0"/>
                <a:cs typeface="Arial" panose="020B0604020202020204" pitchFamily="34" charset="0"/>
                <a:sym typeface="Wingdings" pitchFamily="2" charset="2"/>
              </a:rPr>
              <a:t>    </a:t>
            </a:r>
            <a:br>
              <a:rPr lang="en-CH" sz="1400" dirty="0">
                <a:latin typeface="Arial" panose="020B0604020202020204" pitchFamily="34" charset="0"/>
                <a:cs typeface="Arial" panose="020B0604020202020204" pitchFamily="34" charset="0"/>
                <a:sym typeface="Wingdings" pitchFamily="2" charset="2"/>
              </a:rPr>
            </a:br>
            <a:r>
              <a:rPr lang="en-CH" sz="1400" dirty="0">
                <a:latin typeface="Arial" panose="020B0604020202020204" pitchFamily="34" charset="0"/>
                <a:cs typeface="Arial" panose="020B0604020202020204" pitchFamily="34" charset="0"/>
                <a:sym typeface="Wingdings" pitchFamily="2" charset="2"/>
              </a:rPr>
              <a:t>              MDXXXX_EUROLABS_160MeV_2024</a:t>
            </a:r>
          </a:p>
          <a:p>
            <a:endParaRPr lang="en-CH" sz="1400" dirty="0">
              <a:latin typeface="Arial" panose="020B0604020202020204" pitchFamily="34" charset="0"/>
              <a:cs typeface="Arial" panose="020B0604020202020204" pitchFamily="34" charset="0"/>
              <a:sym typeface="Wingdings" pitchFamily="2" charset="2"/>
            </a:endParaRPr>
          </a:p>
          <a:p>
            <a:endParaRPr lang="en-CH" sz="1400" dirty="0">
              <a:latin typeface="Arial" panose="020B0604020202020204" pitchFamily="34" charset="0"/>
              <a:cs typeface="Arial" panose="020B0604020202020204" pitchFamily="34" charset="0"/>
              <a:sym typeface="Wingdings" pitchFamily="2" charset="2"/>
            </a:endParaRPr>
          </a:p>
          <a:p>
            <a:pPr marL="285750" indent="-285750">
              <a:buFont typeface="Wingdings" pitchFamily="2" charset="2"/>
              <a:buChar char="§"/>
            </a:pPr>
            <a:r>
              <a:rPr lang="en-CH" sz="1400" dirty="0">
                <a:latin typeface="Arial" panose="020B0604020202020204" pitchFamily="34" charset="0"/>
                <a:cs typeface="Arial" panose="020B0604020202020204" pitchFamily="34" charset="0"/>
                <a:sym typeface="Wingdings" pitchFamily="2" charset="2"/>
              </a:rPr>
              <a:t>CERN Accelerators Logging Service (</a:t>
            </a:r>
            <a:r>
              <a:rPr lang="en-CH" sz="1400" dirty="0">
                <a:latin typeface="Arial" panose="020B0604020202020204" pitchFamily="34" charset="0"/>
                <a:cs typeface="Arial" panose="020B0604020202020204" pitchFamily="34" charset="0"/>
                <a:sym typeface="Wingdings" pitchFamily="2" charset="2"/>
                <a:hlinkClick r:id="rId5"/>
              </a:rPr>
              <a:t>NXCALS</a:t>
            </a:r>
            <a:r>
              <a:rPr lang="en-CH" sz="1400" dirty="0">
                <a:latin typeface="Arial" panose="020B0604020202020204" pitchFamily="34" charset="0"/>
                <a:cs typeface="Arial" panose="020B0604020202020204" pitchFamily="34" charset="0"/>
                <a:sym typeface="Wingdings" pitchFamily="2" charset="2"/>
              </a:rPr>
              <a:t>), can be accessed from </a:t>
            </a:r>
            <a:r>
              <a:rPr lang="en-CH" sz="1400" dirty="0">
                <a:latin typeface="Arial" panose="020B0604020202020204" pitchFamily="34" charset="0"/>
                <a:cs typeface="Arial" panose="020B0604020202020204" pitchFamily="34" charset="0"/>
                <a:sym typeface="Wingdings" pitchFamily="2" charset="2"/>
                <a:hlinkClick r:id="rId6"/>
              </a:rPr>
              <a:t>SWAN</a:t>
            </a:r>
            <a:r>
              <a:rPr lang="en-CH" sz="1400" dirty="0">
                <a:latin typeface="Arial" panose="020B0604020202020204" pitchFamily="34" charset="0"/>
                <a:cs typeface="Arial" panose="020B0604020202020204" pitchFamily="34" charset="0"/>
                <a:sym typeface="Wingdings" pitchFamily="2" charset="2"/>
              </a:rPr>
              <a:t>, </a:t>
            </a:r>
            <a:r>
              <a:rPr lang="en-CH" sz="1400" dirty="0">
                <a:latin typeface="Arial" panose="020B0604020202020204" pitchFamily="34" charset="0"/>
                <a:cs typeface="Arial" panose="020B0604020202020204" pitchFamily="34" charset="0"/>
                <a:sym typeface="Wingdings" pitchFamily="2" charset="2"/>
                <a:hlinkClick r:id="rId7"/>
              </a:rPr>
              <a:t>Timber</a:t>
            </a:r>
            <a:r>
              <a:rPr lang="en-CH" sz="1400" dirty="0">
                <a:latin typeface="Arial" panose="020B0604020202020204" pitchFamily="34" charset="0"/>
                <a:cs typeface="Arial" panose="020B0604020202020204" pitchFamily="34" charset="0"/>
                <a:sym typeface="Wingdings" pitchFamily="2" charset="2"/>
              </a:rPr>
              <a:t>, etc.</a:t>
            </a:r>
          </a:p>
          <a:p>
            <a:endParaRPr lang="en-CH" sz="1400" dirty="0">
              <a:latin typeface="Arial" panose="020B0604020202020204" pitchFamily="34" charset="0"/>
              <a:cs typeface="Arial" panose="020B0604020202020204" pitchFamily="34" charset="0"/>
              <a:sym typeface="Wingdings" pitchFamily="2" charset="2"/>
            </a:endParaRPr>
          </a:p>
          <a:p>
            <a:endParaRPr lang="en-CH" sz="1400" dirty="0">
              <a:latin typeface="Arial" panose="020B0604020202020204" pitchFamily="34" charset="0"/>
              <a:cs typeface="Arial" panose="020B0604020202020204" pitchFamily="34" charset="0"/>
              <a:sym typeface="Wingdings" pitchFamily="2" charset="2"/>
            </a:endParaRPr>
          </a:p>
          <a:p>
            <a:endParaRPr lang="en-CH" sz="1400" dirty="0">
              <a:latin typeface="Arial" panose="020B0604020202020204" pitchFamily="34" charset="0"/>
              <a:cs typeface="Arial" panose="020B0604020202020204" pitchFamily="34" charset="0"/>
              <a:sym typeface="Wingdings" pitchFamily="2" charset="2"/>
            </a:endParaRPr>
          </a:p>
          <a:p>
            <a:pPr marL="285750" indent="-285750">
              <a:buFont typeface="Wingdings" pitchFamily="2" charset="2"/>
              <a:buChar char="§"/>
            </a:pPr>
            <a:endParaRPr lang="en-CH" sz="1400" dirty="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9D825B99-F003-8187-BD47-E124001806D7}"/>
              </a:ext>
            </a:extLst>
          </p:cNvPr>
          <p:cNvSpPr txBox="1"/>
          <p:nvPr/>
        </p:nvSpPr>
        <p:spPr>
          <a:xfrm>
            <a:off x="3497678" y="2808213"/>
            <a:ext cx="3126992" cy="830997"/>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Access of JAPC parameters: “set” or “get” interactions , “subscribe” to get notified when their value changes. </a:t>
            </a:r>
          </a:p>
          <a:p>
            <a:r>
              <a:rPr lang="en-US" sz="1200" dirty="0">
                <a:latin typeface="Arial" panose="020B0604020202020204" pitchFamily="34" charset="0"/>
                <a:cs typeface="Arial" panose="020B0604020202020204" pitchFamily="34" charset="0"/>
              </a:rPr>
              <a:t>See: </a:t>
            </a:r>
            <a:r>
              <a:rPr lang="en-US" sz="1200" dirty="0" err="1">
                <a:latin typeface="Arial" panose="020B0604020202020204" pitchFamily="34" charset="0"/>
                <a:cs typeface="Arial" panose="020B0604020202020204" pitchFamily="34" charset="0"/>
                <a:hlinkClick r:id="rId8"/>
              </a:rPr>
              <a:t>PyJAPC</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hlinkClick r:id="rId9"/>
              </a:rPr>
              <a:t>PyJAPCScout</a:t>
            </a:r>
            <a:endParaRPr lang="en-CH" sz="1200" dirty="0">
              <a:latin typeface="Arial" panose="020B0604020202020204" pitchFamily="34" charset="0"/>
              <a:cs typeface="Arial" panose="020B0604020202020204" pitchFamily="34" charset="0"/>
            </a:endParaRPr>
          </a:p>
        </p:txBody>
      </p:sp>
      <p:sp>
        <p:nvSpPr>
          <p:cNvPr id="46" name="Up-down Arrow 45">
            <a:extLst>
              <a:ext uri="{FF2B5EF4-FFF2-40B4-BE49-F238E27FC236}">
                <a16:creationId xmlns:a16="http://schemas.microsoft.com/office/drawing/2014/main" id="{8F8C2277-9C8E-0A95-38ED-433D4C4D7DFE}"/>
              </a:ext>
            </a:extLst>
          </p:cNvPr>
          <p:cNvSpPr/>
          <p:nvPr/>
        </p:nvSpPr>
        <p:spPr>
          <a:xfrm>
            <a:off x="1860647" y="3305722"/>
            <a:ext cx="258792" cy="369332"/>
          </a:xfrm>
          <a:prstGeom prst="upDown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dirty="0"/>
          </a:p>
        </p:txBody>
      </p:sp>
      <p:sp>
        <p:nvSpPr>
          <p:cNvPr id="47" name="Right Brace 46">
            <a:extLst>
              <a:ext uri="{FF2B5EF4-FFF2-40B4-BE49-F238E27FC236}">
                <a16:creationId xmlns:a16="http://schemas.microsoft.com/office/drawing/2014/main" id="{6A04C6DC-458D-FF06-27B2-E58395979461}"/>
              </a:ext>
            </a:extLst>
          </p:cNvPr>
          <p:cNvSpPr/>
          <p:nvPr/>
        </p:nvSpPr>
        <p:spPr>
          <a:xfrm>
            <a:off x="6477366" y="988727"/>
            <a:ext cx="520162" cy="5003321"/>
          </a:xfrm>
          <a:prstGeom prst="rightBrace">
            <a:avLst>
              <a:gd name="adj1" fmla="val 88553"/>
              <a:gd name="adj2" fmla="val 49310"/>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H"/>
          </a:p>
        </p:txBody>
      </p:sp>
      <p:sp>
        <p:nvSpPr>
          <p:cNvPr id="3" name="TextBox 2">
            <a:extLst>
              <a:ext uri="{FF2B5EF4-FFF2-40B4-BE49-F238E27FC236}">
                <a16:creationId xmlns:a16="http://schemas.microsoft.com/office/drawing/2014/main" id="{D1053822-C5B1-9D00-2E4C-9BF9FDA712FA}"/>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DE1B021-744E-A237-8782-0E4E4CB52095}"/>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7741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500"/>
                                        <p:tgtEl>
                                          <p:spTgt spid="4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500"/>
                                        <p:tgtEl>
                                          <p:spTgt spid="3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500"/>
                                        <p:tgtEl>
                                          <p:spTgt spid="3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fade">
                                      <p:cBhvr>
                                        <p:cTn id="46" dur="500"/>
                                        <p:tgtEl>
                                          <p:spTgt spid="4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500"/>
                                        <p:tgtEl>
                                          <p:spTgt spid="44"/>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animBg="1"/>
      <p:bldP spid="19" grpId="0" animBg="1"/>
      <p:bldP spid="20" grpId="0" animBg="1"/>
      <p:bldP spid="34" grpId="0" animBg="1"/>
      <p:bldP spid="38" grpId="0" animBg="1"/>
      <p:bldP spid="39" grpId="0" animBg="1"/>
      <p:bldP spid="40" grpId="0" animBg="1"/>
      <p:bldP spid="41" grpId="0"/>
      <p:bldP spid="44" grpId="0"/>
      <p:bldP spid="45" grpId="0"/>
      <p:bldP spid="46" grpId="0" animBg="1"/>
      <p:bldP spid="4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E690A-C06C-5C1E-5B07-600CE6074BA7}"/>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Control Systems</a:t>
            </a:r>
          </a:p>
        </p:txBody>
      </p:sp>
      <p:sp>
        <p:nvSpPr>
          <p:cNvPr id="5" name="Slide Number Placeholder 4">
            <a:extLst>
              <a:ext uri="{FF2B5EF4-FFF2-40B4-BE49-F238E27FC236}">
                <a16:creationId xmlns:a16="http://schemas.microsoft.com/office/drawing/2014/main" id="{6CAF9829-1108-E0D3-4EB3-656CDB19FBC6}"/>
              </a:ext>
            </a:extLst>
          </p:cNvPr>
          <p:cNvSpPr>
            <a:spLocks noGrp="1"/>
          </p:cNvSpPr>
          <p:nvPr>
            <p:ph type="sldNum" sz="quarter" idx="12"/>
          </p:nvPr>
        </p:nvSpPr>
        <p:spPr/>
        <p:txBody>
          <a:bodyPr/>
          <a:lstStyle/>
          <a:p>
            <a:r>
              <a:rPr lang="en-US" dirty="0"/>
              <a:t>6</a:t>
            </a:r>
            <a:endParaRPr lang="el-GR" dirty="0"/>
          </a:p>
        </p:txBody>
      </p:sp>
      <p:pic>
        <p:nvPicPr>
          <p:cNvPr id="6" name="Picture 5">
            <a:extLst>
              <a:ext uri="{FF2B5EF4-FFF2-40B4-BE49-F238E27FC236}">
                <a16:creationId xmlns:a16="http://schemas.microsoft.com/office/drawing/2014/main" id="{E7920555-4BB4-506E-33BC-391F70B93398}"/>
              </a:ext>
            </a:extLst>
          </p:cNvPr>
          <p:cNvPicPr>
            <a:picLocks noChangeAspect="1"/>
          </p:cNvPicPr>
          <p:nvPr/>
        </p:nvPicPr>
        <p:blipFill>
          <a:blip r:embed="rId2"/>
          <a:stretch>
            <a:fillRect/>
          </a:stretch>
        </p:blipFill>
        <p:spPr>
          <a:xfrm>
            <a:off x="4473738" y="732262"/>
            <a:ext cx="6610965" cy="6003985"/>
          </a:xfrm>
          <a:prstGeom prst="rect">
            <a:avLst/>
          </a:prstGeom>
        </p:spPr>
      </p:pic>
      <p:sp>
        <p:nvSpPr>
          <p:cNvPr id="7" name="TextBox 6">
            <a:extLst>
              <a:ext uri="{FF2B5EF4-FFF2-40B4-BE49-F238E27FC236}">
                <a16:creationId xmlns:a16="http://schemas.microsoft.com/office/drawing/2014/main" id="{C3D264CD-CF20-9171-CA44-A18491813A38}"/>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8C733223-979D-9D2F-994B-F5C583045666}"/>
              </a:ext>
            </a:extLst>
          </p:cNvPr>
          <p:cNvSpPr txBox="1"/>
          <p:nvPr/>
        </p:nvSpPr>
        <p:spPr>
          <a:xfrm>
            <a:off x="846153" y="2718591"/>
            <a:ext cx="2991367"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Data acquisition and monitoring scripts using python</a:t>
            </a:r>
            <a:endParaRPr lang="en-CH"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737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F3CBF-C174-6C62-A1B2-6CCE0EAD59B5}"/>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Measurements that we could try today</a:t>
            </a:r>
          </a:p>
        </p:txBody>
      </p:sp>
      <p:sp>
        <p:nvSpPr>
          <p:cNvPr id="5" name="Slide Number Placeholder 4">
            <a:extLst>
              <a:ext uri="{FF2B5EF4-FFF2-40B4-BE49-F238E27FC236}">
                <a16:creationId xmlns:a16="http://schemas.microsoft.com/office/drawing/2014/main" id="{8501CF7D-DB0E-DC0C-1F71-24A27A014EBC}"/>
              </a:ext>
            </a:extLst>
          </p:cNvPr>
          <p:cNvSpPr>
            <a:spLocks noGrp="1"/>
          </p:cNvSpPr>
          <p:nvPr>
            <p:ph type="sldNum" sz="quarter" idx="12"/>
          </p:nvPr>
        </p:nvSpPr>
        <p:spPr/>
        <p:txBody>
          <a:bodyPr/>
          <a:lstStyle/>
          <a:p>
            <a:r>
              <a:rPr lang="en-US" dirty="0"/>
              <a:t>7</a:t>
            </a:r>
            <a:endParaRPr lang="el-GR" dirty="0"/>
          </a:p>
        </p:txBody>
      </p:sp>
      <p:sp>
        <p:nvSpPr>
          <p:cNvPr id="6" name="TextBox 5">
            <a:extLst>
              <a:ext uri="{FF2B5EF4-FFF2-40B4-BE49-F238E27FC236}">
                <a16:creationId xmlns:a16="http://schemas.microsoft.com/office/drawing/2014/main" id="{D781DB65-112B-C51C-1C63-0F2C1F9363A9}"/>
              </a:ext>
            </a:extLst>
          </p:cNvPr>
          <p:cNvSpPr txBox="1"/>
          <p:nvPr/>
        </p:nvSpPr>
        <p:spPr>
          <a:xfrm>
            <a:off x="377057" y="961697"/>
            <a:ext cx="7497819" cy="5355312"/>
          </a:xfrm>
          <a:prstGeom prst="rect">
            <a:avLst/>
          </a:prstGeom>
          <a:noFill/>
        </p:spPr>
        <p:txBody>
          <a:bodyPr wrap="square" rtlCol="0">
            <a:spAutoFit/>
          </a:bodyPr>
          <a:lstStyle/>
          <a:p>
            <a:pPr marL="285750" indent="-285750">
              <a:buFont typeface="Wingdings" pitchFamily="2" charset="2"/>
              <a:buChar char="§"/>
            </a:pPr>
            <a:r>
              <a:rPr lang="en-CH" dirty="0">
                <a:latin typeface="Arial" panose="020B0604020202020204" pitchFamily="34" charset="0"/>
                <a:cs typeface="Arial" panose="020B0604020202020204" pitchFamily="34" charset="0"/>
              </a:rPr>
              <a:t>Beam parameter adjustments (intensity, emittance blow-up, energy spread). </a:t>
            </a:r>
          </a:p>
          <a:p>
            <a:pPr marL="285750" indent="-285750">
              <a:buFont typeface="Wingdings" pitchFamily="2" charset="2"/>
              <a:buChar char="§"/>
            </a:pPr>
            <a:endParaRPr lang="en-CH" dirty="0">
              <a:latin typeface="Arial" panose="020B0604020202020204" pitchFamily="34" charset="0"/>
              <a:cs typeface="Arial" panose="020B0604020202020204" pitchFamily="34" charset="0"/>
            </a:endParaRPr>
          </a:p>
          <a:p>
            <a:pPr marL="285750" indent="-285750">
              <a:buFont typeface="Wingdings" pitchFamily="2" charset="2"/>
              <a:buChar char="§"/>
            </a:pPr>
            <a:r>
              <a:rPr lang="en-CH" dirty="0">
                <a:latin typeface="Arial" panose="020B0604020202020204" pitchFamily="34" charset="0"/>
                <a:cs typeface="Arial" panose="020B0604020202020204" pitchFamily="34" charset="0"/>
              </a:rPr>
              <a:t>Betatron tune measurement and correction.</a:t>
            </a:r>
          </a:p>
          <a:p>
            <a:pPr marL="285750" indent="-285750">
              <a:buFont typeface="Wingdings" pitchFamily="2" charset="2"/>
              <a:buChar char="§"/>
            </a:pPr>
            <a:endParaRPr lang="en-CH" dirty="0">
              <a:latin typeface="Arial" panose="020B0604020202020204" pitchFamily="34" charset="0"/>
              <a:cs typeface="Arial" panose="020B0604020202020204" pitchFamily="34" charset="0"/>
            </a:endParaRPr>
          </a:p>
          <a:p>
            <a:pPr marL="285750" indent="-285750">
              <a:buFont typeface="Wingdings" pitchFamily="2" charset="2"/>
              <a:buChar char="§"/>
            </a:pPr>
            <a:r>
              <a:rPr lang="en-CH" dirty="0">
                <a:latin typeface="Arial" panose="020B0604020202020204" pitchFamily="34" charset="0"/>
                <a:cs typeface="Arial" panose="020B0604020202020204" pitchFamily="34" charset="0"/>
              </a:rPr>
              <a:t>Chromaticity measurement and correction. </a:t>
            </a:r>
          </a:p>
          <a:p>
            <a:pPr marL="285750" indent="-285750">
              <a:buFont typeface="Wingdings" pitchFamily="2" charset="2"/>
              <a:buChar char="§"/>
            </a:pPr>
            <a:endParaRPr lang="en-CH" dirty="0">
              <a:latin typeface="Arial" panose="020B0604020202020204" pitchFamily="34" charset="0"/>
              <a:cs typeface="Arial" panose="020B0604020202020204" pitchFamily="34" charset="0"/>
            </a:endParaRPr>
          </a:p>
          <a:p>
            <a:pPr marL="285750" indent="-285750">
              <a:buFont typeface="Wingdings" pitchFamily="2" charset="2"/>
              <a:buChar char="§"/>
            </a:pPr>
            <a:r>
              <a:rPr lang="en-CH" dirty="0">
                <a:latin typeface="Arial" panose="020B0604020202020204" pitchFamily="34" charset="0"/>
                <a:cs typeface="Arial" panose="020B0604020202020204" pitchFamily="34" charset="0"/>
              </a:rPr>
              <a:t>Transverse profiles measurement and emittance/brightness reconstruction. </a:t>
            </a:r>
          </a:p>
          <a:p>
            <a:pPr marL="285750" indent="-285750">
              <a:buFont typeface="Wingdings" pitchFamily="2" charset="2"/>
              <a:buChar char="§"/>
            </a:pPr>
            <a:endParaRPr lang="en-CH" dirty="0">
              <a:latin typeface="Arial" panose="020B0604020202020204" pitchFamily="34" charset="0"/>
              <a:cs typeface="Arial" panose="020B0604020202020204" pitchFamily="34" charset="0"/>
            </a:endParaRPr>
          </a:p>
          <a:p>
            <a:pPr marL="285750" indent="-285750">
              <a:buFont typeface="Wingdings" pitchFamily="2" charset="2"/>
              <a:buChar char="§"/>
            </a:pPr>
            <a:r>
              <a:rPr lang="en-CH" dirty="0">
                <a:latin typeface="Arial" panose="020B0604020202020204" pitchFamily="34" charset="0"/>
                <a:cs typeface="Arial" panose="020B0604020202020204" pitchFamily="34" charset="0"/>
              </a:rPr>
              <a:t>Closed orbit measurement and correction (?).</a:t>
            </a:r>
          </a:p>
          <a:p>
            <a:pPr marL="285750" indent="-285750">
              <a:buFont typeface="Wingdings" pitchFamily="2" charset="2"/>
              <a:buChar char="§"/>
            </a:pPr>
            <a:endParaRPr lang="en-CH" dirty="0">
              <a:latin typeface="Arial" panose="020B0604020202020204" pitchFamily="34" charset="0"/>
              <a:cs typeface="Arial" panose="020B0604020202020204" pitchFamily="34" charset="0"/>
            </a:endParaRPr>
          </a:p>
          <a:p>
            <a:pPr marL="285750" indent="-285750">
              <a:buFont typeface="Wingdings" pitchFamily="2" charset="2"/>
              <a:buChar char="§"/>
            </a:pPr>
            <a:r>
              <a:rPr lang="en-CH" dirty="0">
                <a:latin typeface="Arial" panose="020B0604020202020204" pitchFamily="34" charset="0"/>
                <a:cs typeface="Arial" panose="020B0604020202020204" pitchFamily="34" charset="0"/>
              </a:rPr>
              <a:t>Resonance crossing and compensation.  </a:t>
            </a:r>
          </a:p>
          <a:p>
            <a:endParaRPr lang="en-CH" dirty="0">
              <a:latin typeface="Arial" panose="020B0604020202020204" pitchFamily="34" charset="0"/>
              <a:cs typeface="Arial" panose="020B0604020202020204" pitchFamily="34" charset="0"/>
            </a:endParaRPr>
          </a:p>
          <a:p>
            <a:pPr marL="285750" indent="-285750">
              <a:buFont typeface="Wingdings" pitchFamily="2" charset="2"/>
              <a:buChar char="§"/>
            </a:pPr>
            <a:r>
              <a:rPr lang="en-CH" dirty="0">
                <a:latin typeface="Arial" panose="020B0604020202020204" pitchFamily="34" charset="0"/>
                <a:cs typeface="Arial" panose="020B0604020202020204" pitchFamily="34" charset="0"/>
              </a:rPr>
              <a:t>Beta-beating measurement and correction. </a:t>
            </a:r>
          </a:p>
          <a:p>
            <a:pPr marL="285750" indent="-285750">
              <a:buFont typeface="Wingdings" pitchFamily="2" charset="2"/>
              <a:buChar char="§"/>
            </a:pPr>
            <a:endParaRPr lang="en-CH" dirty="0">
              <a:latin typeface="Arial" panose="020B0604020202020204" pitchFamily="34" charset="0"/>
              <a:cs typeface="Arial" panose="020B0604020202020204" pitchFamily="34" charset="0"/>
            </a:endParaRPr>
          </a:p>
          <a:p>
            <a:pPr marL="285750" indent="-285750">
              <a:buFont typeface="Wingdings" pitchFamily="2" charset="2"/>
              <a:buChar char="§"/>
            </a:pPr>
            <a:r>
              <a:rPr lang="en-CH" dirty="0">
                <a:latin typeface="Arial" panose="020B0604020202020204" pitchFamily="34" charset="0"/>
                <a:cs typeface="Arial" panose="020B0604020202020204" pitchFamily="34" charset="0"/>
              </a:rPr>
              <a:t>Instabilites (?).</a:t>
            </a:r>
          </a:p>
          <a:p>
            <a:endParaRPr lang="en-CH" dirty="0">
              <a:latin typeface="Arial" panose="020B0604020202020204" pitchFamily="34" charset="0"/>
              <a:cs typeface="Arial" panose="020B0604020202020204" pitchFamily="34" charset="0"/>
            </a:endParaRPr>
          </a:p>
          <a:p>
            <a:pPr marL="285750" indent="-285750">
              <a:buFont typeface="Wingdings" pitchFamily="2" charset="2"/>
              <a:buChar char="§"/>
            </a:pPr>
            <a:r>
              <a:rPr lang="en-CH" dirty="0">
                <a:latin typeface="Arial" panose="020B0604020202020204" pitchFamily="34" charset="0"/>
                <a:cs typeface="Arial" panose="020B0604020202020204" pitchFamily="34" charset="0"/>
              </a:rPr>
              <a:t>Other ideas?</a:t>
            </a:r>
          </a:p>
        </p:txBody>
      </p:sp>
      <p:sp>
        <p:nvSpPr>
          <p:cNvPr id="3" name="Oval Callout 2">
            <a:extLst>
              <a:ext uri="{FF2B5EF4-FFF2-40B4-BE49-F238E27FC236}">
                <a16:creationId xmlns:a16="http://schemas.microsoft.com/office/drawing/2014/main" id="{942F7BAF-8DA4-DD96-3FE4-7B2E808A1A9A}"/>
              </a:ext>
            </a:extLst>
          </p:cNvPr>
          <p:cNvSpPr/>
          <p:nvPr/>
        </p:nvSpPr>
        <p:spPr>
          <a:xfrm>
            <a:off x="8157343" y="1277007"/>
            <a:ext cx="3657600" cy="1442545"/>
          </a:xfrm>
          <a:prstGeom prst="wedgeEllipseCallou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sz="1600" dirty="0">
                <a:solidFill>
                  <a:schemeClr val="tx1"/>
                </a:solidFill>
                <a:latin typeface="Arial" panose="020B0604020202020204" pitchFamily="34" charset="0"/>
                <a:cs typeface="Arial" panose="020B0604020202020204" pitchFamily="34" charset="0"/>
              </a:rPr>
              <a:t>In principle, we should avoid having high losses at high energy, </a:t>
            </a:r>
            <a:r>
              <a:rPr lang="en-CH" sz="1600" b="1" dirty="0">
                <a:solidFill>
                  <a:schemeClr val="tx1"/>
                </a:solidFill>
                <a:latin typeface="Arial" panose="020B0604020202020204" pitchFamily="34" charset="0"/>
                <a:cs typeface="Arial" panose="020B0604020202020204" pitchFamily="34" charset="0"/>
              </a:rPr>
              <a:t>mind the beam intensity</a:t>
            </a:r>
            <a:r>
              <a:rPr lang="en-CH" sz="1600" dirty="0">
                <a:solidFill>
                  <a:schemeClr val="tx1"/>
                </a:solidFill>
                <a:latin typeface="Arial" panose="020B0604020202020204" pitchFamily="34" charset="0"/>
                <a:cs typeface="Arial" panose="020B0604020202020204" pitchFamily="34" charset="0"/>
              </a:rPr>
              <a:t>.</a:t>
            </a:r>
          </a:p>
        </p:txBody>
      </p:sp>
      <p:sp>
        <p:nvSpPr>
          <p:cNvPr id="7" name="Oval Callout 6">
            <a:extLst>
              <a:ext uri="{FF2B5EF4-FFF2-40B4-BE49-F238E27FC236}">
                <a16:creationId xmlns:a16="http://schemas.microsoft.com/office/drawing/2014/main" id="{7B5528D1-DCD1-0718-75DC-40545C90C30A}"/>
              </a:ext>
            </a:extLst>
          </p:cNvPr>
          <p:cNvSpPr/>
          <p:nvPr/>
        </p:nvSpPr>
        <p:spPr>
          <a:xfrm>
            <a:off x="6033236" y="3639353"/>
            <a:ext cx="5218571" cy="1860393"/>
          </a:xfrm>
          <a:prstGeom prst="wedgeEllipseCallou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dirty="0">
                <a:solidFill>
                  <a:schemeClr val="tx1"/>
                </a:solidFill>
                <a:latin typeface="Arial" panose="020B0604020202020204" pitchFamily="34" charset="0"/>
                <a:cs typeface="Arial" panose="020B0604020202020204" pitchFamily="34" charset="0"/>
              </a:rPr>
              <a:t>With the non-accelerating flat bottom (160 MeV) cycle have more flexibility (unbunched beam, less dangerous for accelerator, etc.)</a:t>
            </a:r>
          </a:p>
        </p:txBody>
      </p:sp>
      <p:sp>
        <p:nvSpPr>
          <p:cNvPr id="4" name="TextBox 3">
            <a:extLst>
              <a:ext uri="{FF2B5EF4-FFF2-40B4-BE49-F238E27FC236}">
                <a16:creationId xmlns:a16="http://schemas.microsoft.com/office/drawing/2014/main" id="{66EAE9C9-46A4-3F64-855D-BA6F05CE537D}"/>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7148A47-4F3F-DEB7-9C4D-146EE971C5DF}"/>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8314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9C972-BE70-8060-EC57-F842736695F3}"/>
              </a:ext>
            </a:extLst>
          </p:cNvPr>
          <p:cNvSpPr>
            <a:spLocks noGrp="1"/>
          </p:cNvSpPr>
          <p:nvPr>
            <p:ph type="title"/>
          </p:nvPr>
        </p:nvSpPr>
        <p:spPr/>
        <p:txBody>
          <a:bodyPr/>
          <a:lstStyle/>
          <a:p>
            <a:r>
              <a:rPr lang="en-CH" dirty="0">
                <a:latin typeface="Arial" panose="020B0604020202020204" pitchFamily="34" charset="0"/>
                <a:cs typeface="Arial" panose="020B0604020202020204" pitchFamily="34" charset="0"/>
              </a:rPr>
              <a:t>Measurements</a:t>
            </a:r>
          </a:p>
        </p:txBody>
      </p:sp>
      <p:sp>
        <p:nvSpPr>
          <p:cNvPr id="3" name="Text Placeholder 2">
            <a:extLst>
              <a:ext uri="{FF2B5EF4-FFF2-40B4-BE49-F238E27FC236}">
                <a16:creationId xmlns:a16="http://schemas.microsoft.com/office/drawing/2014/main" id="{425FED6E-39B9-5638-5BA6-6A1210E37203}"/>
              </a:ext>
            </a:extLst>
          </p:cNvPr>
          <p:cNvSpPr>
            <a:spLocks noGrp="1"/>
          </p:cNvSpPr>
          <p:nvPr>
            <p:ph type="body" idx="1"/>
          </p:nvPr>
        </p:nvSpPr>
        <p:spPr/>
        <p:txBody>
          <a:bodyPr/>
          <a:lstStyle/>
          <a:p>
            <a:endParaRPr lang="en-CH"/>
          </a:p>
        </p:txBody>
      </p:sp>
      <p:sp>
        <p:nvSpPr>
          <p:cNvPr id="4" name="Slide Number Placeholder 3">
            <a:extLst>
              <a:ext uri="{FF2B5EF4-FFF2-40B4-BE49-F238E27FC236}">
                <a16:creationId xmlns:a16="http://schemas.microsoft.com/office/drawing/2014/main" id="{CAF06862-555A-D562-95B1-AD89EFD15486}"/>
              </a:ext>
            </a:extLst>
          </p:cNvPr>
          <p:cNvSpPr>
            <a:spLocks noGrp="1"/>
          </p:cNvSpPr>
          <p:nvPr>
            <p:ph type="sldNum" sz="quarter" idx="12"/>
          </p:nvPr>
        </p:nvSpPr>
        <p:spPr/>
        <p:txBody>
          <a:bodyPr/>
          <a:lstStyle/>
          <a:p>
            <a:fld id="{A8ED8B99-2640-4528-BE06-488F2B48F17D}" type="slidenum">
              <a:rPr lang="el-GR" smtClean="0"/>
              <a:t>24</a:t>
            </a:fld>
            <a:endParaRPr lang="el-GR"/>
          </a:p>
        </p:txBody>
      </p:sp>
    </p:spTree>
    <p:extLst>
      <p:ext uri="{BB962C8B-B14F-4D97-AF65-F5344CB8AC3E}">
        <p14:creationId xmlns:p14="http://schemas.microsoft.com/office/powerpoint/2010/main" val="2778090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8B702FC-5738-418B-841F-FAB933FB0F03}"/>
                  </a:ext>
                </a:extLst>
              </p:cNvPr>
              <p:cNvSpPr>
                <a:spLocks noGrp="1"/>
              </p:cNvSpPr>
              <p:nvPr>
                <p:ph type="title"/>
              </p:nvPr>
            </p:nvSpPr>
            <p:spPr/>
            <p:txBody>
              <a:bodyPr>
                <a:normAutofit fontScale="90000"/>
              </a:bodyPr>
              <a:lstStyle/>
              <a:p>
                <a:r>
                  <a:rPr lang="en-US" dirty="0">
                    <a:latin typeface="Arial" panose="020B0604020202020204" pitchFamily="34" charset="0"/>
                    <a:cs typeface="Arial" panose="020B0604020202020204" pitchFamily="34" charset="0"/>
                  </a:rPr>
                  <a:t>PSB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m:t>
                        </m:r>
                      </m:sup>
                    </m:sSup>
                  </m:oMath>
                </a14:m>
                <a:r>
                  <a:rPr lang="en-US" dirty="0">
                    <a:latin typeface="Arial" panose="020B0604020202020204" pitchFamily="34" charset="0"/>
                    <a:cs typeface="Arial" panose="020B0604020202020204" pitchFamily="34" charset="0"/>
                  </a:rPr>
                  <a:t> Charge Exchange Injection System</a:t>
                </a:r>
              </a:p>
            </p:txBody>
          </p:sp>
        </mc:Choice>
        <mc:Fallback xmlns="">
          <p:sp>
            <p:nvSpPr>
              <p:cNvPr id="2" name="Title 1">
                <a:extLst>
                  <a:ext uri="{FF2B5EF4-FFF2-40B4-BE49-F238E27FC236}">
                    <a16:creationId xmlns:a16="http://schemas.microsoft.com/office/drawing/2014/main" id="{68B702FC-5738-418B-841F-FAB933FB0F03}"/>
                  </a:ext>
                </a:extLst>
              </p:cNvPr>
              <p:cNvSpPr>
                <a:spLocks noGrp="1" noRot="1" noChangeAspect="1" noMove="1" noResize="1" noEditPoints="1" noAdjustHandles="1" noChangeArrowheads="1" noChangeShapeType="1" noTextEdit="1"/>
              </p:cNvSpPr>
              <p:nvPr>
                <p:ph type="title"/>
              </p:nvPr>
            </p:nvSpPr>
            <p:spPr>
              <a:blipFill>
                <a:blip r:embed="rId2"/>
                <a:stretch>
                  <a:fillRect t="-40909" b="-54545"/>
                </a:stretch>
              </a:blipFill>
            </p:spPr>
            <p:txBody>
              <a:bodyPr/>
              <a:lstStyle/>
              <a:p>
                <a:r>
                  <a:rPr lang="en-CH">
                    <a:noFill/>
                  </a:rPr>
                  <a:t> </a:t>
                </a:r>
              </a:p>
            </p:txBody>
          </p:sp>
        </mc:Fallback>
      </mc:AlternateContent>
      <p:sp>
        <p:nvSpPr>
          <p:cNvPr id="5" name="Slide Number Placeholder 4">
            <a:extLst>
              <a:ext uri="{FF2B5EF4-FFF2-40B4-BE49-F238E27FC236}">
                <a16:creationId xmlns:a16="http://schemas.microsoft.com/office/drawing/2014/main" id="{DECED4B4-81A7-43D1-9D78-39273DAC4964}"/>
              </a:ext>
            </a:extLst>
          </p:cNvPr>
          <p:cNvSpPr>
            <a:spLocks noGrp="1"/>
          </p:cNvSpPr>
          <p:nvPr>
            <p:ph type="sldNum" sz="quarter" idx="12"/>
          </p:nvPr>
        </p:nvSpPr>
        <p:spPr/>
        <p:txBody>
          <a:bodyPr/>
          <a:lstStyle/>
          <a:p>
            <a:r>
              <a:rPr lang="en-US" dirty="0"/>
              <a:t>8</a:t>
            </a:r>
            <a:endParaRPr lang="el-GR" dirty="0"/>
          </a:p>
        </p:txBody>
      </p:sp>
      <p:pic>
        <p:nvPicPr>
          <p:cNvPr id="10" name="Picture 9">
            <a:extLst>
              <a:ext uri="{FF2B5EF4-FFF2-40B4-BE49-F238E27FC236}">
                <a16:creationId xmlns:a16="http://schemas.microsoft.com/office/drawing/2014/main" id="{04A33880-F7C8-455E-807C-92236CA8B38A}"/>
              </a:ext>
            </a:extLst>
          </p:cNvPr>
          <p:cNvPicPr>
            <a:picLocks noChangeAspect="1"/>
          </p:cNvPicPr>
          <p:nvPr/>
        </p:nvPicPr>
        <p:blipFill>
          <a:blip r:embed="rId3"/>
          <a:stretch>
            <a:fillRect/>
          </a:stretch>
        </p:blipFill>
        <p:spPr>
          <a:xfrm>
            <a:off x="0" y="548637"/>
            <a:ext cx="5780314" cy="5964635"/>
          </a:xfrm>
          <a:prstGeom prst="rect">
            <a:avLst/>
          </a:prstGeom>
        </p:spPr>
      </p:pic>
      <p:sp>
        <p:nvSpPr>
          <p:cNvPr id="11" name="TextBox 10">
            <a:extLst>
              <a:ext uri="{FF2B5EF4-FFF2-40B4-BE49-F238E27FC236}">
                <a16:creationId xmlns:a16="http://schemas.microsoft.com/office/drawing/2014/main" id="{69101CFE-3F4A-4862-B414-8640755841CC}"/>
              </a:ext>
            </a:extLst>
          </p:cNvPr>
          <p:cNvSpPr txBox="1"/>
          <p:nvPr/>
        </p:nvSpPr>
        <p:spPr>
          <a:xfrm>
            <a:off x="5998428" y="3825482"/>
            <a:ext cx="6150027" cy="1015663"/>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Injection</a:t>
            </a:r>
            <a:r>
              <a:rPr lang="el-GR"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beam orbit bump by</a:t>
            </a:r>
            <a:r>
              <a:rPr lang="el-GR"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4 phase space painting kicker magnets (KSW)</a:t>
            </a:r>
          </a:p>
        </p:txBody>
      </p:sp>
      <p:sp>
        <p:nvSpPr>
          <p:cNvPr id="9" name="Rectangle 8">
            <a:extLst>
              <a:ext uri="{FF2B5EF4-FFF2-40B4-BE49-F238E27FC236}">
                <a16:creationId xmlns:a16="http://schemas.microsoft.com/office/drawing/2014/main" id="{FFFE20C2-7403-4D86-9F94-E446582A71E0}"/>
              </a:ext>
            </a:extLst>
          </p:cNvPr>
          <p:cNvSpPr/>
          <p:nvPr/>
        </p:nvSpPr>
        <p:spPr>
          <a:xfrm>
            <a:off x="3708888" y="2936631"/>
            <a:ext cx="265235"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4ECD86B-9D43-41BE-A3E2-C7C9A12189FC}"/>
              </a:ext>
            </a:extLst>
          </p:cNvPr>
          <p:cNvSpPr/>
          <p:nvPr/>
        </p:nvSpPr>
        <p:spPr>
          <a:xfrm>
            <a:off x="4284784" y="2936630"/>
            <a:ext cx="265235"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E033A9-7B51-41F5-9793-078A57AC93F4}"/>
              </a:ext>
            </a:extLst>
          </p:cNvPr>
          <p:cNvSpPr/>
          <p:nvPr/>
        </p:nvSpPr>
        <p:spPr>
          <a:xfrm>
            <a:off x="1799123" y="2912420"/>
            <a:ext cx="245454"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BEC1F36-EE11-442C-96A6-7241337CBA23}"/>
              </a:ext>
            </a:extLst>
          </p:cNvPr>
          <p:cNvSpPr/>
          <p:nvPr/>
        </p:nvSpPr>
        <p:spPr>
          <a:xfrm>
            <a:off x="2507272" y="2918264"/>
            <a:ext cx="265235"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74F842F-0F19-4AE4-AA0C-86D4594B3FE3}"/>
              </a:ext>
            </a:extLst>
          </p:cNvPr>
          <p:cNvSpPr/>
          <p:nvPr/>
        </p:nvSpPr>
        <p:spPr>
          <a:xfrm>
            <a:off x="109057" y="2835479"/>
            <a:ext cx="5780314" cy="37538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FACEF3B-AE04-2241-DF5A-E6B999AEB991}"/>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77A938E-8846-0BFE-2AE3-FAA318155458}"/>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6980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8B702FC-5738-418B-841F-FAB933FB0F03}"/>
                  </a:ext>
                </a:extLst>
              </p:cNvPr>
              <p:cNvSpPr>
                <a:spLocks noGrp="1"/>
              </p:cNvSpPr>
              <p:nvPr>
                <p:ph type="title"/>
              </p:nvPr>
            </p:nvSpPr>
            <p:spPr/>
            <p:txBody>
              <a:bodyPr>
                <a:normAutofit fontScale="90000"/>
              </a:bodyPr>
              <a:lstStyle/>
              <a:p>
                <a:r>
                  <a:rPr lang="en-US" dirty="0">
                    <a:latin typeface="Arial" panose="020B0604020202020204" pitchFamily="34" charset="0"/>
                    <a:cs typeface="Arial" panose="020B0604020202020204" pitchFamily="34" charset="0"/>
                  </a:rPr>
                  <a:t>PSB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m:t>
                        </m:r>
                      </m:sup>
                    </m:sSup>
                  </m:oMath>
                </a14:m>
                <a:r>
                  <a:rPr lang="en-US" dirty="0">
                    <a:latin typeface="Arial" panose="020B0604020202020204" pitchFamily="34" charset="0"/>
                    <a:cs typeface="Arial" panose="020B0604020202020204" pitchFamily="34" charset="0"/>
                  </a:rPr>
                  <a:t> Charge Exchange Injection System</a:t>
                </a:r>
              </a:p>
            </p:txBody>
          </p:sp>
        </mc:Choice>
        <mc:Fallback xmlns="">
          <p:sp>
            <p:nvSpPr>
              <p:cNvPr id="2" name="Title 1">
                <a:extLst>
                  <a:ext uri="{FF2B5EF4-FFF2-40B4-BE49-F238E27FC236}">
                    <a16:creationId xmlns:a16="http://schemas.microsoft.com/office/drawing/2014/main" id="{68B702FC-5738-418B-841F-FAB933FB0F03}"/>
                  </a:ext>
                </a:extLst>
              </p:cNvPr>
              <p:cNvSpPr>
                <a:spLocks noGrp="1" noRot="1" noChangeAspect="1" noMove="1" noResize="1" noEditPoints="1" noAdjustHandles="1" noChangeArrowheads="1" noChangeShapeType="1" noTextEdit="1"/>
              </p:cNvSpPr>
              <p:nvPr>
                <p:ph type="title"/>
              </p:nvPr>
            </p:nvSpPr>
            <p:spPr>
              <a:blipFill>
                <a:blip r:embed="rId2"/>
                <a:stretch>
                  <a:fillRect t="-40909" b="-54545"/>
                </a:stretch>
              </a:blipFill>
            </p:spPr>
            <p:txBody>
              <a:bodyPr/>
              <a:lstStyle/>
              <a:p>
                <a:r>
                  <a:rPr lang="en-CH">
                    <a:noFill/>
                  </a:rPr>
                  <a:t> </a:t>
                </a:r>
              </a:p>
            </p:txBody>
          </p:sp>
        </mc:Fallback>
      </mc:AlternateContent>
      <p:sp>
        <p:nvSpPr>
          <p:cNvPr id="5" name="Slide Number Placeholder 4">
            <a:extLst>
              <a:ext uri="{FF2B5EF4-FFF2-40B4-BE49-F238E27FC236}">
                <a16:creationId xmlns:a16="http://schemas.microsoft.com/office/drawing/2014/main" id="{DECED4B4-81A7-43D1-9D78-39273DAC4964}"/>
              </a:ext>
            </a:extLst>
          </p:cNvPr>
          <p:cNvSpPr>
            <a:spLocks noGrp="1"/>
          </p:cNvSpPr>
          <p:nvPr>
            <p:ph type="sldNum" sz="quarter" idx="12"/>
          </p:nvPr>
        </p:nvSpPr>
        <p:spPr/>
        <p:txBody>
          <a:bodyPr/>
          <a:lstStyle/>
          <a:p>
            <a:r>
              <a:rPr lang="en-US" dirty="0"/>
              <a:t>8</a:t>
            </a:r>
            <a:endParaRPr lang="el-GR" dirty="0"/>
          </a:p>
        </p:txBody>
      </p:sp>
      <p:sp>
        <p:nvSpPr>
          <p:cNvPr id="11" name="TextBox 10">
            <a:extLst>
              <a:ext uri="{FF2B5EF4-FFF2-40B4-BE49-F238E27FC236}">
                <a16:creationId xmlns:a16="http://schemas.microsoft.com/office/drawing/2014/main" id="{69101CFE-3F4A-4862-B414-8640755841CC}"/>
              </a:ext>
            </a:extLst>
          </p:cNvPr>
          <p:cNvSpPr txBox="1"/>
          <p:nvPr/>
        </p:nvSpPr>
        <p:spPr>
          <a:xfrm>
            <a:off x="5998428" y="3825482"/>
            <a:ext cx="6150027" cy="1015663"/>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Injection</a:t>
            </a:r>
            <a:r>
              <a:rPr lang="el-GR"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beam orbit bump by</a:t>
            </a:r>
            <a:r>
              <a:rPr lang="el-GR"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4 phase space painting kicker magnets (KSW)</a:t>
            </a:r>
          </a:p>
        </p:txBody>
      </p:sp>
      <p:sp>
        <p:nvSpPr>
          <p:cNvPr id="9" name="Rectangle 8">
            <a:extLst>
              <a:ext uri="{FF2B5EF4-FFF2-40B4-BE49-F238E27FC236}">
                <a16:creationId xmlns:a16="http://schemas.microsoft.com/office/drawing/2014/main" id="{FFFE20C2-7403-4D86-9F94-E446582A71E0}"/>
              </a:ext>
            </a:extLst>
          </p:cNvPr>
          <p:cNvSpPr/>
          <p:nvPr/>
        </p:nvSpPr>
        <p:spPr>
          <a:xfrm>
            <a:off x="3708888" y="2936631"/>
            <a:ext cx="265235"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4ECD86B-9D43-41BE-A3E2-C7C9A12189FC}"/>
              </a:ext>
            </a:extLst>
          </p:cNvPr>
          <p:cNvSpPr/>
          <p:nvPr/>
        </p:nvSpPr>
        <p:spPr>
          <a:xfrm>
            <a:off x="4284784" y="2936630"/>
            <a:ext cx="265235"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E033A9-7B51-41F5-9793-078A57AC93F4}"/>
              </a:ext>
            </a:extLst>
          </p:cNvPr>
          <p:cNvSpPr/>
          <p:nvPr/>
        </p:nvSpPr>
        <p:spPr>
          <a:xfrm>
            <a:off x="1799123" y="2912420"/>
            <a:ext cx="245454"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BEC1F36-EE11-442C-96A6-7241337CBA23}"/>
              </a:ext>
            </a:extLst>
          </p:cNvPr>
          <p:cNvSpPr/>
          <p:nvPr/>
        </p:nvSpPr>
        <p:spPr>
          <a:xfrm>
            <a:off x="2507272" y="2918264"/>
            <a:ext cx="265235"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74F842F-0F19-4AE4-AA0C-86D4594B3FE3}"/>
              </a:ext>
            </a:extLst>
          </p:cNvPr>
          <p:cNvSpPr/>
          <p:nvPr/>
        </p:nvSpPr>
        <p:spPr>
          <a:xfrm>
            <a:off x="109057" y="2835479"/>
            <a:ext cx="5780314" cy="37538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5450643-8185-44BD-B195-5A68A0F3F1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48638"/>
            <a:ext cx="5780314" cy="5964635"/>
          </a:xfrm>
          <a:prstGeom prst="rect">
            <a:avLst/>
          </a:prstGeom>
        </p:spPr>
      </p:pic>
      <p:pic>
        <p:nvPicPr>
          <p:cNvPr id="19" name="Picture 18">
            <a:extLst>
              <a:ext uri="{FF2B5EF4-FFF2-40B4-BE49-F238E27FC236}">
                <a16:creationId xmlns:a16="http://schemas.microsoft.com/office/drawing/2014/main" id="{9EC9EAC4-A017-4DB6-BB4A-E343D9468E7C}"/>
              </a:ext>
            </a:extLst>
          </p:cNvPr>
          <p:cNvPicPr>
            <a:picLocks noChangeAspect="1"/>
          </p:cNvPicPr>
          <p:nvPr/>
        </p:nvPicPr>
        <p:blipFill>
          <a:blip r:embed="rId4"/>
          <a:stretch>
            <a:fillRect/>
          </a:stretch>
        </p:blipFill>
        <p:spPr>
          <a:xfrm>
            <a:off x="0" y="571282"/>
            <a:ext cx="5780314" cy="2299746"/>
          </a:xfrm>
          <a:prstGeom prst="rect">
            <a:avLst/>
          </a:prstGeom>
        </p:spPr>
      </p:pic>
      <p:sp>
        <p:nvSpPr>
          <p:cNvPr id="20" name="Rectangle 19">
            <a:extLst>
              <a:ext uri="{FF2B5EF4-FFF2-40B4-BE49-F238E27FC236}">
                <a16:creationId xmlns:a16="http://schemas.microsoft.com/office/drawing/2014/main" id="{CA517DC9-1E73-4FF4-A178-B08D8B013676}"/>
              </a:ext>
            </a:extLst>
          </p:cNvPr>
          <p:cNvSpPr/>
          <p:nvPr/>
        </p:nvSpPr>
        <p:spPr>
          <a:xfrm>
            <a:off x="3708888" y="2936630"/>
            <a:ext cx="265235"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9E8734-15EA-4AC9-94C5-FBADEC237578}"/>
              </a:ext>
            </a:extLst>
          </p:cNvPr>
          <p:cNvSpPr/>
          <p:nvPr/>
        </p:nvSpPr>
        <p:spPr>
          <a:xfrm>
            <a:off x="4284784" y="2936629"/>
            <a:ext cx="265235"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C9353F4-25F8-43B9-8E0D-235460568B54}"/>
              </a:ext>
            </a:extLst>
          </p:cNvPr>
          <p:cNvSpPr/>
          <p:nvPr/>
        </p:nvSpPr>
        <p:spPr>
          <a:xfrm>
            <a:off x="1799123" y="2912419"/>
            <a:ext cx="245454"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2916517-03EC-4D13-99A3-10F64EBCFB4B}"/>
              </a:ext>
            </a:extLst>
          </p:cNvPr>
          <p:cNvSpPr/>
          <p:nvPr/>
        </p:nvSpPr>
        <p:spPr>
          <a:xfrm>
            <a:off x="2507272" y="2918263"/>
            <a:ext cx="265235" cy="364881"/>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8DDBCAF-F17A-F677-88CE-40CB5F5E7CD4}"/>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CE99237-E3B1-3542-684C-89EC0955CEB0}"/>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5383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8B702FC-5738-418B-841F-FAB933FB0F03}"/>
                  </a:ext>
                </a:extLst>
              </p:cNvPr>
              <p:cNvSpPr>
                <a:spLocks noGrp="1"/>
              </p:cNvSpPr>
              <p:nvPr>
                <p:ph type="title"/>
              </p:nvPr>
            </p:nvSpPr>
            <p:spPr/>
            <p:txBody>
              <a:bodyPr>
                <a:normAutofit fontScale="90000"/>
              </a:bodyPr>
              <a:lstStyle/>
              <a:p>
                <a:r>
                  <a:rPr lang="en-US" dirty="0">
                    <a:latin typeface="Arial" panose="020B0604020202020204" pitchFamily="34" charset="0"/>
                    <a:cs typeface="Arial" panose="020B0604020202020204" pitchFamily="34" charset="0"/>
                  </a:rPr>
                  <a:t>PSB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m:t>
                        </m:r>
                      </m:sup>
                    </m:sSup>
                  </m:oMath>
                </a14:m>
                <a:r>
                  <a:rPr lang="en-US" dirty="0">
                    <a:latin typeface="Arial" panose="020B0604020202020204" pitchFamily="34" charset="0"/>
                    <a:cs typeface="Arial" panose="020B0604020202020204" pitchFamily="34" charset="0"/>
                  </a:rPr>
                  <a:t> Charge Exchange Injection System</a:t>
                </a:r>
              </a:p>
            </p:txBody>
          </p:sp>
        </mc:Choice>
        <mc:Fallback xmlns="">
          <p:sp>
            <p:nvSpPr>
              <p:cNvPr id="2" name="Title 1">
                <a:extLst>
                  <a:ext uri="{FF2B5EF4-FFF2-40B4-BE49-F238E27FC236}">
                    <a16:creationId xmlns:a16="http://schemas.microsoft.com/office/drawing/2014/main" id="{68B702FC-5738-418B-841F-FAB933FB0F03}"/>
                  </a:ext>
                </a:extLst>
              </p:cNvPr>
              <p:cNvSpPr>
                <a:spLocks noGrp="1" noRot="1" noChangeAspect="1" noMove="1" noResize="1" noEditPoints="1" noAdjustHandles="1" noChangeArrowheads="1" noChangeShapeType="1" noTextEdit="1"/>
              </p:cNvSpPr>
              <p:nvPr>
                <p:ph type="title"/>
              </p:nvPr>
            </p:nvSpPr>
            <p:spPr>
              <a:blipFill>
                <a:blip r:embed="rId2"/>
                <a:stretch>
                  <a:fillRect t="-40909" b="-54545"/>
                </a:stretch>
              </a:blipFill>
            </p:spPr>
            <p:txBody>
              <a:bodyPr/>
              <a:lstStyle/>
              <a:p>
                <a:r>
                  <a:rPr lang="en-CH">
                    <a:noFill/>
                  </a:rPr>
                  <a:t> </a:t>
                </a:r>
              </a:p>
            </p:txBody>
          </p:sp>
        </mc:Fallback>
      </mc:AlternateContent>
      <p:sp>
        <p:nvSpPr>
          <p:cNvPr id="5" name="Slide Number Placeholder 4">
            <a:extLst>
              <a:ext uri="{FF2B5EF4-FFF2-40B4-BE49-F238E27FC236}">
                <a16:creationId xmlns:a16="http://schemas.microsoft.com/office/drawing/2014/main" id="{DECED4B4-81A7-43D1-9D78-39273DAC4964}"/>
              </a:ext>
            </a:extLst>
          </p:cNvPr>
          <p:cNvSpPr>
            <a:spLocks noGrp="1"/>
          </p:cNvSpPr>
          <p:nvPr>
            <p:ph type="sldNum" sz="quarter" idx="12"/>
          </p:nvPr>
        </p:nvSpPr>
        <p:spPr/>
        <p:txBody>
          <a:bodyPr/>
          <a:lstStyle/>
          <a:p>
            <a:r>
              <a:rPr lang="en-US" dirty="0"/>
              <a:t>8</a:t>
            </a:r>
            <a:endParaRPr lang="el-GR" dirty="0"/>
          </a:p>
        </p:txBody>
      </p:sp>
      <p:pic>
        <p:nvPicPr>
          <p:cNvPr id="10" name="Picture 9">
            <a:extLst>
              <a:ext uri="{FF2B5EF4-FFF2-40B4-BE49-F238E27FC236}">
                <a16:creationId xmlns:a16="http://schemas.microsoft.com/office/drawing/2014/main" id="{04A33880-F7C8-455E-807C-92236CA8B38A}"/>
              </a:ext>
            </a:extLst>
          </p:cNvPr>
          <p:cNvPicPr>
            <a:picLocks noChangeAspect="1"/>
          </p:cNvPicPr>
          <p:nvPr/>
        </p:nvPicPr>
        <p:blipFill>
          <a:blip r:embed="rId3"/>
          <a:stretch>
            <a:fillRect/>
          </a:stretch>
        </p:blipFill>
        <p:spPr>
          <a:xfrm>
            <a:off x="0" y="548637"/>
            <a:ext cx="5780314" cy="5964635"/>
          </a:xfrm>
          <a:prstGeom prst="rect">
            <a:avLst/>
          </a:prstGeom>
        </p:spPr>
      </p:pic>
      <p:sp>
        <p:nvSpPr>
          <p:cNvPr id="16" name="Rectangle 15">
            <a:extLst>
              <a:ext uri="{FF2B5EF4-FFF2-40B4-BE49-F238E27FC236}">
                <a16:creationId xmlns:a16="http://schemas.microsoft.com/office/drawing/2014/main" id="{0137DF2A-9C12-4B20-B051-0C27230483D9}"/>
              </a:ext>
            </a:extLst>
          </p:cNvPr>
          <p:cNvSpPr/>
          <p:nvPr/>
        </p:nvSpPr>
        <p:spPr>
          <a:xfrm>
            <a:off x="2923442" y="2936631"/>
            <a:ext cx="474785" cy="364881"/>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71DCC06-4156-452C-F911-CF5B829368C3}"/>
              </a:ext>
            </a:extLst>
          </p:cNvPr>
          <p:cNvSpPr txBox="1"/>
          <p:nvPr/>
        </p:nvSpPr>
        <p:spPr>
          <a:xfrm>
            <a:off x="5998428" y="3825482"/>
            <a:ext cx="6150027" cy="1323439"/>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Injection</a:t>
            </a:r>
            <a:r>
              <a:rPr lang="el-GR"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beam orbit bump by</a:t>
            </a:r>
            <a:r>
              <a:rPr lang="el-GR"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4 phase space painting kicker magnets (KSW)</a:t>
            </a:r>
            <a:endParaRPr lang="el-GR" sz="2000" b="1" dirty="0">
              <a:solidFill>
                <a:srgbClr val="0070C0"/>
              </a:solidFill>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chemeClr val="accent3"/>
                </a:solidFill>
                <a:latin typeface="Arial" panose="020B0604020202020204" pitchFamily="34" charset="0"/>
                <a:cs typeface="Arial" panose="020B0604020202020204" pitchFamily="34" charset="0"/>
              </a:rPr>
              <a:t>4 horizontal chicane magnets (BSW)</a:t>
            </a:r>
          </a:p>
        </p:txBody>
      </p:sp>
      <p:sp>
        <p:nvSpPr>
          <p:cNvPr id="3" name="TextBox 2">
            <a:extLst>
              <a:ext uri="{FF2B5EF4-FFF2-40B4-BE49-F238E27FC236}">
                <a16:creationId xmlns:a16="http://schemas.microsoft.com/office/drawing/2014/main" id="{ECAB36FB-8635-22EB-715F-3A76C018C16B}"/>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5A3BF53-5F44-0995-4A5E-D399E1739C19}"/>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9612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8B702FC-5738-418B-841F-FAB933FB0F03}"/>
                  </a:ext>
                </a:extLst>
              </p:cNvPr>
              <p:cNvSpPr>
                <a:spLocks noGrp="1"/>
              </p:cNvSpPr>
              <p:nvPr>
                <p:ph type="title"/>
              </p:nvPr>
            </p:nvSpPr>
            <p:spPr/>
            <p:txBody>
              <a:bodyPr>
                <a:normAutofit fontScale="90000"/>
              </a:bodyPr>
              <a:lstStyle/>
              <a:p>
                <a:r>
                  <a:rPr lang="en-US" dirty="0">
                    <a:latin typeface="Arial" panose="020B0604020202020204" pitchFamily="34" charset="0"/>
                    <a:cs typeface="Arial" panose="020B0604020202020204" pitchFamily="34" charset="0"/>
                  </a:rPr>
                  <a:t>PSB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m:t>
                        </m:r>
                      </m:sup>
                    </m:sSup>
                  </m:oMath>
                </a14:m>
                <a:r>
                  <a:rPr lang="en-US" dirty="0">
                    <a:latin typeface="Arial" panose="020B0604020202020204" pitchFamily="34" charset="0"/>
                    <a:cs typeface="Arial" panose="020B0604020202020204" pitchFamily="34" charset="0"/>
                  </a:rPr>
                  <a:t> Charge Exchange Injection System</a:t>
                </a:r>
              </a:p>
            </p:txBody>
          </p:sp>
        </mc:Choice>
        <mc:Fallback xmlns="">
          <p:sp>
            <p:nvSpPr>
              <p:cNvPr id="2" name="Title 1">
                <a:extLst>
                  <a:ext uri="{FF2B5EF4-FFF2-40B4-BE49-F238E27FC236}">
                    <a16:creationId xmlns:a16="http://schemas.microsoft.com/office/drawing/2014/main" id="{68B702FC-5738-418B-841F-FAB933FB0F03}"/>
                  </a:ext>
                </a:extLst>
              </p:cNvPr>
              <p:cNvSpPr>
                <a:spLocks noGrp="1" noRot="1" noChangeAspect="1" noMove="1" noResize="1" noEditPoints="1" noAdjustHandles="1" noChangeArrowheads="1" noChangeShapeType="1" noTextEdit="1"/>
              </p:cNvSpPr>
              <p:nvPr>
                <p:ph type="title"/>
              </p:nvPr>
            </p:nvSpPr>
            <p:spPr>
              <a:blipFill>
                <a:blip r:embed="rId2"/>
                <a:stretch>
                  <a:fillRect t="-40909" b="-54545"/>
                </a:stretch>
              </a:blipFill>
            </p:spPr>
            <p:txBody>
              <a:bodyPr/>
              <a:lstStyle/>
              <a:p>
                <a:r>
                  <a:rPr lang="en-CH">
                    <a:noFill/>
                  </a:rPr>
                  <a:t> </a:t>
                </a:r>
              </a:p>
            </p:txBody>
          </p:sp>
        </mc:Fallback>
      </mc:AlternateContent>
      <p:sp>
        <p:nvSpPr>
          <p:cNvPr id="5" name="Slide Number Placeholder 4">
            <a:extLst>
              <a:ext uri="{FF2B5EF4-FFF2-40B4-BE49-F238E27FC236}">
                <a16:creationId xmlns:a16="http://schemas.microsoft.com/office/drawing/2014/main" id="{DECED4B4-81A7-43D1-9D78-39273DAC4964}"/>
              </a:ext>
            </a:extLst>
          </p:cNvPr>
          <p:cNvSpPr>
            <a:spLocks noGrp="1"/>
          </p:cNvSpPr>
          <p:nvPr>
            <p:ph type="sldNum" sz="quarter" idx="12"/>
          </p:nvPr>
        </p:nvSpPr>
        <p:spPr/>
        <p:txBody>
          <a:bodyPr/>
          <a:lstStyle/>
          <a:p>
            <a:r>
              <a:rPr lang="en-US" dirty="0"/>
              <a:t>8</a:t>
            </a:r>
            <a:endParaRPr lang="el-GR" dirty="0"/>
          </a:p>
        </p:txBody>
      </p:sp>
      <p:pic>
        <p:nvPicPr>
          <p:cNvPr id="10" name="Picture 9">
            <a:extLst>
              <a:ext uri="{FF2B5EF4-FFF2-40B4-BE49-F238E27FC236}">
                <a16:creationId xmlns:a16="http://schemas.microsoft.com/office/drawing/2014/main" id="{04A33880-F7C8-455E-807C-92236CA8B38A}"/>
              </a:ext>
            </a:extLst>
          </p:cNvPr>
          <p:cNvPicPr>
            <a:picLocks noChangeAspect="1"/>
          </p:cNvPicPr>
          <p:nvPr/>
        </p:nvPicPr>
        <p:blipFill>
          <a:blip r:embed="rId3"/>
          <a:stretch>
            <a:fillRect/>
          </a:stretch>
        </p:blipFill>
        <p:spPr>
          <a:xfrm>
            <a:off x="0" y="548637"/>
            <a:ext cx="5780314" cy="5964635"/>
          </a:xfrm>
          <a:prstGeom prst="rect">
            <a:avLst/>
          </a:prstGeom>
        </p:spPr>
      </p:pic>
      <p:sp>
        <p:nvSpPr>
          <p:cNvPr id="16" name="Rectangle 15">
            <a:extLst>
              <a:ext uri="{FF2B5EF4-FFF2-40B4-BE49-F238E27FC236}">
                <a16:creationId xmlns:a16="http://schemas.microsoft.com/office/drawing/2014/main" id="{0137DF2A-9C12-4B20-B051-0C27230483D9}"/>
              </a:ext>
            </a:extLst>
          </p:cNvPr>
          <p:cNvSpPr/>
          <p:nvPr/>
        </p:nvSpPr>
        <p:spPr>
          <a:xfrm>
            <a:off x="2923442" y="2936631"/>
            <a:ext cx="474785" cy="364881"/>
          </a:xfrm>
          <a:prstGeom prst="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D3A2CA1-E53A-4E56-95AB-FA3A6C41C0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0627" y="744457"/>
            <a:ext cx="5571205" cy="2775051"/>
          </a:xfrm>
          <a:prstGeom prst="rect">
            <a:avLst/>
          </a:prstGeom>
          <a:ln w="76200">
            <a:solidFill>
              <a:schemeClr val="accent3"/>
            </a:solidFill>
          </a:ln>
        </p:spPr>
      </p:pic>
      <p:cxnSp>
        <p:nvCxnSpPr>
          <p:cNvPr id="9" name="Straight Arrow Connector 8">
            <a:extLst>
              <a:ext uri="{FF2B5EF4-FFF2-40B4-BE49-F238E27FC236}">
                <a16:creationId xmlns:a16="http://schemas.microsoft.com/office/drawing/2014/main" id="{115B9E45-B6F5-4D7A-B78C-E0FA1CCD75DB}"/>
              </a:ext>
            </a:extLst>
          </p:cNvPr>
          <p:cNvCxnSpPr>
            <a:cxnSpLocks/>
          </p:cNvCxnSpPr>
          <p:nvPr/>
        </p:nvCxnSpPr>
        <p:spPr>
          <a:xfrm>
            <a:off x="4525347" y="1861457"/>
            <a:ext cx="1570651" cy="0"/>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D63FB61-7984-F70C-5988-0048D34737FF}"/>
                  </a:ext>
                </a:extLst>
              </p:cNvPr>
              <p:cNvSpPr txBox="1"/>
              <p:nvPr/>
            </p:nvSpPr>
            <p:spPr>
              <a:xfrm>
                <a:off x="5998428" y="3825482"/>
                <a:ext cx="6150027" cy="163121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Injection</a:t>
                </a:r>
                <a:r>
                  <a:rPr lang="el-GR"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beam orbit bump by</a:t>
                </a:r>
                <a:r>
                  <a:rPr lang="el-GR"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4 phase space painting kicker magnets (KSW)</a:t>
                </a:r>
                <a:endParaRPr lang="el-GR" sz="2000" b="1" dirty="0">
                  <a:solidFill>
                    <a:srgbClr val="0070C0"/>
                  </a:solidFill>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chemeClr val="accent3"/>
                    </a:solidFill>
                    <a:latin typeface="Arial" panose="020B0604020202020204" pitchFamily="34" charset="0"/>
                    <a:cs typeface="Arial" panose="020B0604020202020204" pitchFamily="34" charset="0"/>
                  </a:rPr>
                  <a:t>4 horizontal chicane magnets (BSW)</a:t>
                </a:r>
                <a:endParaRPr lang="el-GR" sz="2000" b="1" dirty="0">
                  <a:solidFill>
                    <a:schemeClr val="accent3"/>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Incoming hydrogen ion particles </a:t>
                </a:r>
                <a:r>
                  <a:rPr lang="el-GR" sz="2000" dirty="0">
                    <a:latin typeface="Arial" panose="020B0604020202020204" pitchFamily="34" charset="0"/>
                    <a:cs typeface="Arial" panose="020B0604020202020204" pitchFamily="34" charset="0"/>
                  </a:rPr>
                  <a:t>(</a:t>
                </a:r>
                <a14:m>
                  <m:oMath xmlns:m="http://schemas.openxmlformats.org/officeDocument/2006/math">
                    <m:sSup>
                      <m:sSupPr>
                        <m:ctrlPr>
                          <a:rPr lang="en-US" sz="2000" b="1" i="1">
                            <a:solidFill>
                              <a:srgbClr val="FF0000"/>
                            </a:solidFill>
                            <a:latin typeface="Cambria Math" panose="02040503050406030204" pitchFamily="18" charset="0"/>
                          </a:rPr>
                        </m:ctrlPr>
                      </m:sSupPr>
                      <m:e>
                        <m:r>
                          <a:rPr lang="en-US" sz="2000" b="1" i="1">
                            <a:solidFill>
                              <a:srgbClr val="FF0000"/>
                            </a:solidFill>
                            <a:latin typeface="Cambria Math" panose="02040503050406030204" pitchFamily="18" charset="0"/>
                          </a:rPr>
                          <m:t>𝑯</m:t>
                        </m:r>
                      </m:e>
                      <m:sup>
                        <m:r>
                          <a:rPr lang="en-US" sz="2000" b="1" i="1">
                            <a:solidFill>
                              <a:srgbClr val="FF0000"/>
                            </a:solidFill>
                            <a:latin typeface="Cambria Math" panose="02040503050406030204" pitchFamily="18" charset="0"/>
                          </a:rPr>
                          <m:t>−</m:t>
                        </m:r>
                      </m:sup>
                    </m:sSup>
                  </m:oMath>
                </a14:m>
                <a:r>
                  <a:rPr lang="en-US" sz="2000" b="1" dirty="0">
                    <a:solidFill>
                      <a:srgbClr val="FF0000"/>
                    </a:solidFill>
                    <a:latin typeface="Arial" panose="020B0604020202020204" pitchFamily="34" charset="0"/>
                    <a:cs typeface="Arial" panose="020B0604020202020204" pitchFamily="34" charset="0"/>
                  </a:rPr>
                  <a:t> beam</a:t>
                </a:r>
                <a:r>
                  <a:rPr lang="el-GR" sz="2000" dirty="0">
                    <a:latin typeface="Arial" panose="020B0604020202020204" pitchFamily="34" charset="0"/>
                    <a:cs typeface="Arial" panose="020B0604020202020204" pitchFamily="34" charset="0"/>
                  </a:rPr>
                  <a:t>)</a:t>
                </a:r>
              </a:p>
            </p:txBody>
          </p:sp>
        </mc:Choice>
        <mc:Fallback xmlns="">
          <p:sp>
            <p:nvSpPr>
              <p:cNvPr id="11" name="TextBox 10">
                <a:extLst>
                  <a:ext uri="{FF2B5EF4-FFF2-40B4-BE49-F238E27FC236}">
                    <a16:creationId xmlns:a16="http://schemas.microsoft.com/office/drawing/2014/main" id="{DD63FB61-7984-F70C-5988-0048D34737FF}"/>
                  </a:ext>
                </a:extLst>
              </p:cNvPr>
              <p:cNvSpPr txBox="1">
                <a:spLocks noRot="1" noChangeAspect="1" noMove="1" noResize="1" noEditPoints="1" noAdjustHandles="1" noChangeArrowheads="1" noChangeShapeType="1" noTextEdit="1"/>
              </p:cNvSpPr>
              <p:nvPr/>
            </p:nvSpPr>
            <p:spPr>
              <a:xfrm>
                <a:off x="5998428" y="3825482"/>
                <a:ext cx="6150027" cy="1631216"/>
              </a:xfrm>
              <a:prstGeom prst="rect">
                <a:avLst/>
              </a:prstGeom>
              <a:blipFill>
                <a:blip r:embed="rId5"/>
                <a:stretch>
                  <a:fillRect l="-1031" t="-2326" b="-6202"/>
                </a:stretch>
              </a:blipFill>
            </p:spPr>
            <p:txBody>
              <a:bodyPr/>
              <a:lstStyle/>
              <a:p>
                <a:r>
                  <a:rPr lang="en-CH">
                    <a:noFill/>
                  </a:rPr>
                  <a:t> </a:t>
                </a:r>
              </a:p>
            </p:txBody>
          </p:sp>
        </mc:Fallback>
      </mc:AlternateContent>
      <p:sp>
        <p:nvSpPr>
          <p:cNvPr id="3" name="TextBox 2">
            <a:extLst>
              <a:ext uri="{FF2B5EF4-FFF2-40B4-BE49-F238E27FC236}">
                <a16:creationId xmlns:a16="http://schemas.microsoft.com/office/drawing/2014/main" id="{2F60BB3F-62C7-7489-B5D2-2B8C4A7D9E06}"/>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917D3F3-BE41-91D9-3876-A96220735935}"/>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03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8B702FC-5738-418B-841F-FAB933FB0F03}"/>
                  </a:ext>
                </a:extLst>
              </p:cNvPr>
              <p:cNvSpPr>
                <a:spLocks noGrp="1"/>
              </p:cNvSpPr>
              <p:nvPr>
                <p:ph type="title"/>
              </p:nvPr>
            </p:nvSpPr>
            <p:spPr/>
            <p:txBody>
              <a:bodyPr>
                <a:normAutofit fontScale="90000"/>
              </a:bodyPr>
              <a:lstStyle/>
              <a:p>
                <a:r>
                  <a:rPr lang="en-US" dirty="0">
                    <a:latin typeface="Arial" panose="020B0604020202020204" pitchFamily="34" charset="0"/>
                    <a:cs typeface="Arial" panose="020B0604020202020204" pitchFamily="34" charset="0"/>
                  </a:rPr>
                  <a:t>PSB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m:t>
                        </m:r>
                      </m:sup>
                    </m:sSup>
                  </m:oMath>
                </a14:m>
                <a:r>
                  <a:rPr lang="en-US" dirty="0">
                    <a:latin typeface="Arial" panose="020B0604020202020204" pitchFamily="34" charset="0"/>
                    <a:cs typeface="Arial" panose="020B0604020202020204" pitchFamily="34" charset="0"/>
                  </a:rPr>
                  <a:t> Charge Exchange Injection System</a:t>
                </a:r>
              </a:p>
            </p:txBody>
          </p:sp>
        </mc:Choice>
        <mc:Fallback xmlns="">
          <p:sp>
            <p:nvSpPr>
              <p:cNvPr id="2" name="Title 1">
                <a:extLst>
                  <a:ext uri="{FF2B5EF4-FFF2-40B4-BE49-F238E27FC236}">
                    <a16:creationId xmlns:a16="http://schemas.microsoft.com/office/drawing/2014/main" id="{68B702FC-5738-418B-841F-FAB933FB0F03}"/>
                  </a:ext>
                </a:extLst>
              </p:cNvPr>
              <p:cNvSpPr>
                <a:spLocks noGrp="1" noRot="1" noChangeAspect="1" noMove="1" noResize="1" noEditPoints="1" noAdjustHandles="1" noChangeArrowheads="1" noChangeShapeType="1" noTextEdit="1"/>
              </p:cNvSpPr>
              <p:nvPr>
                <p:ph type="title"/>
              </p:nvPr>
            </p:nvSpPr>
            <p:spPr>
              <a:blipFill>
                <a:blip r:embed="rId2"/>
                <a:stretch>
                  <a:fillRect t="-40909" b="-54545"/>
                </a:stretch>
              </a:blipFill>
            </p:spPr>
            <p:txBody>
              <a:bodyPr/>
              <a:lstStyle/>
              <a:p>
                <a:r>
                  <a:rPr lang="en-CH">
                    <a:noFill/>
                  </a:rPr>
                  <a:t> </a:t>
                </a:r>
              </a:p>
            </p:txBody>
          </p:sp>
        </mc:Fallback>
      </mc:AlternateContent>
      <p:sp>
        <p:nvSpPr>
          <p:cNvPr id="5" name="Slide Number Placeholder 4">
            <a:extLst>
              <a:ext uri="{FF2B5EF4-FFF2-40B4-BE49-F238E27FC236}">
                <a16:creationId xmlns:a16="http://schemas.microsoft.com/office/drawing/2014/main" id="{DECED4B4-81A7-43D1-9D78-39273DAC4964}"/>
              </a:ext>
            </a:extLst>
          </p:cNvPr>
          <p:cNvSpPr>
            <a:spLocks noGrp="1"/>
          </p:cNvSpPr>
          <p:nvPr>
            <p:ph type="sldNum" sz="quarter" idx="12"/>
          </p:nvPr>
        </p:nvSpPr>
        <p:spPr/>
        <p:txBody>
          <a:bodyPr/>
          <a:lstStyle/>
          <a:p>
            <a:r>
              <a:rPr lang="en-US" dirty="0"/>
              <a:t>8</a:t>
            </a:r>
            <a:endParaRPr lang="el-GR" dirty="0"/>
          </a:p>
        </p:txBody>
      </p:sp>
      <p:pic>
        <p:nvPicPr>
          <p:cNvPr id="10" name="Picture 9">
            <a:extLst>
              <a:ext uri="{FF2B5EF4-FFF2-40B4-BE49-F238E27FC236}">
                <a16:creationId xmlns:a16="http://schemas.microsoft.com/office/drawing/2014/main" id="{04A33880-F7C8-455E-807C-92236CA8B38A}"/>
              </a:ext>
            </a:extLst>
          </p:cNvPr>
          <p:cNvPicPr>
            <a:picLocks noChangeAspect="1"/>
          </p:cNvPicPr>
          <p:nvPr/>
        </p:nvPicPr>
        <p:blipFill>
          <a:blip r:embed="rId3"/>
          <a:stretch>
            <a:fillRect/>
          </a:stretch>
        </p:blipFill>
        <p:spPr>
          <a:xfrm>
            <a:off x="0" y="548637"/>
            <a:ext cx="5780314" cy="5964635"/>
          </a:xfrm>
          <a:prstGeom prst="rect">
            <a:avLst/>
          </a:prstGeom>
        </p:spPr>
      </p:pic>
      <p:cxnSp>
        <p:nvCxnSpPr>
          <p:cNvPr id="9" name="Straight Arrow Connector 8">
            <a:extLst>
              <a:ext uri="{FF2B5EF4-FFF2-40B4-BE49-F238E27FC236}">
                <a16:creationId xmlns:a16="http://schemas.microsoft.com/office/drawing/2014/main" id="{115B9E45-B6F5-4D7A-B78C-E0FA1CCD75DB}"/>
              </a:ext>
            </a:extLst>
          </p:cNvPr>
          <p:cNvCxnSpPr>
            <a:cxnSpLocks/>
          </p:cNvCxnSpPr>
          <p:nvPr/>
        </p:nvCxnSpPr>
        <p:spPr>
          <a:xfrm>
            <a:off x="4525347" y="1861457"/>
            <a:ext cx="1570651" cy="0"/>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99DEFA13-9100-46E0-B000-3307B38BEB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0627" y="744457"/>
            <a:ext cx="5571205" cy="2775051"/>
          </a:xfrm>
          <a:prstGeom prst="rect">
            <a:avLst/>
          </a:prstGeom>
          <a:ln w="76200">
            <a:solidFill>
              <a:schemeClr val="accent3"/>
            </a:solidFill>
          </a:ln>
        </p:spPr>
      </p:pic>
      <p:sp>
        <p:nvSpPr>
          <p:cNvPr id="14" name="Rectangle 13">
            <a:extLst>
              <a:ext uri="{FF2B5EF4-FFF2-40B4-BE49-F238E27FC236}">
                <a16:creationId xmlns:a16="http://schemas.microsoft.com/office/drawing/2014/main" id="{8601A2F5-5D35-4E17-86F3-652F90E08FE3}"/>
              </a:ext>
            </a:extLst>
          </p:cNvPr>
          <p:cNvSpPr/>
          <p:nvPr/>
        </p:nvSpPr>
        <p:spPr>
          <a:xfrm>
            <a:off x="8860779" y="1949541"/>
            <a:ext cx="707667" cy="1042667"/>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993B732-D48A-EF53-66AE-A32DE2140E4B}"/>
                  </a:ext>
                </a:extLst>
              </p:cNvPr>
              <p:cNvSpPr txBox="1"/>
              <p:nvPr/>
            </p:nvSpPr>
            <p:spPr>
              <a:xfrm>
                <a:off x="5998428" y="3825482"/>
                <a:ext cx="6150027" cy="1938992"/>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Injection</a:t>
                </a:r>
                <a:r>
                  <a:rPr lang="el-GR"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beam orbit bump by</a:t>
                </a:r>
                <a:r>
                  <a:rPr lang="el-GR"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4 phase space painting kicker magnets (KSW)</a:t>
                </a:r>
                <a:endParaRPr lang="el-GR" sz="2000" b="1" dirty="0">
                  <a:solidFill>
                    <a:srgbClr val="0070C0"/>
                  </a:solidFill>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chemeClr val="accent3"/>
                    </a:solidFill>
                    <a:latin typeface="Arial" panose="020B0604020202020204" pitchFamily="34" charset="0"/>
                    <a:cs typeface="Arial" panose="020B0604020202020204" pitchFamily="34" charset="0"/>
                  </a:rPr>
                  <a:t>4 horizontal chicane magnets (BSW)</a:t>
                </a:r>
                <a:endParaRPr lang="el-GR" sz="2000" b="1" dirty="0">
                  <a:solidFill>
                    <a:schemeClr val="accent3"/>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Incoming hydrogen ion particles</a:t>
                </a:r>
                <a:r>
                  <a:rPr lang="el-GR" sz="2000" dirty="0">
                    <a:latin typeface="Arial" panose="020B0604020202020204" pitchFamily="34" charset="0"/>
                    <a:cs typeface="Arial" panose="020B0604020202020204" pitchFamily="34" charset="0"/>
                  </a:rPr>
                  <a:t> (</a:t>
                </a:r>
                <a14:m>
                  <m:oMath xmlns:m="http://schemas.openxmlformats.org/officeDocument/2006/math">
                    <m:sSup>
                      <m:sSupPr>
                        <m:ctrlPr>
                          <a:rPr lang="en-US" sz="2000" b="1" i="1">
                            <a:solidFill>
                              <a:srgbClr val="FF0000"/>
                            </a:solidFill>
                            <a:latin typeface="Cambria Math" panose="02040503050406030204" pitchFamily="18" charset="0"/>
                          </a:rPr>
                        </m:ctrlPr>
                      </m:sSupPr>
                      <m:e>
                        <m:r>
                          <a:rPr lang="en-US" sz="2000" b="1" i="1">
                            <a:solidFill>
                              <a:srgbClr val="FF0000"/>
                            </a:solidFill>
                            <a:latin typeface="Cambria Math" panose="02040503050406030204" pitchFamily="18" charset="0"/>
                          </a:rPr>
                          <m:t>𝑯</m:t>
                        </m:r>
                      </m:e>
                      <m:sup>
                        <m:r>
                          <a:rPr lang="en-US" sz="2000" b="1" i="1">
                            <a:solidFill>
                              <a:srgbClr val="FF0000"/>
                            </a:solidFill>
                            <a:latin typeface="Cambria Math" panose="02040503050406030204" pitchFamily="18" charset="0"/>
                          </a:rPr>
                          <m:t>−</m:t>
                        </m:r>
                      </m:sup>
                    </m:sSup>
                  </m:oMath>
                </a14:m>
                <a:r>
                  <a:rPr lang="en-US" sz="2000" b="1" dirty="0">
                    <a:solidFill>
                      <a:srgbClr val="FF0000"/>
                    </a:solidFill>
                    <a:latin typeface="Arial" panose="020B0604020202020204" pitchFamily="34" charset="0"/>
                    <a:cs typeface="Arial" panose="020B0604020202020204" pitchFamily="34" charset="0"/>
                  </a:rPr>
                  <a:t> beam</a:t>
                </a:r>
                <a:r>
                  <a:rPr lang="el-GR" sz="2000" dirty="0">
                    <a:latin typeface="Arial" panose="020B0604020202020204" pitchFamily="34" charset="0"/>
                    <a:cs typeface="Arial" panose="020B0604020202020204" pitchFamily="34" charset="0"/>
                  </a:rPr>
                  <a:t>)</a:t>
                </a:r>
                <a:r>
                  <a:rPr lang="el-GR" sz="2000" dirty="0">
                    <a:latin typeface="Arial" panose="020B0604020202020204" pitchFamily="34" charset="0"/>
                    <a:cs typeface="Arial" panose="020B0604020202020204" pitchFamily="34" charset="0"/>
                    <a:sym typeface="Wingdings" pitchFamily="2" charset="2"/>
                  </a:rPr>
                  <a:t> →</a:t>
                </a:r>
                <a:r>
                  <a:rPr lang="el-GR" sz="2000" dirty="0">
                    <a:latin typeface="Arial" panose="020B0604020202020204" pitchFamily="34" charset="0"/>
                    <a:cs typeface="Arial" panose="020B0604020202020204" pitchFamily="34" charset="0"/>
                  </a:rPr>
                  <a:t> </a:t>
                </a:r>
                <a:r>
                  <a:rPr lang="en-US" sz="2000" b="1" dirty="0">
                    <a:solidFill>
                      <a:srgbClr val="7030A0"/>
                    </a:solidFill>
                    <a:latin typeface="Arial" panose="020B0604020202020204" pitchFamily="34" charset="0"/>
                    <a:cs typeface="Arial" panose="020B0604020202020204" pitchFamily="34" charset="0"/>
                  </a:rPr>
                  <a:t>stripping foil </a:t>
                </a:r>
                <a:r>
                  <a:rPr lang="el-GR" sz="2000" dirty="0">
                    <a:latin typeface="Arial" panose="020B0604020202020204" pitchFamily="34" charset="0"/>
                    <a:cs typeface="Arial" panose="020B0604020202020204" pitchFamily="34" charset="0"/>
                    <a:sym typeface="Wingdings" pitchFamily="2" charset="2"/>
                  </a:rPr>
                  <a:t>→</a:t>
                </a:r>
                <a:r>
                  <a:rPr lang="el-GR"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protons</a:t>
                </a:r>
                <a:r>
                  <a:rPr lang="el-GR" sz="2000" dirty="0">
                    <a:latin typeface="Arial" panose="020B0604020202020204" pitchFamily="34" charset="0"/>
                    <a:cs typeface="Arial" panose="020B0604020202020204" pitchFamily="34" charset="0"/>
                  </a:rPr>
                  <a:t>.</a:t>
                </a:r>
              </a:p>
            </p:txBody>
          </p:sp>
        </mc:Choice>
        <mc:Fallback xmlns="">
          <p:sp>
            <p:nvSpPr>
              <p:cNvPr id="11" name="TextBox 10">
                <a:extLst>
                  <a:ext uri="{FF2B5EF4-FFF2-40B4-BE49-F238E27FC236}">
                    <a16:creationId xmlns:a16="http://schemas.microsoft.com/office/drawing/2014/main" id="{B993B732-D48A-EF53-66AE-A32DE2140E4B}"/>
                  </a:ext>
                </a:extLst>
              </p:cNvPr>
              <p:cNvSpPr txBox="1">
                <a:spLocks noRot="1" noChangeAspect="1" noMove="1" noResize="1" noEditPoints="1" noAdjustHandles="1" noChangeArrowheads="1" noChangeShapeType="1" noTextEdit="1"/>
              </p:cNvSpPr>
              <p:nvPr/>
            </p:nvSpPr>
            <p:spPr>
              <a:xfrm>
                <a:off x="5998428" y="3825482"/>
                <a:ext cx="6150027" cy="1938992"/>
              </a:xfrm>
              <a:prstGeom prst="rect">
                <a:avLst/>
              </a:prstGeom>
              <a:blipFill>
                <a:blip r:embed="rId5"/>
                <a:stretch>
                  <a:fillRect l="-1031" t="-1948" b="-4545"/>
                </a:stretch>
              </a:blipFill>
            </p:spPr>
            <p:txBody>
              <a:bodyPr/>
              <a:lstStyle/>
              <a:p>
                <a:r>
                  <a:rPr lang="en-CH">
                    <a:noFill/>
                  </a:rPr>
                  <a:t> </a:t>
                </a:r>
              </a:p>
            </p:txBody>
          </p:sp>
        </mc:Fallback>
      </mc:AlternateContent>
      <p:sp>
        <p:nvSpPr>
          <p:cNvPr id="3" name="TextBox 2">
            <a:extLst>
              <a:ext uri="{FF2B5EF4-FFF2-40B4-BE49-F238E27FC236}">
                <a16:creationId xmlns:a16="http://schemas.microsoft.com/office/drawing/2014/main" id="{805762F8-D5AD-3949-6AE7-6E2934DF20B7}"/>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2D19D82-D7C2-BA11-9F0F-2147EED72AB4}"/>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0952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8B702FC-5738-418B-841F-FAB933FB0F03}"/>
                  </a:ext>
                </a:extLst>
              </p:cNvPr>
              <p:cNvSpPr>
                <a:spLocks noGrp="1"/>
              </p:cNvSpPr>
              <p:nvPr>
                <p:ph type="title"/>
              </p:nvPr>
            </p:nvSpPr>
            <p:spPr/>
            <p:txBody>
              <a:bodyPr>
                <a:normAutofit fontScale="90000"/>
              </a:bodyPr>
              <a:lstStyle/>
              <a:p>
                <a:r>
                  <a:rPr lang="en-US" dirty="0">
                    <a:latin typeface="Arial" panose="020B0604020202020204" pitchFamily="34" charset="0"/>
                    <a:cs typeface="Arial" panose="020B0604020202020204" pitchFamily="34" charset="0"/>
                  </a:rPr>
                  <a:t>PSB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𝐻</m:t>
                        </m:r>
                      </m:e>
                      <m:sup>
                        <m:r>
                          <a:rPr lang="en-US" b="0" i="1" smtClean="0">
                            <a:latin typeface="Cambria Math" panose="02040503050406030204" pitchFamily="18" charset="0"/>
                          </a:rPr>
                          <m:t>−</m:t>
                        </m:r>
                      </m:sup>
                    </m:sSup>
                  </m:oMath>
                </a14:m>
                <a:r>
                  <a:rPr lang="en-US" dirty="0">
                    <a:latin typeface="Arial" panose="020B0604020202020204" pitchFamily="34" charset="0"/>
                    <a:cs typeface="Arial" panose="020B0604020202020204" pitchFamily="34" charset="0"/>
                  </a:rPr>
                  <a:t> Charge Exchange Injection System</a:t>
                </a:r>
              </a:p>
            </p:txBody>
          </p:sp>
        </mc:Choice>
        <mc:Fallback xmlns="">
          <p:sp>
            <p:nvSpPr>
              <p:cNvPr id="2" name="Title 1">
                <a:extLst>
                  <a:ext uri="{FF2B5EF4-FFF2-40B4-BE49-F238E27FC236}">
                    <a16:creationId xmlns:a16="http://schemas.microsoft.com/office/drawing/2014/main" id="{68B702FC-5738-418B-841F-FAB933FB0F03}"/>
                  </a:ext>
                </a:extLst>
              </p:cNvPr>
              <p:cNvSpPr>
                <a:spLocks noGrp="1" noRot="1" noChangeAspect="1" noMove="1" noResize="1" noEditPoints="1" noAdjustHandles="1" noChangeArrowheads="1" noChangeShapeType="1" noTextEdit="1"/>
              </p:cNvSpPr>
              <p:nvPr>
                <p:ph type="title"/>
              </p:nvPr>
            </p:nvSpPr>
            <p:spPr>
              <a:blipFill>
                <a:blip r:embed="rId2"/>
                <a:stretch>
                  <a:fillRect t="-40909" b="-54545"/>
                </a:stretch>
              </a:blipFill>
            </p:spPr>
            <p:txBody>
              <a:bodyPr/>
              <a:lstStyle/>
              <a:p>
                <a:r>
                  <a:rPr lang="en-CH">
                    <a:noFill/>
                  </a:rPr>
                  <a:t> </a:t>
                </a:r>
              </a:p>
            </p:txBody>
          </p:sp>
        </mc:Fallback>
      </mc:AlternateContent>
      <p:sp>
        <p:nvSpPr>
          <p:cNvPr id="5" name="Slide Number Placeholder 4">
            <a:extLst>
              <a:ext uri="{FF2B5EF4-FFF2-40B4-BE49-F238E27FC236}">
                <a16:creationId xmlns:a16="http://schemas.microsoft.com/office/drawing/2014/main" id="{DECED4B4-81A7-43D1-9D78-39273DAC4964}"/>
              </a:ext>
            </a:extLst>
          </p:cNvPr>
          <p:cNvSpPr>
            <a:spLocks noGrp="1"/>
          </p:cNvSpPr>
          <p:nvPr>
            <p:ph type="sldNum" sz="quarter" idx="12"/>
          </p:nvPr>
        </p:nvSpPr>
        <p:spPr/>
        <p:txBody>
          <a:bodyPr/>
          <a:lstStyle/>
          <a:p>
            <a:r>
              <a:rPr lang="en-US" dirty="0"/>
              <a:t>8</a:t>
            </a:r>
            <a:endParaRPr lang="el-GR" dirty="0"/>
          </a:p>
        </p:txBody>
      </p:sp>
      <p:pic>
        <p:nvPicPr>
          <p:cNvPr id="10" name="Picture 9">
            <a:extLst>
              <a:ext uri="{FF2B5EF4-FFF2-40B4-BE49-F238E27FC236}">
                <a16:creationId xmlns:a16="http://schemas.microsoft.com/office/drawing/2014/main" id="{04A33880-F7C8-455E-807C-92236CA8B38A}"/>
              </a:ext>
            </a:extLst>
          </p:cNvPr>
          <p:cNvPicPr>
            <a:picLocks noChangeAspect="1"/>
          </p:cNvPicPr>
          <p:nvPr/>
        </p:nvPicPr>
        <p:blipFill>
          <a:blip r:embed="rId3"/>
          <a:stretch>
            <a:fillRect/>
          </a:stretch>
        </p:blipFill>
        <p:spPr>
          <a:xfrm>
            <a:off x="0" y="548637"/>
            <a:ext cx="5780314" cy="5964635"/>
          </a:xfrm>
          <a:prstGeom prst="rect">
            <a:avLst/>
          </a:prstGeom>
        </p:spPr>
      </p:pic>
      <p:cxnSp>
        <p:nvCxnSpPr>
          <p:cNvPr id="9" name="Straight Arrow Connector 8">
            <a:extLst>
              <a:ext uri="{FF2B5EF4-FFF2-40B4-BE49-F238E27FC236}">
                <a16:creationId xmlns:a16="http://schemas.microsoft.com/office/drawing/2014/main" id="{115B9E45-B6F5-4D7A-B78C-E0FA1CCD75DB}"/>
              </a:ext>
            </a:extLst>
          </p:cNvPr>
          <p:cNvCxnSpPr>
            <a:cxnSpLocks/>
          </p:cNvCxnSpPr>
          <p:nvPr/>
        </p:nvCxnSpPr>
        <p:spPr>
          <a:xfrm>
            <a:off x="4525347" y="1861457"/>
            <a:ext cx="1570651" cy="0"/>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27CC4DD-DB67-4674-A7CC-CD82C5308CC1}"/>
              </a:ext>
            </a:extLst>
          </p:cNvPr>
          <p:cNvSpPr txBox="1"/>
          <p:nvPr/>
        </p:nvSpPr>
        <p:spPr>
          <a:xfrm>
            <a:off x="5998428" y="5716505"/>
            <a:ext cx="6080049" cy="707886"/>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Injection process over ~100 turns (</a:t>
            </a:r>
            <a:r>
              <a:rPr lang="en-US" sz="2000" b="1" dirty="0">
                <a:latin typeface="Arial" panose="020B0604020202020204" pitchFamily="34" charset="0"/>
                <a:cs typeface="Arial" panose="020B0604020202020204" pitchFamily="34" charset="0"/>
              </a:rPr>
              <a:t>multi-turn inj.</a:t>
            </a:r>
            <a:r>
              <a:rPr lang="en-US" sz="20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Closure of the bump over 5000 turns </a:t>
            </a:r>
            <a:r>
              <a:rPr lang="el-GR" sz="2000" dirty="0">
                <a:latin typeface="Arial" panose="020B0604020202020204" pitchFamily="34" charset="0"/>
                <a:cs typeface="Arial" panose="020B0604020202020204" pitchFamily="34" charset="0"/>
              </a:rPr>
              <a:t>(~5</a:t>
            </a:r>
            <a:r>
              <a:rPr lang="en-US" sz="2000" dirty="0" err="1">
                <a:latin typeface="Arial" panose="020B0604020202020204" pitchFamily="34" charset="0"/>
                <a:cs typeface="Arial" panose="020B0604020202020204" pitchFamily="34" charset="0"/>
              </a:rPr>
              <a:t>ms</a:t>
            </a:r>
            <a:r>
              <a:rPr lang="el-GR" sz="2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a:t>
            </a:r>
          </a:p>
        </p:txBody>
      </p:sp>
      <p:pic>
        <p:nvPicPr>
          <p:cNvPr id="13" name="Picture 12">
            <a:extLst>
              <a:ext uri="{FF2B5EF4-FFF2-40B4-BE49-F238E27FC236}">
                <a16:creationId xmlns:a16="http://schemas.microsoft.com/office/drawing/2014/main" id="{866A8D37-9B2C-435A-BAC5-6187DF800C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50627" y="744457"/>
            <a:ext cx="5571205" cy="2775051"/>
          </a:xfrm>
          <a:prstGeom prst="rect">
            <a:avLst/>
          </a:prstGeom>
          <a:ln w="76200">
            <a:solidFill>
              <a:schemeClr val="accent3"/>
            </a:solidFill>
          </a:ln>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D277B15-5E7C-5160-AAF7-6200B83940D1}"/>
                  </a:ext>
                </a:extLst>
              </p:cNvPr>
              <p:cNvSpPr txBox="1"/>
              <p:nvPr/>
            </p:nvSpPr>
            <p:spPr>
              <a:xfrm>
                <a:off x="5998428" y="3825482"/>
                <a:ext cx="6150027" cy="1938992"/>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Injection</a:t>
                </a:r>
                <a:r>
                  <a:rPr lang="el-GR" sz="2000" dirty="0">
                    <a:latin typeface="Arial" panose="020B0604020202020204" pitchFamily="34" charset="0"/>
                    <a:cs typeface="Arial" panose="020B0604020202020204" pitchFamily="34" charset="0"/>
                  </a:rPr>
                  <a:t> </a:t>
                </a:r>
                <a:r>
                  <a:rPr lang="el-GR" sz="2000" dirty="0">
                    <a:latin typeface="Arial" panose="020B0604020202020204" pitchFamily="34" charset="0"/>
                    <a:cs typeface="Arial" panose="020B0604020202020204" pitchFamily="34" charset="0"/>
                    <a:sym typeface="Wingdings" pitchFamily="2" charset="2"/>
                  </a:rPr>
                  <a:t>→</a:t>
                </a:r>
                <a:r>
                  <a:rPr lang="en-US" sz="2000" dirty="0">
                    <a:latin typeface="Arial" panose="020B0604020202020204" pitchFamily="34" charset="0"/>
                    <a:cs typeface="Arial" panose="020B0604020202020204" pitchFamily="34" charset="0"/>
                  </a:rPr>
                  <a:t> beam orbit bump by</a:t>
                </a:r>
                <a:r>
                  <a:rPr lang="el-GR"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rgbClr val="0070C0"/>
                    </a:solidFill>
                    <a:latin typeface="Arial" panose="020B0604020202020204" pitchFamily="34" charset="0"/>
                    <a:cs typeface="Arial" panose="020B0604020202020204" pitchFamily="34" charset="0"/>
                  </a:rPr>
                  <a:t>4 phase space painting kicker magnets (KSW)</a:t>
                </a:r>
                <a:endParaRPr lang="el-GR" sz="2000" b="1" dirty="0">
                  <a:solidFill>
                    <a:srgbClr val="0070C0"/>
                  </a:solidFill>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2000" b="1" dirty="0">
                    <a:solidFill>
                      <a:schemeClr val="accent3"/>
                    </a:solidFill>
                    <a:latin typeface="Arial" panose="020B0604020202020204" pitchFamily="34" charset="0"/>
                    <a:cs typeface="Arial" panose="020B0604020202020204" pitchFamily="34" charset="0"/>
                  </a:rPr>
                  <a:t>4 horizontal chicane magnets (BSW)</a:t>
                </a:r>
                <a:endParaRPr lang="el-GR" sz="2000" b="1" dirty="0">
                  <a:solidFill>
                    <a:schemeClr val="accent3"/>
                  </a:solidFill>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Incoming hydrogen ion particles </a:t>
                </a:r>
                <a:r>
                  <a:rPr lang="el-GR" sz="2000" dirty="0">
                    <a:latin typeface="Arial" panose="020B0604020202020204" pitchFamily="34" charset="0"/>
                    <a:cs typeface="Arial" panose="020B0604020202020204" pitchFamily="34" charset="0"/>
                  </a:rPr>
                  <a:t>(</a:t>
                </a:r>
                <a14:m>
                  <m:oMath xmlns:m="http://schemas.openxmlformats.org/officeDocument/2006/math">
                    <m:sSup>
                      <m:sSupPr>
                        <m:ctrlPr>
                          <a:rPr lang="en-US" sz="2000" b="1" i="1">
                            <a:solidFill>
                              <a:srgbClr val="FF0000"/>
                            </a:solidFill>
                            <a:latin typeface="Cambria Math" panose="02040503050406030204" pitchFamily="18" charset="0"/>
                          </a:rPr>
                        </m:ctrlPr>
                      </m:sSupPr>
                      <m:e>
                        <m:r>
                          <a:rPr lang="en-US" sz="2000" b="1" i="1">
                            <a:solidFill>
                              <a:srgbClr val="FF0000"/>
                            </a:solidFill>
                            <a:latin typeface="Cambria Math" panose="02040503050406030204" pitchFamily="18" charset="0"/>
                          </a:rPr>
                          <m:t>𝑯</m:t>
                        </m:r>
                      </m:e>
                      <m:sup>
                        <m:r>
                          <a:rPr lang="en-US" sz="2000" b="1" i="1">
                            <a:solidFill>
                              <a:srgbClr val="FF0000"/>
                            </a:solidFill>
                            <a:latin typeface="Cambria Math" panose="02040503050406030204" pitchFamily="18" charset="0"/>
                          </a:rPr>
                          <m:t>−</m:t>
                        </m:r>
                      </m:sup>
                    </m:sSup>
                  </m:oMath>
                </a14:m>
                <a:r>
                  <a:rPr lang="en-US" sz="2000" b="1" dirty="0">
                    <a:solidFill>
                      <a:srgbClr val="FF0000"/>
                    </a:solidFill>
                    <a:latin typeface="Arial" panose="020B0604020202020204" pitchFamily="34" charset="0"/>
                    <a:cs typeface="Arial" panose="020B0604020202020204" pitchFamily="34" charset="0"/>
                  </a:rPr>
                  <a:t> beam</a:t>
                </a:r>
                <a:r>
                  <a:rPr lang="el-GR" sz="2000" dirty="0">
                    <a:latin typeface="Arial" panose="020B0604020202020204" pitchFamily="34" charset="0"/>
                    <a:cs typeface="Arial" panose="020B0604020202020204" pitchFamily="34" charset="0"/>
                  </a:rPr>
                  <a:t>)</a:t>
                </a:r>
                <a:r>
                  <a:rPr lang="el-GR" sz="2000" dirty="0">
                    <a:latin typeface="Arial" panose="020B0604020202020204" pitchFamily="34" charset="0"/>
                    <a:cs typeface="Arial" panose="020B0604020202020204" pitchFamily="34" charset="0"/>
                    <a:sym typeface="Wingdings" pitchFamily="2" charset="2"/>
                  </a:rPr>
                  <a:t> →</a:t>
                </a:r>
                <a:r>
                  <a:rPr lang="el-GR" sz="2000" dirty="0">
                    <a:latin typeface="Arial" panose="020B0604020202020204" pitchFamily="34" charset="0"/>
                    <a:cs typeface="Arial" panose="020B0604020202020204" pitchFamily="34" charset="0"/>
                  </a:rPr>
                  <a:t> </a:t>
                </a:r>
                <a:r>
                  <a:rPr lang="en-US" sz="2000" b="1" dirty="0">
                    <a:solidFill>
                      <a:srgbClr val="7030A0"/>
                    </a:solidFill>
                    <a:latin typeface="Arial" panose="020B0604020202020204" pitchFamily="34" charset="0"/>
                    <a:cs typeface="Arial" panose="020B0604020202020204" pitchFamily="34" charset="0"/>
                  </a:rPr>
                  <a:t>stripping foil </a:t>
                </a:r>
                <a:r>
                  <a:rPr lang="el-GR" sz="2000" dirty="0">
                    <a:latin typeface="Arial" panose="020B0604020202020204" pitchFamily="34" charset="0"/>
                    <a:cs typeface="Arial" panose="020B0604020202020204" pitchFamily="34" charset="0"/>
                    <a:sym typeface="Wingdings" pitchFamily="2" charset="2"/>
                  </a:rPr>
                  <a:t>→</a:t>
                </a:r>
                <a:r>
                  <a:rPr lang="el-GR"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protons</a:t>
                </a:r>
                <a:r>
                  <a:rPr lang="el-GR" sz="2000" dirty="0">
                    <a:latin typeface="Arial" panose="020B0604020202020204" pitchFamily="34" charset="0"/>
                    <a:cs typeface="Arial" panose="020B0604020202020204" pitchFamily="34" charset="0"/>
                  </a:rPr>
                  <a:t>.</a:t>
                </a:r>
              </a:p>
            </p:txBody>
          </p:sp>
        </mc:Choice>
        <mc:Fallback xmlns="">
          <p:sp>
            <p:nvSpPr>
              <p:cNvPr id="11" name="TextBox 10">
                <a:extLst>
                  <a:ext uri="{FF2B5EF4-FFF2-40B4-BE49-F238E27FC236}">
                    <a16:creationId xmlns:a16="http://schemas.microsoft.com/office/drawing/2014/main" id="{CD277B15-5E7C-5160-AAF7-6200B83940D1}"/>
                  </a:ext>
                </a:extLst>
              </p:cNvPr>
              <p:cNvSpPr txBox="1">
                <a:spLocks noRot="1" noChangeAspect="1" noMove="1" noResize="1" noEditPoints="1" noAdjustHandles="1" noChangeArrowheads="1" noChangeShapeType="1" noTextEdit="1"/>
              </p:cNvSpPr>
              <p:nvPr/>
            </p:nvSpPr>
            <p:spPr>
              <a:xfrm>
                <a:off x="5998428" y="3825482"/>
                <a:ext cx="6150027" cy="1938992"/>
              </a:xfrm>
              <a:prstGeom prst="rect">
                <a:avLst/>
              </a:prstGeom>
              <a:blipFill>
                <a:blip r:embed="rId5"/>
                <a:stretch>
                  <a:fillRect l="-1031" t="-1948" b="-4545"/>
                </a:stretch>
              </a:blipFill>
            </p:spPr>
            <p:txBody>
              <a:bodyPr/>
              <a:lstStyle/>
              <a:p>
                <a:r>
                  <a:rPr lang="en-CH">
                    <a:noFill/>
                  </a:rPr>
                  <a:t> </a:t>
                </a:r>
              </a:p>
            </p:txBody>
          </p:sp>
        </mc:Fallback>
      </mc:AlternateContent>
      <p:sp>
        <p:nvSpPr>
          <p:cNvPr id="3" name="TextBox 2">
            <a:extLst>
              <a:ext uri="{FF2B5EF4-FFF2-40B4-BE49-F238E27FC236}">
                <a16:creationId xmlns:a16="http://schemas.microsoft.com/office/drawing/2014/main" id="{86BEC331-153E-EDFF-D942-FB0370281A44}"/>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E55C2D0-7819-7C8D-CCBA-0F074E73AB8F}"/>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1235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47C9C-9329-84C9-824D-68BBEFF6249E}"/>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Beam parameter adjustments</a:t>
            </a:r>
          </a:p>
        </p:txBody>
      </p:sp>
      <p:sp>
        <p:nvSpPr>
          <p:cNvPr id="5" name="Slide Number Placeholder 4">
            <a:extLst>
              <a:ext uri="{FF2B5EF4-FFF2-40B4-BE49-F238E27FC236}">
                <a16:creationId xmlns:a16="http://schemas.microsoft.com/office/drawing/2014/main" id="{CB68D873-EC54-3FD6-7607-B10F9116C132}"/>
              </a:ext>
            </a:extLst>
          </p:cNvPr>
          <p:cNvSpPr>
            <a:spLocks noGrp="1"/>
          </p:cNvSpPr>
          <p:nvPr>
            <p:ph type="sldNum" sz="quarter" idx="12"/>
          </p:nvPr>
        </p:nvSpPr>
        <p:spPr/>
        <p:txBody>
          <a:bodyPr/>
          <a:lstStyle/>
          <a:p>
            <a:r>
              <a:rPr lang="en-US" dirty="0"/>
              <a:t>9</a:t>
            </a:r>
            <a:endParaRPr lang="el-GR" dirty="0"/>
          </a:p>
        </p:txBody>
      </p:sp>
      <p:sp>
        <p:nvSpPr>
          <p:cNvPr id="6" name="Alternative Process 5">
            <a:extLst>
              <a:ext uri="{FF2B5EF4-FFF2-40B4-BE49-F238E27FC236}">
                <a16:creationId xmlns:a16="http://schemas.microsoft.com/office/drawing/2014/main" id="{B2FEF063-F835-F28A-CFD2-8C8BB055A64F}"/>
              </a:ext>
            </a:extLst>
          </p:cNvPr>
          <p:cNvSpPr/>
          <p:nvPr/>
        </p:nvSpPr>
        <p:spPr>
          <a:xfrm>
            <a:off x="879156" y="861944"/>
            <a:ext cx="2632842" cy="1489841"/>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sz="2000" b="1" dirty="0">
                <a:solidFill>
                  <a:srgbClr val="002060"/>
                </a:solidFill>
                <a:latin typeface="Arial" panose="020B0604020202020204" pitchFamily="34" charset="0"/>
                <a:cs typeface="Arial" panose="020B0604020202020204" pitchFamily="34" charset="0"/>
              </a:rPr>
              <a:t>Intensity</a:t>
            </a:r>
            <a:endParaRPr lang="en-CH" dirty="0">
              <a:solidFill>
                <a:srgbClr val="002060"/>
              </a:solidFill>
              <a:latin typeface="Arial" panose="020B0604020202020204" pitchFamily="34" charset="0"/>
              <a:cs typeface="Arial" panose="020B0604020202020204" pitchFamily="34" charset="0"/>
            </a:endParaRPr>
          </a:p>
          <a:p>
            <a:pPr algn="ctr"/>
            <a:r>
              <a:rPr lang="en-CH" dirty="0">
                <a:solidFill>
                  <a:srgbClr val="002060"/>
                </a:solidFill>
                <a:latin typeface="Arial" panose="020B0604020202020204" pitchFamily="34" charset="0"/>
                <a:cs typeface="Arial" panose="020B0604020202020204" pitchFamily="34" charset="0"/>
              </a:rPr>
              <a:t>Changing the number and length of the pulses injected from Linac4</a:t>
            </a:r>
          </a:p>
        </p:txBody>
      </p:sp>
      <p:sp>
        <p:nvSpPr>
          <p:cNvPr id="7" name="Alternative Process 6">
            <a:extLst>
              <a:ext uri="{FF2B5EF4-FFF2-40B4-BE49-F238E27FC236}">
                <a16:creationId xmlns:a16="http://schemas.microsoft.com/office/drawing/2014/main" id="{6BF2AC4C-D5A3-A1A5-6CFC-960CBE9A9DC5}"/>
              </a:ext>
            </a:extLst>
          </p:cNvPr>
          <p:cNvSpPr/>
          <p:nvPr/>
        </p:nvSpPr>
        <p:spPr>
          <a:xfrm>
            <a:off x="879156" y="2643703"/>
            <a:ext cx="2632842" cy="1489841"/>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sz="2000" b="1" dirty="0">
                <a:solidFill>
                  <a:srgbClr val="002060"/>
                </a:solidFill>
                <a:latin typeface="Arial" panose="020B0604020202020204" pitchFamily="34" charset="0"/>
                <a:cs typeface="Arial" panose="020B0604020202020204" pitchFamily="34" charset="0"/>
              </a:rPr>
              <a:t>Momentum spread</a:t>
            </a:r>
            <a:endParaRPr lang="en-CH" dirty="0">
              <a:solidFill>
                <a:srgbClr val="002060"/>
              </a:solidFill>
              <a:latin typeface="Arial" panose="020B0604020202020204" pitchFamily="34" charset="0"/>
              <a:cs typeface="Arial" panose="020B0604020202020204" pitchFamily="34" charset="0"/>
            </a:endParaRPr>
          </a:p>
          <a:p>
            <a:pPr algn="ctr"/>
            <a:r>
              <a:rPr lang="en-CH" dirty="0">
                <a:solidFill>
                  <a:srgbClr val="002060"/>
                </a:solidFill>
                <a:latin typeface="Arial" panose="020B0604020202020204" pitchFamily="34" charset="0"/>
                <a:cs typeface="Arial" panose="020B0604020202020204" pitchFamily="34" charset="0"/>
              </a:rPr>
              <a:t>Change the energy spread of the Linac4 pulse.</a:t>
            </a:r>
          </a:p>
        </p:txBody>
      </p:sp>
      <p:sp>
        <p:nvSpPr>
          <p:cNvPr id="8" name="Alternative Process 7">
            <a:extLst>
              <a:ext uri="{FF2B5EF4-FFF2-40B4-BE49-F238E27FC236}">
                <a16:creationId xmlns:a16="http://schemas.microsoft.com/office/drawing/2014/main" id="{CC671DFB-C3D8-6870-6056-030F1B9B1DA4}"/>
              </a:ext>
            </a:extLst>
          </p:cNvPr>
          <p:cNvSpPr/>
          <p:nvPr/>
        </p:nvSpPr>
        <p:spPr>
          <a:xfrm>
            <a:off x="459801" y="4425462"/>
            <a:ext cx="3588655" cy="2044349"/>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sz="2000" b="1" dirty="0">
                <a:solidFill>
                  <a:srgbClr val="002060"/>
                </a:solidFill>
                <a:latin typeface="Arial" panose="020B0604020202020204" pitchFamily="34" charset="0"/>
                <a:cs typeface="Arial" panose="020B0604020202020204" pitchFamily="34" charset="0"/>
              </a:rPr>
              <a:t>Emittance blow-up</a:t>
            </a:r>
            <a:endParaRPr lang="en-CH" dirty="0">
              <a:solidFill>
                <a:srgbClr val="002060"/>
              </a:solidFill>
              <a:latin typeface="Arial" panose="020B0604020202020204" pitchFamily="34" charset="0"/>
              <a:cs typeface="Arial" panose="020B0604020202020204" pitchFamily="34" charset="0"/>
            </a:endParaRPr>
          </a:p>
          <a:p>
            <a:pPr marL="285750" indent="-285750" algn="ctr">
              <a:buFontTx/>
              <a:buChar char="-"/>
            </a:pPr>
            <a:r>
              <a:rPr lang="en-CH" dirty="0">
                <a:solidFill>
                  <a:srgbClr val="002060"/>
                </a:solidFill>
                <a:latin typeface="Arial" panose="020B0604020202020204" pitchFamily="34" charset="0"/>
                <a:cs typeface="Arial" panose="020B0604020202020204" pitchFamily="34" charset="0"/>
              </a:rPr>
              <a:t>Change the number of foil crossings</a:t>
            </a:r>
          </a:p>
          <a:p>
            <a:pPr marL="285750" indent="-285750" algn="ctr">
              <a:buFontTx/>
              <a:buChar char="-"/>
            </a:pPr>
            <a:r>
              <a:rPr lang="en-CH" dirty="0">
                <a:solidFill>
                  <a:srgbClr val="002060"/>
                </a:solidFill>
                <a:latin typeface="Arial" panose="020B0604020202020204" pitchFamily="34" charset="0"/>
                <a:cs typeface="Arial" panose="020B0604020202020204" pitchFamily="34" charset="0"/>
              </a:rPr>
              <a:t>Injection misteering (injection oscillations)</a:t>
            </a:r>
          </a:p>
        </p:txBody>
      </p:sp>
      <p:pic>
        <p:nvPicPr>
          <p:cNvPr id="1026" name="Picture 2" descr="zoom">
            <a:extLst>
              <a:ext uri="{FF2B5EF4-FFF2-40B4-BE49-F238E27FC236}">
                <a16:creationId xmlns:a16="http://schemas.microsoft.com/office/drawing/2014/main" id="{00C028B9-DBFD-7B0D-925B-760D85566A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4197" y="690113"/>
            <a:ext cx="7288002" cy="610750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BF164F8-B90D-983D-F1E8-2754FC1695FC}"/>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9071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D24CD-AD39-4F49-C462-2245FCE2F957}"/>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Tune setup</a:t>
            </a:r>
          </a:p>
        </p:txBody>
      </p:sp>
      <p:sp>
        <p:nvSpPr>
          <p:cNvPr id="5" name="Slide Number Placeholder 4">
            <a:extLst>
              <a:ext uri="{FF2B5EF4-FFF2-40B4-BE49-F238E27FC236}">
                <a16:creationId xmlns:a16="http://schemas.microsoft.com/office/drawing/2014/main" id="{1503E069-5A14-E51E-DCA6-9E35DEC74D82}"/>
              </a:ext>
            </a:extLst>
          </p:cNvPr>
          <p:cNvSpPr>
            <a:spLocks noGrp="1"/>
          </p:cNvSpPr>
          <p:nvPr>
            <p:ph type="sldNum" sz="quarter" idx="12"/>
          </p:nvPr>
        </p:nvSpPr>
        <p:spPr/>
        <p:txBody>
          <a:bodyPr/>
          <a:lstStyle/>
          <a:p>
            <a:r>
              <a:rPr lang="en-US" dirty="0"/>
              <a:t>10</a:t>
            </a:r>
            <a:endParaRPr lang="el-GR" dirty="0"/>
          </a:p>
        </p:txBody>
      </p:sp>
      <p:pic>
        <p:nvPicPr>
          <p:cNvPr id="6" name="Picture 5">
            <a:extLst>
              <a:ext uri="{FF2B5EF4-FFF2-40B4-BE49-F238E27FC236}">
                <a16:creationId xmlns:a16="http://schemas.microsoft.com/office/drawing/2014/main" id="{C44C56F6-650E-4C80-61B9-C62BA41861BF}"/>
              </a:ext>
            </a:extLst>
          </p:cNvPr>
          <p:cNvPicPr>
            <a:picLocks noChangeAspect="1"/>
          </p:cNvPicPr>
          <p:nvPr/>
        </p:nvPicPr>
        <p:blipFill>
          <a:blip r:embed="rId2"/>
          <a:stretch>
            <a:fillRect/>
          </a:stretch>
        </p:blipFill>
        <p:spPr>
          <a:xfrm>
            <a:off x="217098" y="949901"/>
            <a:ext cx="7772400" cy="4820176"/>
          </a:xfrm>
          <a:prstGeom prst="rect">
            <a:avLst/>
          </a:prstGeom>
        </p:spPr>
      </p:pic>
      <mc:AlternateContent xmlns:mc="http://schemas.openxmlformats.org/markup-compatibility/2006" xmlns:a14="http://schemas.microsoft.com/office/drawing/2010/main">
        <mc:Choice Requires="a14">
          <p:sp>
            <p:nvSpPr>
              <p:cNvPr id="7" name="Alternative Process 6">
                <a:extLst>
                  <a:ext uri="{FF2B5EF4-FFF2-40B4-BE49-F238E27FC236}">
                    <a16:creationId xmlns:a16="http://schemas.microsoft.com/office/drawing/2014/main" id="{CE4EED30-56C4-B3A1-2A6C-50431FF34469}"/>
                  </a:ext>
                </a:extLst>
              </p:cNvPr>
              <p:cNvSpPr/>
              <p:nvPr/>
            </p:nvSpPr>
            <p:spPr>
              <a:xfrm>
                <a:off x="8496281" y="1338431"/>
                <a:ext cx="3192511" cy="1771516"/>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ctrlPr>
                            <a:rPr lang="en-US" sz="2000" b="1" i="1" smtClean="0">
                              <a:solidFill>
                                <a:srgbClr val="002060"/>
                              </a:solidFill>
                              <a:latin typeface="Cambria Math" panose="02040503050406030204" pitchFamily="18" charset="0"/>
                            </a:rPr>
                          </m:ctrlPr>
                        </m:dPr>
                        <m:e>
                          <m:sSub>
                            <m:sSubPr>
                              <m:ctrlPr>
                                <a:rPr lang="en-US" sz="2000" b="1" i="1" smtClean="0">
                                  <a:solidFill>
                                    <a:srgbClr val="002060"/>
                                  </a:solidFill>
                                  <a:latin typeface="Cambria Math" panose="02040503050406030204" pitchFamily="18" charset="0"/>
                                </a:rPr>
                              </m:ctrlPr>
                            </m:sSubPr>
                            <m:e>
                              <m:r>
                                <a:rPr lang="en-US" sz="2000" b="1" i="1" smtClean="0">
                                  <a:solidFill>
                                    <a:srgbClr val="002060"/>
                                  </a:solidFill>
                                  <a:latin typeface="Cambria Math" panose="02040503050406030204" pitchFamily="18" charset="0"/>
                                </a:rPr>
                                <m:t>𝑸</m:t>
                              </m:r>
                            </m:e>
                            <m:sub>
                              <m:r>
                                <a:rPr lang="en-US" sz="2000" b="1" i="1" smtClean="0">
                                  <a:solidFill>
                                    <a:srgbClr val="002060"/>
                                  </a:solidFill>
                                  <a:latin typeface="Cambria Math" panose="02040503050406030204" pitchFamily="18" charset="0"/>
                                </a:rPr>
                                <m:t>𝒙</m:t>
                              </m:r>
                            </m:sub>
                          </m:sSub>
                          <m:r>
                            <a:rPr lang="en-US" sz="2000" b="1" i="1" smtClean="0">
                              <a:solidFill>
                                <a:srgbClr val="002060"/>
                              </a:solidFill>
                              <a:latin typeface="Cambria Math" panose="02040503050406030204" pitchFamily="18" charset="0"/>
                            </a:rPr>
                            <m:t>,</m:t>
                          </m:r>
                          <m:sSub>
                            <m:sSubPr>
                              <m:ctrlPr>
                                <a:rPr lang="en-US" sz="2000" b="1" i="1" smtClean="0">
                                  <a:solidFill>
                                    <a:srgbClr val="002060"/>
                                  </a:solidFill>
                                  <a:latin typeface="Cambria Math" panose="02040503050406030204" pitchFamily="18" charset="0"/>
                                </a:rPr>
                              </m:ctrlPr>
                            </m:sSubPr>
                            <m:e>
                              <m:r>
                                <a:rPr lang="en-US" sz="2000" b="1" i="1" smtClean="0">
                                  <a:solidFill>
                                    <a:srgbClr val="002060"/>
                                  </a:solidFill>
                                  <a:latin typeface="Cambria Math" panose="02040503050406030204" pitchFamily="18" charset="0"/>
                                </a:rPr>
                                <m:t>𝑸</m:t>
                              </m:r>
                            </m:e>
                            <m:sub>
                              <m:r>
                                <a:rPr lang="en-US" sz="2000" b="1" i="1" smtClean="0">
                                  <a:solidFill>
                                    <a:srgbClr val="002060"/>
                                  </a:solidFill>
                                  <a:latin typeface="Cambria Math" panose="02040503050406030204" pitchFamily="18" charset="0"/>
                                </a:rPr>
                                <m:t>𝒚</m:t>
                              </m:r>
                            </m:sub>
                          </m:sSub>
                        </m:e>
                      </m:d>
                      <m:r>
                        <a:rPr lang="en-US" sz="2000" b="1" i="1" smtClean="0">
                          <a:solidFill>
                            <a:srgbClr val="002060"/>
                          </a:solidFill>
                          <a:latin typeface="Cambria Math" panose="02040503050406030204" pitchFamily="18" charset="0"/>
                        </a:rPr>
                        <m:t>=</m:t>
                      </m:r>
                      <m:d>
                        <m:dPr>
                          <m:ctrlPr>
                            <a:rPr lang="en-US" sz="2000" b="1" i="1" smtClean="0">
                              <a:solidFill>
                                <a:srgbClr val="002060"/>
                              </a:solidFill>
                              <a:latin typeface="Cambria Math" panose="02040503050406030204" pitchFamily="18" charset="0"/>
                            </a:rPr>
                          </m:ctrlPr>
                        </m:dPr>
                        <m:e>
                          <m:r>
                            <a:rPr lang="en-US" sz="2000" b="1" i="1" smtClean="0">
                              <a:solidFill>
                                <a:srgbClr val="002060"/>
                              </a:solidFill>
                              <a:latin typeface="Cambria Math" panose="02040503050406030204" pitchFamily="18" charset="0"/>
                            </a:rPr>
                            <m:t>𝟒</m:t>
                          </m:r>
                          <m:r>
                            <a:rPr lang="en-US" sz="2000" b="1" i="1" smtClean="0">
                              <a:solidFill>
                                <a:srgbClr val="002060"/>
                              </a:solidFill>
                              <a:latin typeface="Cambria Math" panose="02040503050406030204" pitchFamily="18" charset="0"/>
                            </a:rPr>
                            <m:t>.</m:t>
                          </m:r>
                          <m:r>
                            <a:rPr lang="en-US" sz="2000" b="1" i="1" smtClean="0">
                              <a:solidFill>
                                <a:srgbClr val="002060"/>
                              </a:solidFill>
                              <a:latin typeface="Cambria Math" panose="02040503050406030204" pitchFamily="18" charset="0"/>
                            </a:rPr>
                            <m:t>𝟏𝟕</m:t>
                          </m:r>
                          <m:r>
                            <a:rPr lang="en-US" sz="2000" b="1" i="1" smtClean="0">
                              <a:solidFill>
                                <a:srgbClr val="002060"/>
                              </a:solidFill>
                              <a:latin typeface="Cambria Math" panose="02040503050406030204" pitchFamily="18" charset="0"/>
                            </a:rPr>
                            <m:t>,</m:t>
                          </m:r>
                          <m:r>
                            <a:rPr lang="en-US" sz="2000" b="1" i="1" smtClean="0">
                              <a:solidFill>
                                <a:srgbClr val="002060"/>
                              </a:solidFill>
                              <a:latin typeface="Cambria Math" panose="02040503050406030204" pitchFamily="18" charset="0"/>
                            </a:rPr>
                            <m:t>𝟒</m:t>
                          </m:r>
                          <m:r>
                            <a:rPr lang="en-US" sz="2000" b="1" i="1" smtClean="0">
                              <a:solidFill>
                                <a:srgbClr val="002060"/>
                              </a:solidFill>
                              <a:latin typeface="Cambria Math" panose="02040503050406030204" pitchFamily="18" charset="0"/>
                            </a:rPr>
                            <m:t>.</m:t>
                          </m:r>
                          <m:r>
                            <a:rPr lang="en-US" sz="2000" b="1" i="1" smtClean="0">
                              <a:solidFill>
                                <a:srgbClr val="002060"/>
                              </a:solidFill>
                              <a:latin typeface="Cambria Math" panose="02040503050406030204" pitchFamily="18" charset="0"/>
                            </a:rPr>
                            <m:t>𝟐𝟑</m:t>
                          </m:r>
                        </m:e>
                      </m:d>
                    </m:oMath>
                  </m:oMathPara>
                </a14:m>
                <a:endParaRPr lang="en-CH" sz="2000" b="1" dirty="0">
                  <a:solidFill>
                    <a:srgbClr val="002060"/>
                  </a:solidFill>
                  <a:latin typeface="Arial" panose="020B0604020202020204" pitchFamily="34" charset="0"/>
                  <a:cs typeface="Arial" panose="020B0604020202020204" pitchFamily="34" charset="0"/>
                </a:endParaRPr>
              </a:p>
              <a:p>
                <a:pPr algn="ctr"/>
                <a:endParaRPr lang="en-CH" sz="2000" b="1" dirty="0">
                  <a:solidFill>
                    <a:srgbClr val="002060"/>
                  </a:solidFill>
                  <a:latin typeface="Arial" panose="020B0604020202020204" pitchFamily="34" charset="0"/>
                  <a:cs typeface="Arial" panose="020B0604020202020204" pitchFamily="34" charset="0"/>
                </a:endParaRPr>
              </a:p>
              <a:p>
                <a:pPr algn="ctr"/>
                <a:r>
                  <a:rPr lang="en-CH" sz="2000" b="1" dirty="0">
                    <a:solidFill>
                      <a:srgbClr val="002060"/>
                    </a:solidFill>
                    <a:latin typeface="Arial" panose="020B0604020202020204" pitchFamily="34" charset="0"/>
                    <a:cs typeface="Arial" panose="020B0604020202020204" pitchFamily="34" charset="0"/>
                  </a:rPr>
                  <a:t>Working point at which the extraction is setup.</a:t>
                </a:r>
              </a:p>
            </p:txBody>
          </p:sp>
        </mc:Choice>
        <mc:Fallback xmlns="">
          <p:sp>
            <p:nvSpPr>
              <p:cNvPr id="7" name="Alternative Process 6">
                <a:extLst>
                  <a:ext uri="{FF2B5EF4-FFF2-40B4-BE49-F238E27FC236}">
                    <a16:creationId xmlns:a16="http://schemas.microsoft.com/office/drawing/2014/main" id="{CE4EED30-56C4-B3A1-2A6C-50431FF34469}"/>
                  </a:ext>
                </a:extLst>
              </p:cNvPr>
              <p:cNvSpPr>
                <a:spLocks noRot="1" noChangeAspect="1" noMove="1" noResize="1" noEditPoints="1" noAdjustHandles="1" noChangeArrowheads="1" noChangeShapeType="1" noTextEdit="1"/>
              </p:cNvSpPr>
              <p:nvPr/>
            </p:nvSpPr>
            <p:spPr>
              <a:xfrm>
                <a:off x="8496281" y="1338431"/>
                <a:ext cx="3192511" cy="1771516"/>
              </a:xfrm>
              <a:prstGeom prst="flowChartAlternateProcess">
                <a:avLst/>
              </a:prstGeom>
              <a:blipFill>
                <a:blip r:embed="rId3"/>
                <a:stretch>
                  <a:fillRect/>
                </a:stretch>
              </a:blipFill>
              <a:ln w="38100">
                <a:solidFill>
                  <a:srgbClr val="002060"/>
                </a:solidFill>
              </a:ln>
              <a:effectLst>
                <a:outerShdw blurRad="50800" dist="38100" dir="13500000" algn="br" rotWithShape="0">
                  <a:prstClr val="black">
                    <a:alpha val="40000"/>
                  </a:prstClr>
                </a:outerShdw>
              </a:effectLst>
            </p:spPr>
            <p:txBody>
              <a:bodyPr/>
              <a:lstStyle/>
              <a:p>
                <a:r>
                  <a:rPr lang="en-CH">
                    <a:noFill/>
                  </a:rPr>
                  <a:t> </a:t>
                </a:r>
              </a:p>
            </p:txBody>
          </p:sp>
        </mc:Fallback>
      </mc:AlternateContent>
      <p:sp>
        <p:nvSpPr>
          <p:cNvPr id="9" name="Alternative Process 8">
            <a:extLst>
              <a:ext uri="{FF2B5EF4-FFF2-40B4-BE49-F238E27FC236}">
                <a16:creationId xmlns:a16="http://schemas.microsoft.com/office/drawing/2014/main" id="{FCB4347A-E1A4-FB06-9175-F1EE1C38682B}"/>
              </a:ext>
            </a:extLst>
          </p:cNvPr>
          <p:cNvSpPr/>
          <p:nvPr/>
        </p:nvSpPr>
        <p:spPr>
          <a:xfrm>
            <a:off x="8496281" y="3618065"/>
            <a:ext cx="3192511" cy="1771516"/>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sz="2000" b="1" dirty="0">
                <a:solidFill>
                  <a:srgbClr val="002060"/>
                </a:solidFill>
                <a:latin typeface="Arial" panose="020B0604020202020204" pitchFamily="34" charset="0"/>
                <a:cs typeface="Arial" panose="020B0604020202020204" pitchFamily="34" charset="0"/>
              </a:rPr>
              <a:t>Dynamic tune change during the PSB cycle</a:t>
            </a:r>
          </a:p>
          <a:p>
            <a:pPr algn="ctr"/>
            <a:endParaRPr lang="en-CH" sz="2000" b="1" dirty="0">
              <a:solidFill>
                <a:srgbClr val="002060"/>
              </a:solidFill>
              <a:latin typeface="Arial" panose="020B0604020202020204" pitchFamily="34" charset="0"/>
              <a:cs typeface="Arial" panose="020B0604020202020204" pitchFamily="34" charset="0"/>
            </a:endParaRPr>
          </a:p>
          <a:p>
            <a:pPr algn="ctr"/>
            <a:r>
              <a:rPr lang="en-CH" sz="2000" dirty="0">
                <a:solidFill>
                  <a:srgbClr val="002060"/>
                </a:solidFill>
                <a:latin typeface="Arial" panose="020B0604020202020204" pitchFamily="34" charset="0"/>
                <a:cs typeface="Arial" panose="020B0604020202020204" pitchFamily="34" charset="0"/>
              </a:rPr>
              <a:t>What is the optimal tune ramp?</a:t>
            </a:r>
          </a:p>
        </p:txBody>
      </p:sp>
      <p:sp>
        <p:nvSpPr>
          <p:cNvPr id="3" name="TextBox 2">
            <a:extLst>
              <a:ext uri="{FF2B5EF4-FFF2-40B4-BE49-F238E27FC236}">
                <a16:creationId xmlns:a16="http://schemas.microsoft.com/office/drawing/2014/main" id="{52D2CE0E-DDDA-D8CC-B4B7-05638AA607CA}"/>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7240008-6374-A61B-A06F-922263D8C3E8}"/>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438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27B1F-AE21-F120-DC83-5DBEDFEFA204}"/>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Tune setup: losses and emittance blow-up</a:t>
            </a:r>
          </a:p>
        </p:txBody>
      </p:sp>
      <p:sp>
        <p:nvSpPr>
          <p:cNvPr id="5" name="Slide Number Placeholder 4">
            <a:extLst>
              <a:ext uri="{FF2B5EF4-FFF2-40B4-BE49-F238E27FC236}">
                <a16:creationId xmlns:a16="http://schemas.microsoft.com/office/drawing/2014/main" id="{E1F8CC0E-5B34-808E-C28C-1666D83812B4}"/>
              </a:ext>
            </a:extLst>
          </p:cNvPr>
          <p:cNvSpPr>
            <a:spLocks noGrp="1"/>
          </p:cNvSpPr>
          <p:nvPr>
            <p:ph type="sldNum" sz="quarter" idx="12"/>
          </p:nvPr>
        </p:nvSpPr>
        <p:spPr/>
        <p:txBody>
          <a:bodyPr/>
          <a:lstStyle/>
          <a:p>
            <a:r>
              <a:rPr lang="en-US" dirty="0"/>
              <a:t>11</a:t>
            </a:r>
            <a:endParaRPr lang="el-GR" dirty="0"/>
          </a:p>
        </p:txBody>
      </p:sp>
      <p:pic>
        <p:nvPicPr>
          <p:cNvPr id="6" name="Picture 2">
            <a:extLst>
              <a:ext uri="{FF2B5EF4-FFF2-40B4-BE49-F238E27FC236}">
                <a16:creationId xmlns:a16="http://schemas.microsoft.com/office/drawing/2014/main" id="{9734A6F1-8C8E-EEB9-BEEC-9E160D3A39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662" y="2179142"/>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a:extLst>
              <a:ext uri="{FF2B5EF4-FFF2-40B4-BE49-F238E27FC236}">
                <a16:creationId xmlns:a16="http://schemas.microsoft.com/office/drawing/2014/main" id="{7202E3A3-6948-4841-B15F-37F1D599E3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3975" y="2179141"/>
            <a:ext cx="2857501" cy="28575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5FC2E10-17C5-3930-9490-756637F51C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6909" y="1595934"/>
            <a:ext cx="3666132" cy="3666132"/>
          </a:xfrm>
          <a:prstGeom prst="rect">
            <a:avLst/>
          </a:prstGeom>
        </p:spPr>
      </p:pic>
      <p:cxnSp>
        <p:nvCxnSpPr>
          <p:cNvPr id="10" name="Straight Connector 9">
            <a:extLst>
              <a:ext uri="{FF2B5EF4-FFF2-40B4-BE49-F238E27FC236}">
                <a16:creationId xmlns:a16="http://schemas.microsoft.com/office/drawing/2014/main" id="{483CE937-1245-374C-DC96-80A716F99551}"/>
              </a:ext>
            </a:extLst>
          </p:cNvPr>
          <p:cNvCxnSpPr>
            <a:cxnSpLocks/>
          </p:cNvCxnSpPr>
          <p:nvPr/>
        </p:nvCxnSpPr>
        <p:spPr>
          <a:xfrm>
            <a:off x="4422276" y="3923071"/>
            <a:ext cx="2922105" cy="0"/>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BFB40C2C-83B4-955C-D2D2-38A5137829D1}"/>
              </a:ext>
            </a:extLst>
          </p:cNvPr>
          <p:cNvCxnSpPr>
            <a:cxnSpLocks/>
            <a:stCxn id="13" idx="2"/>
          </p:cNvCxnSpPr>
          <p:nvPr/>
        </p:nvCxnSpPr>
        <p:spPr>
          <a:xfrm>
            <a:off x="5588698" y="1861445"/>
            <a:ext cx="0" cy="2990458"/>
          </a:xfrm>
          <a:prstGeom prst="line">
            <a:avLst/>
          </a:prstGeom>
          <a:ln w="38100">
            <a:solidFill>
              <a:srgbClr val="00B050"/>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D01561EC-2701-68D2-C421-4CF741CD2009}"/>
              </a:ext>
            </a:extLst>
          </p:cNvPr>
          <p:cNvCxnSpPr>
            <a:cxnSpLocks/>
          </p:cNvCxnSpPr>
          <p:nvPr/>
        </p:nvCxnSpPr>
        <p:spPr>
          <a:xfrm>
            <a:off x="4422276" y="2434622"/>
            <a:ext cx="2922105" cy="0"/>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8B8F55A-DAA2-51C3-44B5-B659391BFBA0}"/>
                  </a:ext>
                </a:extLst>
              </p:cNvPr>
              <p:cNvSpPr txBox="1"/>
              <p:nvPr/>
            </p:nvSpPr>
            <p:spPr>
              <a:xfrm>
                <a:off x="5063724" y="1584446"/>
                <a:ext cx="1049948"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smtClean="0">
                          <a:solidFill>
                            <a:srgbClr val="00B050"/>
                          </a:solidFill>
                          <a:latin typeface="Cambria Math" panose="02040503050406030204" pitchFamily="18" charset="0"/>
                        </a:rPr>
                        <m:t>𝟒</m:t>
                      </m:r>
                      <m:sSub>
                        <m:sSubPr>
                          <m:ctrlPr>
                            <a:rPr lang="en-US" sz="1200" b="1" i="1" smtClean="0">
                              <a:solidFill>
                                <a:srgbClr val="00B050"/>
                              </a:solidFill>
                              <a:latin typeface="Cambria Math" panose="02040503050406030204" pitchFamily="18" charset="0"/>
                            </a:rPr>
                          </m:ctrlPr>
                        </m:sSubPr>
                        <m:e>
                          <m:r>
                            <a:rPr lang="en-US" sz="1200" b="1" i="1" smtClean="0">
                              <a:solidFill>
                                <a:srgbClr val="00B050"/>
                              </a:solidFill>
                              <a:latin typeface="Cambria Math" panose="02040503050406030204" pitchFamily="18" charset="0"/>
                            </a:rPr>
                            <m:t>𝑸</m:t>
                          </m:r>
                        </m:e>
                        <m:sub>
                          <m:r>
                            <a:rPr lang="en-US" sz="1200" b="1" i="1" smtClean="0">
                              <a:solidFill>
                                <a:srgbClr val="00B050"/>
                              </a:solidFill>
                              <a:latin typeface="Cambria Math" panose="02040503050406030204" pitchFamily="18" charset="0"/>
                            </a:rPr>
                            <m:t>𝒙</m:t>
                          </m:r>
                        </m:sub>
                      </m:sSub>
                      <m:r>
                        <a:rPr lang="en-US" sz="1200" b="1" i="1" smtClean="0">
                          <a:solidFill>
                            <a:srgbClr val="00B050"/>
                          </a:solidFill>
                          <a:latin typeface="Cambria Math" panose="02040503050406030204" pitchFamily="18" charset="0"/>
                        </a:rPr>
                        <m:t>=</m:t>
                      </m:r>
                      <m:r>
                        <a:rPr lang="en-US" sz="1200" b="1" i="1" smtClean="0">
                          <a:solidFill>
                            <a:srgbClr val="00B050"/>
                          </a:solidFill>
                          <a:latin typeface="Cambria Math" panose="02040503050406030204" pitchFamily="18" charset="0"/>
                        </a:rPr>
                        <m:t>𝟏𝟔</m:t>
                      </m:r>
                    </m:oMath>
                  </m:oMathPara>
                </a14:m>
                <a:endParaRPr lang="en-US" sz="1200" b="1" dirty="0">
                  <a:solidFill>
                    <a:srgbClr val="00B050"/>
                  </a:solidFill>
                </a:endParaRPr>
              </a:p>
            </p:txBody>
          </p:sp>
        </mc:Choice>
        <mc:Fallback xmlns="">
          <p:sp>
            <p:nvSpPr>
              <p:cNvPr id="13" name="TextBox 12">
                <a:extLst>
                  <a:ext uri="{FF2B5EF4-FFF2-40B4-BE49-F238E27FC236}">
                    <a16:creationId xmlns:a16="http://schemas.microsoft.com/office/drawing/2014/main" id="{88B8F55A-DAA2-51C3-44B5-B659391BFBA0}"/>
                  </a:ext>
                </a:extLst>
              </p:cNvPr>
              <p:cNvSpPr txBox="1">
                <a:spLocks noRot="1" noChangeAspect="1" noMove="1" noResize="1" noEditPoints="1" noAdjustHandles="1" noChangeArrowheads="1" noChangeShapeType="1" noTextEdit="1"/>
              </p:cNvSpPr>
              <p:nvPr/>
            </p:nvSpPr>
            <p:spPr>
              <a:xfrm>
                <a:off x="5063724" y="1584446"/>
                <a:ext cx="1049948" cy="276999"/>
              </a:xfrm>
              <a:prstGeom prst="rect">
                <a:avLst/>
              </a:prstGeom>
              <a:blipFill>
                <a:blip r:embed="rId5"/>
                <a:stretch>
                  <a:fillRect/>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DF23C06-7F38-094C-8D6D-1B282F5ABA1F}"/>
                  </a:ext>
                </a:extLst>
              </p:cNvPr>
              <p:cNvSpPr txBox="1"/>
              <p:nvPr/>
            </p:nvSpPr>
            <p:spPr>
              <a:xfrm>
                <a:off x="7200975" y="3776076"/>
                <a:ext cx="982830" cy="2939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smtClean="0">
                          <a:solidFill>
                            <a:srgbClr val="00B050"/>
                          </a:solidFill>
                          <a:latin typeface="Cambria Math" panose="02040503050406030204" pitchFamily="18" charset="0"/>
                        </a:rPr>
                        <m:t>𝟒</m:t>
                      </m:r>
                      <m:sSub>
                        <m:sSubPr>
                          <m:ctrlPr>
                            <a:rPr lang="en-US" sz="1200" b="1" i="1" smtClean="0">
                              <a:solidFill>
                                <a:srgbClr val="00B050"/>
                              </a:solidFill>
                              <a:latin typeface="Cambria Math" panose="02040503050406030204" pitchFamily="18" charset="0"/>
                            </a:rPr>
                          </m:ctrlPr>
                        </m:sSubPr>
                        <m:e>
                          <m:r>
                            <a:rPr lang="en-US" sz="1200" b="1" i="1" smtClean="0">
                              <a:solidFill>
                                <a:srgbClr val="00B050"/>
                              </a:solidFill>
                              <a:latin typeface="Cambria Math" panose="02040503050406030204" pitchFamily="18" charset="0"/>
                            </a:rPr>
                            <m:t>𝑸</m:t>
                          </m:r>
                        </m:e>
                        <m:sub>
                          <m:r>
                            <a:rPr lang="en-US" sz="1200" b="1" i="1" smtClean="0">
                              <a:solidFill>
                                <a:srgbClr val="00B050"/>
                              </a:solidFill>
                              <a:latin typeface="Cambria Math" panose="02040503050406030204" pitchFamily="18" charset="0"/>
                            </a:rPr>
                            <m:t>𝒚</m:t>
                          </m:r>
                        </m:sub>
                      </m:sSub>
                      <m:r>
                        <a:rPr lang="en-US" sz="1200" b="1" i="1" smtClean="0">
                          <a:solidFill>
                            <a:srgbClr val="00B050"/>
                          </a:solidFill>
                          <a:latin typeface="Cambria Math" panose="02040503050406030204" pitchFamily="18" charset="0"/>
                        </a:rPr>
                        <m:t>=</m:t>
                      </m:r>
                      <m:r>
                        <a:rPr lang="en-US" sz="1200" b="1" i="1" smtClean="0">
                          <a:solidFill>
                            <a:srgbClr val="00B050"/>
                          </a:solidFill>
                          <a:latin typeface="Cambria Math" panose="02040503050406030204" pitchFamily="18" charset="0"/>
                        </a:rPr>
                        <m:t>𝟏𝟔</m:t>
                      </m:r>
                    </m:oMath>
                  </m:oMathPara>
                </a14:m>
                <a:endParaRPr lang="en-US" sz="1200" b="1" dirty="0">
                  <a:solidFill>
                    <a:srgbClr val="00B050"/>
                  </a:solidFill>
                </a:endParaRPr>
              </a:p>
            </p:txBody>
          </p:sp>
        </mc:Choice>
        <mc:Fallback xmlns="">
          <p:sp>
            <p:nvSpPr>
              <p:cNvPr id="14" name="TextBox 13">
                <a:extLst>
                  <a:ext uri="{FF2B5EF4-FFF2-40B4-BE49-F238E27FC236}">
                    <a16:creationId xmlns:a16="http://schemas.microsoft.com/office/drawing/2014/main" id="{7DF23C06-7F38-094C-8D6D-1B282F5ABA1F}"/>
                  </a:ext>
                </a:extLst>
              </p:cNvPr>
              <p:cNvSpPr txBox="1">
                <a:spLocks noRot="1" noChangeAspect="1" noMove="1" noResize="1" noEditPoints="1" noAdjustHandles="1" noChangeArrowheads="1" noChangeShapeType="1" noTextEdit="1"/>
              </p:cNvSpPr>
              <p:nvPr/>
            </p:nvSpPr>
            <p:spPr>
              <a:xfrm>
                <a:off x="7200975" y="3776076"/>
                <a:ext cx="982830" cy="293991"/>
              </a:xfrm>
              <a:prstGeom prst="rect">
                <a:avLst/>
              </a:prstGeom>
              <a:blipFill>
                <a:blip r:embed="rId6"/>
                <a:stretch>
                  <a:fillRect/>
                </a:stretch>
              </a:blipFill>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6004AEE-CD83-76AD-4FF6-63D0E0C2A7C6}"/>
                  </a:ext>
                </a:extLst>
              </p:cNvPr>
              <p:cNvSpPr txBox="1"/>
              <p:nvPr/>
            </p:nvSpPr>
            <p:spPr>
              <a:xfrm>
                <a:off x="7126431" y="2250018"/>
                <a:ext cx="1089336" cy="2939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1" i="1" smtClean="0">
                          <a:solidFill>
                            <a:srgbClr val="FF0000"/>
                          </a:solidFill>
                          <a:latin typeface="Cambria Math" panose="02040503050406030204" pitchFamily="18" charset="0"/>
                        </a:rPr>
                        <m:t>𝟐</m:t>
                      </m:r>
                      <m:sSub>
                        <m:sSubPr>
                          <m:ctrlPr>
                            <a:rPr lang="en-US" sz="1200" b="1" i="1" smtClean="0">
                              <a:solidFill>
                                <a:srgbClr val="FF0000"/>
                              </a:solidFill>
                              <a:latin typeface="Cambria Math" panose="02040503050406030204" pitchFamily="18" charset="0"/>
                            </a:rPr>
                          </m:ctrlPr>
                        </m:sSubPr>
                        <m:e>
                          <m:r>
                            <a:rPr lang="en-US" sz="1200" b="1" i="1" smtClean="0">
                              <a:solidFill>
                                <a:srgbClr val="FF0000"/>
                              </a:solidFill>
                              <a:latin typeface="Cambria Math" panose="02040503050406030204" pitchFamily="18" charset="0"/>
                            </a:rPr>
                            <m:t>𝑸</m:t>
                          </m:r>
                        </m:e>
                        <m:sub>
                          <m:r>
                            <a:rPr lang="en-US" sz="1200" b="1" i="1" smtClean="0">
                              <a:solidFill>
                                <a:srgbClr val="FF0000"/>
                              </a:solidFill>
                              <a:latin typeface="Cambria Math" panose="02040503050406030204" pitchFamily="18" charset="0"/>
                            </a:rPr>
                            <m:t>𝒚</m:t>
                          </m:r>
                        </m:sub>
                      </m:sSub>
                      <m:r>
                        <a:rPr lang="en-US" sz="1200" b="1" i="1" smtClean="0">
                          <a:solidFill>
                            <a:srgbClr val="FF0000"/>
                          </a:solidFill>
                          <a:latin typeface="Cambria Math" panose="02040503050406030204" pitchFamily="18" charset="0"/>
                        </a:rPr>
                        <m:t>=</m:t>
                      </m:r>
                      <m:r>
                        <a:rPr lang="en-US" sz="1200" b="1" i="1" smtClean="0">
                          <a:solidFill>
                            <a:srgbClr val="FF0000"/>
                          </a:solidFill>
                          <a:latin typeface="Cambria Math" panose="02040503050406030204" pitchFamily="18" charset="0"/>
                        </a:rPr>
                        <m:t>𝟗</m:t>
                      </m:r>
                    </m:oMath>
                  </m:oMathPara>
                </a14:m>
                <a:endParaRPr lang="en-US" sz="1200" b="1" dirty="0">
                  <a:solidFill>
                    <a:srgbClr val="FF0000"/>
                  </a:solidFill>
                </a:endParaRPr>
              </a:p>
            </p:txBody>
          </p:sp>
        </mc:Choice>
        <mc:Fallback xmlns="">
          <p:sp>
            <p:nvSpPr>
              <p:cNvPr id="15" name="TextBox 14">
                <a:extLst>
                  <a:ext uri="{FF2B5EF4-FFF2-40B4-BE49-F238E27FC236}">
                    <a16:creationId xmlns:a16="http://schemas.microsoft.com/office/drawing/2014/main" id="{46004AEE-CD83-76AD-4FF6-63D0E0C2A7C6}"/>
                  </a:ext>
                </a:extLst>
              </p:cNvPr>
              <p:cNvSpPr txBox="1">
                <a:spLocks noRot="1" noChangeAspect="1" noMove="1" noResize="1" noEditPoints="1" noAdjustHandles="1" noChangeArrowheads="1" noChangeShapeType="1" noTextEdit="1"/>
              </p:cNvSpPr>
              <p:nvPr/>
            </p:nvSpPr>
            <p:spPr>
              <a:xfrm>
                <a:off x="7126431" y="2250018"/>
                <a:ext cx="1089336" cy="293991"/>
              </a:xfrm>
              <a:prstGeom prst="rect">
                <a:avLst/>
              </a:prstGeom>
              <a:blipFill>
                <a:blip r:embed="rId7"/>
                <a:stretch>
                  <a:fillRect/>
                </a:stretch>
              </a:blipFill>
            </p:spPr>
            <p:txBody>
              <a:bodyPr/>
              <a:lstStyle/>
              <a:p>
                <a:r>
                  <a:rPr lang="en-CH">
                    <a:noFill/>
                  </a:rPr>
                  <a:t> </a:t>
                </a:r>
              </a:p>
            </p:txBody>
          </p:sp>
        </mc:Fallback>
      </mc:AlternateContent>
      <p:sp>
        <p:nvSpPr>
          <p:cNvPr id="16" name="TextBox 15">
            <a:extLst>
              <a:ext uri="{FF2B5EF4-FFF2-40B4-BE49-F238E27FC236}">
                <a16:creationId xmlns:a16="http://schemas.microsoft.com/office/drawing/2014/main" id="{0B9CA2FB-737A-AB82-B18A-8661B6615D26}"/>
              </a:ext>
            </a:extLst>
          </p:cNvPr>
          <p:cNvSpPr txBox="1"/>
          <p:nvPr/>
        </p:nvSpPr>
        <p:spPr>
          <a:xfrm>
            <a:off x="6648047" y="2422296"/>
            <a:ext cx="1646808" cy="446276"/>
          </a:xfrm>
          <a:prstGeom prst="rect">
            <a:avLst/>
          </a:prstGeom>
          <a:noFill/>
        </p:spPr>
        <p:txBody>
          <a:bodyPr wrap="square" rtlCol="0">
            <a:spAutoFit/>
          </a:bodyPr>
          <a:lstStyle/>
          <a:p>
            <a:r>
              <a:rPr lang="en-US" sz="1100" b="1" dirty="0">
                <a:solidFill>
                  <a:srgbClr val="000000"/>
                </a:solidFill>
              </a:rPr>
              <a:t>■   </a:t>
            </a:r>
            <a:br>
              <a:rPr lang="en-US" sz="1100" b="1" dirty="0">
                <a:solidFill>
                  <a:srgbClr val="000000"/>
                </a:solidFill>
              </a:rPr>
            </a:br>
            <a:r>
              <a:rPr lang="en-US" sz="1100" b="1" dirty="0">
                <a:solidFill>
                  <a:srgbClr val="000000"/>
                </a:solidFill>
              </a:rPr>
              <a:t> </a:t>
            </a:r>
            <a:r>
              <a:rPr lang="en-US" sz="1200" b="1" dirty="0">
                <a:solidFill>
                  <a:srgbClr val="000000"/>
                </a:solidFill>
              </a:rPr>
              <a:t>WP</a:t>
            </a:r>
            <a:endParaRPr lang="en-US" sz="1100" b="1" dirty="0">
              <a:solidFill>
                <a:srgbClr val="000000"/>
              </a:solidFill>
            </a:endParaRPr>
          </a:p>
        </p:txBody>
      </p:sp>
      <p:sp>
        <p:nvSpPr>
          <p:cNvPr id="17" name="TextBox 16">
            <a:extLst>
              <a:ext uri="{FF2B5EF4-FFF2-40B4-BE49-F238E27FC236}">
                <a16:creationId xmlns:a16="http://schemas.microsoft.com/office/drawing/2014/main" id="{3E8EAAC3-93CF-D0EE-3416-E879ABF3B9F1}"/>
              </a:ext>
            </a:extLst>
          </p:cNvPr>
          <p:cNvSpPr txBox="1"/>
          <p:nvPr/>
        </p:nvSpPr>
        <p:spPr>
          <a:xfrm>
            <a:off x="592568" y="1023802"/>
            <a:ext cx="2915222" cy="1200329"/>
          </a:xfrm>
          <a:prstGeom prst="rect">
            <a:avLst/>
          </a:prstGeom>
          <a:noFill/>
        </p:spPr>
        <p:txBody>
          <a:bodyPr wrap="square" rtlCol="0">
            <a:spAutoFit/>
          </a:bodyPr>
          <a:lstStyle/>
          <a:p>
            <a:pPr algn="ctr"/>
            <a:r>
              <a:rPr lang="en-CH" dirty="0">
                <a:latin typeface="Arial" panose="020B0604020202020204" pitchFamily="34" charset="0"/>
                <a:cs typeface="Arial" panose="020B0604020202020204" pitchFamily="34" charset="0"/>
              </a:rPr>
              <a:t>High amplitude (tails) particles interact with the resonance:</a:t>
            </a:r>
          </a:p>
          <a:p>
            <a:pPr algn="ctr"/>
            <a:r>
              <a:rPr lang="en-CH" b="1" dirty="0">
                <a:solidFill>
                  <a:srgbClr val="FF0000"/>
                </a:solidFill>
                <a:latin typeface="Arial" panose="020B0604020202020204" pitchFamily="34" charset="0"/>
                <a:cs typeface="Arial" panose="020B0604020202020204" pitchFamily="34" charset="0"/>
              </a:rPr>
              <a:t>losses</a:t>
            </a:r>
          </a:p>
        </p:txBody>
      </p:sp>
      <p:sp>
        <p:nvSpPr>
          <p:cNvPr id="18" name="TextBox 17">
            <a:extLst>
              <a:ext uri="{FF2B5EF4-FFF2-40B4-BE49-F238E27FC236}">
                <a16:creationId xmlns:a16="http://schemas.microsoft.com/office/drawing/2014/main" id="{E7764205-1289-EDFF-D20A-DCCEE46FEF22}"/>
              </a:ext>
            </a:extLst>
          </p:cNvPr>
          <p:cNvSpPr txBox="1"/>
          <p:nvPr/>
        </p:nvSpPr>
        <p:spPr>
          <a:xfrm>
            <a:off x="8683975" y="1023802"/>
            <a:ext cx="2915222" cy="1200329"/>
          </a:xfrm>
          <a:prstGeom prst="rect">
            <a:avLst/>
          </a:prstGeom>
          <a:noFill/>
        </p:spPr>
        <p:txBody>
          <a:bodyPr wrap="square" rtlCol="0">
            <a:spAutoFit/>
          </a:bodyPr>
          <a:lstStyle/>
          <a:p>
            <a:pPr algn="ctr"/>
            <a:r>
              <a:rPr lang="en-CH" dirty="0">
                <a:latin typeface="Arial" panose="020B0604020202020204" pitchFamily="34" charset="0"/>
                <a:cs typeface="Arial" panose="020B0604020202020204" pitchFamily="34" charset="0"/>
              </a:rPr>
              <a:t>Low amplitude (core) particles interact with the resonance:</a:t>
            </a:r>
          </a:p>
          <a:p>
            <a:pPr algn="ctr"/>
            <a:r>
              <a:rPr lang="en-GB" b="1" dirty="0">
                <a:solidFill>
                  <a:srgbClr val="FF0000"/>
                </a:solidFill>
                <a:latin typeface="Arial" panose="020B0604020202020204" pitchFamily="34" charset="0"/>
                <a:cs typeface="Arial" panose="020B0604020202020204" pitchFamily="34" charset="0"/>
              </a:rPr>
              <a:t>e</a:t>
            </a:r>
            <a:r>
              <a:rPr lang="en-CH" b="1" dirty="0">
                <a:solidFill>
                  <a:srgbClr val="FF0000"/>
                </a:solidFill>
                <a:latin typeface="Arial" panose="020B0604020202020204" pitchFamily="34" charset="0"/>
                <a:cs typeface="Arial" panose="020B0604020202020204" pitchFamily="34" charset="0"/>
              </a:rPr>
              <a:t>mittance blow-up</a:t>
            </a:r>
          </a:p>
        </p:txBody>
      </p:sp>
      <p:sp>
        <p:nvSpPr>
          <p:cNvPr id="19" name="TextBox 18">
            <a:extLst>
              <a:ext uri="{FF2B5EF4-FFF2-40B4-BE49-F238E27FC236}">
                <a16:creationId xmlns:a16="http://schemas.microsoft.com/office/drawing/2014/main" id="{DE14C32C-0D4C-AB2F-731C-9041250B7B35}"/>
              </a:ext>
            </a:extLst>
          </p:cNvPr>
          <p:cNvSpPr txBox="1"/>
          <p:nvPr/>
        </p:nvSpPr>
        <p:spPr>
          <a:xfrm>
            <a:off x="3032040" y="5425080"/>
            <a:ext cx="6127916" cy="646331"/>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PSB operates in the brightness limit: </a:t>
            </a:r>
          </a:p>
          <a:p>
            <a:pPr algn="ctr"/>
            <a:r>
              <a:rPr lang="en-US" b="1" dirty="0">
                <a:latin typeface="Arial" panose="020B0604020202020204" pitchFamily="34" charset="0"/>
                <a:cs typeface="Arial" panose="020B0604020202020204" pitchFamily="34" charset="0"/>
              </a:rPr>
              <a:t>space charge tune spread larger than 0.5</a:t>
            </a:r>
            <a:endParaRPr lang="en-CH" b="1" dirty="0">
              <a:solidFill>
                <a:srgbClr val="FF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A3F18DB-B176-4BE2-CC19-E56074392C04}"/>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03D2A8C-BC14-479C-DA3E-863AD560249C}"/>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732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8" grpId="0"/>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BF307-C508-2E8C-7ABF-366F76437D3E}"/>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Tune measurement and correction</a:t>
            </a:r>
          </a:p>
        </p:txBody>
      </p:sp>
      <p:sp>
        <p:nvSpPr>
          <p:cNvPr id="5" name="Slide Number Placeholder 4">
            <a:extLst>
              <a:ext uri="{FF2B5EF4-FFF2-40B4-BE49-F238E27FC236}">
                <a16:creationId xmlns:a16="http://schemas.microsoft.com/office/drawing/2014/main" id="{14D5B16A-552F-6EBD-193C-34A082BEAF67}"/>
              </a:ext>
            </a:extLst>
          </p:cNvPr>
          <p:cNvSpPr>
            <a:spLocks noGrp="1"/>
          </p:cNvSpPr>
          <p:nvPr>
            <p:ph type="sldNum" sz="quarter" idx="12"/>
          </p:nvPr>
        </p:nvSpPr>
        <p:spPr/>
        <p:txBody>
          <a:bodyPr/>
          <a:lstStyle/>
          <a:p>
            <a:r>
              <a:rPr lang="en-US" dirty="0"/>
              <a:t>12</a:t>
            </a:r>
            <a:endParaRPr lang="el-GR" dirty="0"/>
          </a:p>
        </p:txBody>
      </p:sp>
      <p:pic>
        <p:nvPicPr>
          <p:cNvPr id="6" name="Picture 5">
            <a:extLst>
              <a:ext uri="{FF2B5EF4-FFF2-40B4-BE49-F238E27FC236}">
                <a16:creationId xmlns:a16="http://schemas.microsoft.com/office/drawing/2014/main" id="{FF4BAAEC-1B3E-9DF5-048F-141B648619FA}"/>
              </a:ext>
            </a:extLst>
          </p:cNvPr>
          <p:cNvPicPr>
            <a:picLocks noChangeAspect="1"/>
          </p:cNvPicPr>
          <p:nvPr/>
        </p:nvPicPr>
        <p:blipFill>
          <a:blip r:embed="rId2"/>
          <a:stretch>
            <a:fillRect/>
          </a:stretch>
        </p:blipFill>
        <p:spPr>
          <a:xfrm>
            <a:off x="418426" y="724837"/>
            <a:ext cx="4961653" cy="5696712"/>
          </a:xfrm>
          <a:prstGeom prst="rect">
            <a:avLst/>
          </a:prstGeom>
        </p:spPr>
      </p:pic>
      <p:pic>
        <p:nvPicPr>
          <p:cNvPr id="7" name="Picture 6">
            <a:extLst>
              <a:ext uri="{FF2B5EF4-FFF2-40B4-BE49-F238E27FC236}">
                <a16:creationId xmlns:a16="http://schemas.microsoft.com/office/drawing/2014/main" id="{61BAF8C8-34AD-6E4A-33F9-2BEE409F29DB}"/>
              </a:ext>
            </a:extLst>
          </p:cNvPr>
          <p:cNvPicPr>
            <a:picLocks noChangeAspect="1"/>
          </p:cNvPicPr>
          <p:nvPr/>
        </p:nvPicPr>
        <p:blipFill>
          <a:blip r:embed="rId3"/>
          <a:stretch>
            <a:fillRect/>
          </a:stretch>
        </p:blipFill>
        <p:spPr>
          <a:xfrm>
            <a:off x="5842525" y="901036"/>
            <a:ext cx="6047232" cy="3979802"/>
          </a:xfrm>
          <a:prstGeom prst="rect">
            <a:avLst/>
          </a:prstGeom>
        </p:spPr>
      </p:pic>
      <p:sp>
        <p:nvSpPr>
          <p:cNvPr id="8" name="Alternative Process 7">
            <a:extLst>
              <a:ext uri="{FF2B5EF4-FFF2-40B4-BE49-F238E27FC236}">
                <a16:creationId xmlns:a16="http://schemas.microsoft.com/office/drawing/2014/main" id="{BF30CAEC-961B-7D14-5AEF-CA71C6A75FDD}"/>
              </a:ext>
            </a:extLst>
          </p:cNvPr>
          <p:cNvSpPr/>
          <p:nvPr/>
        </p:nvSpPr>
        <p:spPr>
          <a:xfrm>
            <a:off x="7269885" y="5107907"/>
            <a:ext cx="3192511" cy="1489841"/>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sz="2000" b="1" dirty="0">
                <a:solidFill>
                  <a:srgbClr val="002060"/>
                </a:solidFill>
                <a:latin typeface="Arial" panose="020B0604020202020204" pitchFamily="34" charset="0"/>
                <a:cs typeface="Arial" panose="020B0604020202020204" pitchFamily="34" charset="0"/>
              </a:rPr>
              <a:t>Tune correction based on the “make-rules”:</a:t>
            </a:r>
          </a:p>
          <a:p>
            <a:pPr algn="ctr"/>
            <a:endParaRPr lang="en-CH" sz="2000" b="1" dirty="0">
              <a:solidFill>
                <a:srgbClr val="002060"/>
              </a:solidFill>
              <a:latin typeface="Arial" panose="020B0604020202020204" pitchFamily="34" charset="0"/>
              <a:cs typeface="Arial" panose="020B0604020202020204" pitchFamily="34" charset="0"/>
            </a:endParaRPr>
          </a:p>
          <a:p>
            <a:pPr algn="ctr"/>
            <a:r>
              <a:rPr lang="en-CH" sz="2000" b="1" dirty="0">
                <a:solidFill>
                  <a:srgbClr val="002060"/>
                </a:solidFill>
                <a:latin typeface="Arial" panose="020B0604020202020204" pitchFamily="34" charset="0"/>
                <a:cs typeface="Arial" panose="020B0604020202020204" pitchFamily="34" charset="0"/>
              </a:rPr>
              <a:t>Q </a:t>
            </a:r>
            <a:r>
              <a:rPr lang="en-CH" sz="2000" b="1" dirty="0">
                <a:solidFill>
                  <a:srgbClr val="002060"/>
                </a:solidFill>
                <a:latin typeface="Arial" panose="020B0604020202020204" pitchFamily="34" charset="0"/>
                <a:cs typeface="Arial" panose="020B0604020202020204" pitchFamily="34" charset="0"/>
                <a:sym typeface="Wingdings" pitchFamily="2" charset="2"/>
              </a:rPr>
              <a:t>→ k → I</a:t>
            </a:r>
            <a:endParaRPr lang="en-CH" sz="2000" dirty="0">
              <a:solidFill>
                <a:srgbClr val="00206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EF166CA-C93A-B2D7-0813-32DEDECAC424}"/>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D7073E8-992E-9E9C-B7BC-72C14C03649A}"/>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6513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7728-A696-EB89-6E62-EA84F5FB4AE6}"/>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Chromaticity measurement and correction</a:t>
            </a:r>
          </a:p>
        </p:txBody>
      </p:sp>
      <p:sp>
        <p:nvSpPr>
          <p:cNvPr id="5" name="Slide Number Placeholder 4">
            <a:extLst>
              <a:ext uri="{FF2B5EF4-FFF2-40B4-BE49-F238E27FC236}">
                <a16:creationId xmlns:a16="http://schemas.microsoft.com/office/drawing/2014/main" id="{E949421B-18E3-1A47-385F-15B8D01B1B94}"/>
              </a:ext>
            </a:extLst>
          </p:cNvPr>
          <p:cNvSpPr>
            <a:spLocks noGrp="1"/>
          </p:cNvSpPr>
          <p:nvPr>
            <p:ph type="sldNum" sz="quarter" idx="12"/>
          </p:nvPr>
        </p:nvSpPr>
        <p:spPr/>
        <p:txBody>
          <a:bodyPr/>
          <a:lstStyle/>
          <a:p>
            <a:r>
              <a:rPr lang="en-US" dirty="0"/>
              <a:t>13</a:t>
            </a:r>
            <a:endParaRPr lang="el-GR" dirty="0"/>
          </a:p>
        </p:txBody>
      </p:sp>
      <mc:AlternateContent xmlns:mc="http://schemas.openxmlformats.org/markup-compatibility/2006" xmlns:a14="http://schemas.microsoft.com/office/drawing/2010/main">
        <mc:Choice Requires="a14">
          <p:sp>
            <p:nvSpPr>
              <p:cNvPr id="6" name="Alternative Process 5">
                <a:extLst>
                  <a:ext uri="{FF2B5EF4-FFF2-40B4-BE49-F238E27FC236}">
                    <a16:creationId xmlns:a16="http://schemas.microsoft.com/office/drawing/2014/main" id="{738BFD66-CBBE-27A5-B821-811F73CDFD27}"/>
                  </a:ext>
                </a:extLst>
              </p:cNvPr>
              <p:cNvSpPr/>
              <p:nvPr/>
            </p:nvSpPr>
            <p:spPr>
              <a:xfrm>
                <a:off x="962438" y="816627"/>
                <a:ext cx="3738564" cy="1489841"/>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sz="2000" b="1" dirty="0">
                    <a:solidFill>
                      <a:srgbClr val="002060"/>
                    </a:solidFill>
                    <a:latin typeface="Arial" panose="020B0604020202020204" pitchFamily="34" charset="0"/>
                    <a:cs typeface="Arial" panose="020B0604020202020204" pitchFamily="34" charset="0"/>
                  </a:rPr>
                  <a:t>Chromaticity</a:t>
                </a:r>
              </a:p>
              <a:p>
                <a:pPr algn="ctr"/>
                <a:endParaRPr lang="en-CH" dirty="0">
                  <a:solidFill>
                    <a:srgbClr val="002060"/>
                  </a:solidFill>
                  <a:latin typeface="Arial" panose="020B0604020202020204" pitchFamily="34" charset="0"/>
                  <a:cs typeface="Arial" panose="020B0604020202020204" pitchFamily="34" charset="0"/>
                </a:endParaRPr>
              </a:p>
              <a:p>
                <a:pPr algn="ctr"/>
                <a14:m>
                  <m:oMath xmlns:m="http://schemas.openxmlformats.org/officeDocument/2006/math">
                    <m:r>
                      <a:rPr lang="en-US" b="0" i="1" smtClean="0">
                        <a:solidFill>
                          <a:srgbClr val="002060"/>
                        </a:solidFill>
                        <a:latin typeface="Cambria Math" panose="02040503050406030204" pitchFamily="18" charset="0"/>
                      </a:rPr>
                      <m:t>𝜉</m:t>
                    </m:r>
                    <m:r>
                      <a:rPr lang="en-US" b="0" i="1" smtClean="0">
                        <a:solidFill>
                          <a:srgbClr val="002060"/>
                        </a:solidFill>
                        <a:latin typeface="Cambria Math" panose="02040503050406030204" pitchFamily="18" charset="0"/>
                      </a:rPr>
                      <m:t>=</m:t>
                    </m:r>
                    <m:f>
                      <m:fPr>
                        <m:ctrlPr>
                          <a:rPr lang="en-US" b="0" i="1" smtClean="0">
                            <a:solidFill>
                              <a:srgbClr val="002060"/>
                            </a:solidFill>
                            <a:latin typeface="Cambria Math" panose="02040503050406030204" pitchFamily="18" charset="0"/>
                          </a:rPr>
                        </m:ctrlPr>
                      </m:fPr>
                      <m:num>
                        <m:r>
                          <m:rPr>
                            <m:lit/>
                          </m:rPr>
                          <a:rPr lang="en-US" b="0" i="1" smtClean="0">
                            <a:solidFill>
                              <a:srgbClr val="002060"/>
                            </a:solidFill>
                            <a:latin typeface="Cambria Math" panose="02040503050406030204" pitchFamily="18" charset="0"/>
                          </a:rPr>
                          <m:t> </m:t>
                        </m:r>
                        <m:r>
                          <a:rPr lang="en-US" b="0" i="1" smtClean="0">
                            <a:solidFill>
                              <a:srgbClr val="002060"/>
                            </a:solidFill>
                            <a:latin typeface="Cambria Math" panose="02040503050406030204" pitchFamily="18" charset="0"/>
                          </a:rPr>
                          <m:t>𝛿</m:t>
                        </m:r>
                        <m:r>
                          <a:rPr lang="en-US" b="0" i="1" smtClean="0">
                            <a:solidFill>
                              <a:srgbClr val="002060"/>
                            </a:solidFill>
                            <a:latin typeface="Cambria Math" panose="02040503050406030204" pitchFamily="18" charset="0"/>
                          </a:rPr>
                          <m:t>𝑄</m:t>
                        </m:r>
                      </m:num>
                      <m:den>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𝛿</m:t>
                        </m:r>
                        <m:r>
                          <a:rPr lang="en-US" b="0" i="1" smtClean="0">
                            <a:solidFill>
                              <a:srgbClr val="002060"/>
                            </a:solidFill>
                            <a:latin typeface="Cambria Math" panose="02040503050406030204" pitchFamily="18" charset="0"/>
                          </a:rPr>
                          <m:t>𝑝</m:t>
                        </m:r>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𝑝</m:t>
                        </m:r>
                        <m:r>
                          <a:rPr lang="en-US" b="0" i="1" smtClean="0">
                            <a:solidFill>
                              <a:srgbClr val="002060"/>
                            </a:solidFill>
                            <a:latin typeface="Cambria Math" panose="02040503050406030204" pitchFamily="18" charset="0"/>
                          </a:rPr>
                          <m:t>)</m:t>
                        </m:r>
                      </m:den>
                    </m:f>
                  </m:oMath>
                </a14:m>
                <a:r>
                  <a:rPr lang="en-CH" dirty="0">
                    <a:solidFill>
                      <a:srgbClr val="002060"/>
                    </a:solidFill>
                    <a:latin typeface="Arial" panose="020B0604020202020204" pitchFamily="34" charset="0"/>
                    <a:cs typeface="Arial" panose="020B0604020202020204" pitchFamily="34" charset="0"/>
                  </a:rPr>
                  <a:t> or </a:t>
                </a:r>
                <a14:m>
                  <m:oMath xmlns:m="http://schemas.openxmlformats.org/officeDocument/2006/math">
                    <m:sSup>
                      <m:sSupPr>
                        <m:ctrlPr>
                          <a:rPr lang="en-US" b="0" i="1" smtClean="0">
                            <a:solidFill>
                              <a:srgbClr val="002060"/>
                            </a:solidFill>
                            <a:latin typeface="Cambria Math" panose="02040503050406030204" pitchFamily="18" charset="0"/>
                          </a:rPr>
                        </m:ctrlPr>
                      </m:sSupPr>
                      <m:e>
                        <m:r>
                          <a:rPr lang="en-US" b="0" i="1" smtClean="0">
                            <a:solidFill>
                              <a:srgbClr val="002060"/>
                            </a:solidFill>
                            <a:latin typeface="Cambria Math" panose="02040503050406030204" pitchFamily="18" charset="0"/>
                          </a:rPr>
                          <m:t>𝑄</m:t>
                        </m:r>
                      </m:e>
                      <m:sup>
                        <m:r>
                          <a:rPr lang="en-US" b="0" i="1" smtClean="0">
                            <a:solidFill>
                              <a:srgbClr val="002060"/>
                            </a:solidFill>
                            <a:latin typeface="Cambria Math" panose="02040503050406030204" pitchFamily="18" charset="0"/>
                          </a:rPr>
                          <m:t>′</m:t>
                        </m:r>
                      </m:sup>
                    </m:sSup>
                    <m:r>
                      <a:rPr lang="en-US" b="0" i="1" smtClean="0">
                        <a:solidFill>
                          <a:srgbClr val="002060"/>
                        </a:solidFill>
                        <a:latin typeface="Cambria Math" panose="02040503050406030204" pitchFamily="18" charset="0"/>
                      </a:rPr>
                      <m:t>=</m:t>
                    </m:r>
                    <m:f>
                      <m:fPr>
                        <m:ctrlPr>
                          <a:rPr lang="en-US" b="0" i="1" smtClean="0">
                            <a:solidFill>
                              <a:srgbClr val="002060"/>
                            </a:solidFill>
                            <a:latin typeface="Cambria Math" panose="02040503050406030204" pitchFamily="18" charset="0"/>
                          </a:rPr>
                        </m:ctrlPr>
                      </m:fPr>
                      <m:num>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𝛿</m:t>
                        </m:r>
                        <m:r>
                          <a:rPr lang="en-US" b="0" i="1" smtClean="0">
                            <a:solidFill>
                              <a:srgbClr val="002060"/>
                            </a:solidFill>
                            <a:latin typeface="Cambria Math" panose="02040503050406030204" pitchFamily="18" charset="0"/>
                          </a:rPr>
                          <m:t>𝑄</m:t>
                        </m:r>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𝑄</m:t>
                        </m:r>
                        <m:r>
                          <a:rPr lang="en-US" b="0" i="1" smtClean="0">
                            <a:solidFill>
                              <a:srgbClr val="002060"/>
                            </a:solidFill>
                            <a:latin typeface="Cambria Math" panose="02040503050406030204" pitchFamily="18" charset="0"/>
                          </a:rPr>
                          <m:t>)</m:t>
                        </m:r>
                      </m:num>
                      <m:den>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𝛿</m:t>
                        </m:r>
                        <m:r>
                          <a:rPr lang="en-US" b="0" i="1" smtClean="0">
                            <a:solidFill>
                              <a:srgbClr val="002060"/>
                            </a:solidFill>
                            <a:latin typeface="Cambria Math" panose="02040503050406030204" pitchFamily="18" charset="0"/>
                          </a:rPr>
                          <m:t>𝑝</m:t>
                        </m:r>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𝑝</m:t>
                        </m:r>
                        <m:r>
                          <a:rPr lang="en-US" b="0" i="1" smtClean="0">
                            <a:solidFill>
                              <a:srgbClr val="002060"/>
                            </a:solidFill>
                            <a:latin typeface="Cambria Math" panose="02040503050406030204" pitchFamily="18" charset="0"/>
                          </a:rPr>
                          <m:t>)</m:t>
                        </m:r>
                      </m:den>
                    </m:f>
                  </m:oMath>
                </a14:m>
                <a:endParaRPr lang="en-CH" dirty="0">
                  <a:solidFill>
                    <a:srgbClr val="002060"/>
                  </a:solidFill>
                  <a:latin typeface="Arial" panose="020B0604020202020204" pitchFamily="34" charset="0"/>
                  <a:cs typeface="Arial" panose="020B0604020202020204" pitchFamily="34" charset="0"/>
                </a:endParaRPr>
              </a:p>
            </p:txBody>
          </p:sp>
        </mc:Choice>
        <mc:Fallback xmlns="">
          <p:sp>
            <p:nvSpPr>
              <p:cNvPr id="6" name="Alternative Process 5">
                <a:extLst>
                  <a:ext uri="{FF2B5EF4-FFF2-40B4-BE49-F238E27FC236}">
                    <a16:creationId xmlns:a16="http://schemas.microsoft.com/office/drawing/2014/main" id="{738BFD66-CBBE-27A5-B821-811F73CDFD27}"/>
                  </a:ext>
                </a:extLst>
              </p:cNvPr>
              <p:cNvSpPr>
                <a:spLocks noRot="1" noChangeAspect="1" noMove="1" noResize="1" noEditPoints="1" noAdjustHandles="1" noChangeArrowheads="1" noChangeShapeType="1" noTextEdit="1"/>
              </p:cNvSpPr>
              <p:nvPr/>
            </p:nvSpPr>
            <p:spPr>
              <a:xfrm>
                <a:off x="962438" y="816627"/>
                <a:ext cx="3738564" cy="1489841"/>
              </a:xfrm>
              <a:prstGeom prst="flowChartAlternateProcess">
                <a:avLst/>
              </a:prstGeom>
              <a:blipFill>
                <a:blip r:embed="rId2"/>
                <a:stretch>
                  <a:fillRect/>
                </a:stretch>
              </a:blipFill>
              <a:ln w="38100">
                <a:solidFill>
                  <a:srgbClr val="002060"/>
                </a:solidFill>
              </a:ln>
              <a:effectLst>
                <a:outerShdw blurRad="50800" dist="38100" dir="13500000" algn="br" rotWithShape="0">
                  <a:prstClr val="black">
                    <a:alpha val="40000"/>
                  </a:prstClr>
                </a:outerShdw>
              </a:effectLst>
            </p:spPr>
            <p:txBody>
              <a:bodyPr/>
              <a:lstStyle/>
              <a:p>
                <a:r>
                  <a:rPr lang="en-CH">
                    <a:noFill/>
                  </a:rPr>
                  <a:t> </a:t>
                </a:r>
              </a:p>
            </p:txBody>
          </p:sp>
        </mc:Fallback>
      </mc:AlternateContent>
      <mc:AlternateContent xmlns:mc="http://schemas.openxmlformats.org/markup-compatibility/2006" xmlns:a14="http://schemas.microsoft.com/office/drawing/2010/main">
        <mc:Choice Requires="a14">
          <p:sp>
            <p:nvSpPr>
              <p:cNvPr id="7" name="Alternative Process 6">
                <a:extLst>
                  <a:ext uri="{FF2B5EF4-FFF2-40B4-BE49-F238E27FC236}">
                    <a16:creationId xmlns:a16="http://schemas.microsoft.com/office/drawing/2014/main" id="{869F9D4F-FB4B-CABD-0DAC-9BAFC0C8FA62}"/>
                  </a:ext>
                </a:extLst>
              </p:cNvPr>
              <p:cNvSpPr/>
              <p:nvPr/>
            </p:nvSpPr>
            <p:spPr>
              <a:xfrm>
                <a:off x="436658" y="2654895"/>
                <a:ext cx="4790124" cy="1973833"/>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sz="2000" dirty="0">
                    <a:solidFill>
                      <a:srgbClr val="002060"/>
                    </a:solidFill>
                    <a:latin typeface="Arial" panose="020B0604020202020204" pitchFamily="34" charset="0"/>
                    <a:cs typeface="Arial" panose="020B0604020202020204" pitchFamily="34" charset="0"/>
                  </a:rPr>
                  <a:t>Chromaticity is measured by measuring the tune shift for different radial steerings.</a:t>
                </a:r>
              </a:p>
              <a:p>
                <a:pPr algn="ctr"/>
                <a:endParaRPr lang="en-CH" dirty="0">
                  <a:solidFill>
                    <a:srgbClr val="002060"/>
                  </a:solidFill>
                  <a:latin typeface="Arial" panose="020B0604020202020204" pitchFamily="34" charset="0"/>
                  <a:cs typeface="Arial" panose="020B0604020202020204" pitchFamily="34" charset="0"/>
                </a:endParaRPr>
              </a:p>
              <a:p>
                <a:pPr algn="ctr"/>
                <a14:m>
                  <m:oMath xmlns:m="http://schemas.openxmlformats.org/officeDocument/2006/math">
                    <m:f>
                      <m:fPr>
                        <m:ctrlPr>
                          <a:rPr lang="en-US" b="0" i="1" smtClean="0">
                            <a:solidFill>
                              <a:srgbClr val="002060"/>
                            </a:solidFill>
                            <a:latin typeface="Cambria Math" panose="02040503050406030204" pitchFamily="18" charset="0"/>
                          </a:rPr>
                        </m:ctrlPr>
                      </m:fPr>
                      <m:num>
                        <m:r>
                          <a:rPr lang="en-US" b="0" i="1" smtClean="0">
                            <a:solidFill>
                              <a:srgbClr val="002060"/>
                            </a:solidFill>
                            <a:latin typeface="Cambria Math" panose="02040503050406030204" pitchFamily="18" charset="0"/>
                          </a:rPr>
                          <m:t>𝛿</m:t>
                        </m:r>
                        <m:r>
                          <a:rPr lang="en-US" b="0" i="1" smtClean="0">
                            <a:solidFill>
                              <a:srgbClr val="002060"/>
                            </a:solidFill>
                            <a:latin typeface="Cambria Math" panose="02040503050406030204" pitchFamily="18" charset="0"/>
                          </a:rPr>
                          <m:t>𝑝</m:t>
                        </m:r>
                      </m:num>
                      <m:den>
                        <m:r>
                          <a:rPr lang="en-US" b="0" i="1" smtClean="0">
                            <a:solidFill>
                              <a:srgbClr val="002060"/>
                            </a:solidFill>
                            <a:latin typeface="Cambria Math" panose="02040503050406030204" pitchFamily="18" charset="0"/>
                          </a:rPr>
                          <m:t>𝑝</m:t>
                        </m:r>
                      </m:den>
                    </m:f>
                    <m:r>
                      <a:rPr lang="en-US" b="0" i="1" smtClean="0">
                        <a:solidFill>
                          <a:srgbClr val="002060"/>
                        </a:solidFill>
                        <a:latin typeface="Cambria Math" panose="02040503050406030204" pitchFamily="18" charset="0"/>
                      </a:rPr>
                      <m:t>=</m:t>
                    </m:r>
                    <m:f>
                      <m:fPr>
                        <m:ctrlPr>
                          <a:rPr lang="en-US" b="0" i="1" smtClean="0">
                            <a:solidFill>
                              <a:srgbClr val="002060"/>
                            </a:solidFill>
                            <a:latin typeface="Cambria Math" panose="02040503050406030204" pitchFamily="18" charset="0"/>
                          </a:rPr>
                        </m:ctrlPr>
                      </m:fPr>
                      <m:num>
                        <m:r>
                          <a:rPr lang="en-US" b="0" i="1" smtClean="0">
                            <a:solidFill>
                              <a:srgbClr val="002060"/>
                            </a:solidFill>
                            <a:latin typeface="Cambria Math" panose="02040503050406030204" pitchFamily="18" charset="0"/>
                          </a:rPr>
                          <m:t>1</m:t>
                        </m:r>
                      </m:num>
                      <m:den>
                        <m:r>
                          <a:rPr lang="en-US" b="0" i="1" smtClean="0">
                            <a:solidFill>
                              <a:srgbClr val="002060"/>
                            </a:solidFill>
                            <a:latin typeface="Cambria Math" panose="02040503050406030204" pitchFamily="18" charset="0"/>
                          </a:rPr>
                          <m:t>𝜂</m:t>
                        </m:r>
                      </m:den>
                    </m:f>
                    <m:f>
                      <m:fPr>
                        <m:ctrlPr>
                          <a:rPr lang="en-US" b="0" i="1" smtClean="0">
                            <a:solidFill>
                              <a:srgbClr val="002060"/>
                            </a:solidFill>
                            <a:latin typeface="Cambria Math" panose="02040503050406030204" pitchFamily="18" charset="0"/>
                          </a:rPr>
                        </m:ctrlPr>
                      </m:fPr>
                      <m:num>
                        <m:r>
                          <a:rPr lang="en-US" b="0" i="1" smtClean="0">
                            <a:solidFill>
                              <a:srgbClr val="002060"/>
                            </a:solidFill>
                            <a:latin typeface="Cambria Math" panose="02040503050406030204" pitchFamily="18" charset="0"/>
                          </a:rPr>
                          <m:t>𝛿</m:t>
                        </m:r>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𝑓</m:t>
                            </m:r>
                          </m:e>
                          <m:sub>
                            <m:r>
                              <a:rPr lang="en-US" b="0" i="1" smtClean="0">
                                <a:solidFill>
                                  <a:srgbClr val="002060"/>
                                </a:solidFill>
                                <a:latin typeface="Cambria Math" panose="02040503050406030204" pitchFamily="18" charset="0"/>
                              </a:rPr>
                              <m:t>𝑟𝑒𝑣</m:t>
                            </m:r>
                          </m:sub>
                        </m:sSub>
                      </m:num>
                      <m:den>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𝑓</m:t>
                            </m:r>
                          </m:e>
                          <m:sub>
                            <m:r>
                              <a:rPr lang="en-US" b="0" i="1" smtClean="0">
                                <a:solidFill>
                                  <a:srgbClr val="002060"/>
                                </a:solidFill>
                                <a:latin typeface="Cambria Math" panose="02040503050406030204" pitchFamily="18" charset="0"/>
                              </a:rPr>
                              <m:t>𝑟𝑒𝑣</m:t>
                            </m:r>
                          </m:sub>
                        </m:sSub>
                      </m:den>
                    </m:f>
                  </m:oMath>
                </a14:m>
                <a:r>
                  <a:rPr lang="en-CH" dirty="0">
                    <a:solidFill>
                      <a:srgbClr val="002060"/>
                    </a:solidFill>
                    <a:latin typeface="Arial" panose="020B0604020202020204" pitchFamily="34" charset="0"/>
                    <a:cs typeface="Arial" panose="020B0604020202020204" pitchFamily="34" charset="0"/>
                  </a:rPr>
                  <a:t>, where </a:t>
                </a:r>
                <a14:m>
                  <m:oMath xmlns:m="http://schemas.openxmlformats.org/officeDocument/2006/math">
                    <m:r>
                      <a:rPr lang="en-US" b="0" i="1" smtClean="0">
                        <a:solidFill>
                          <a:srgbClr val="002060"/>
                        </a:solidFill>
                        <a:latin typeface="Cambria Math" panose="02040503050406030204" pitchFamily="18" charset="0"/>
                      </a:rPr>
                      <m:t>𝜂</m:t>
                    </m:r>
                  </m:oMath>
                </a14:m>
                <a:r>
                  <a:rPr lang="en-CH" dirty="0">
                    <a:solidFill>
                      <a:srgbClr val="002060"/>
                    </a:solidFill>
                    <a:latin typeface="Arial" panose="020B0604020202020204" pitchFamily="34" charset="0"/>
                    <a:cs typeface="Arial" panose="020B0604020202020204" pitchFamily="34" charset="0"/>
                  </a:rPr>
                  <a:t> the phase slippage factor and </a:t>
                </a:r>
                <a14:m>
                  <m:oMath xmlns:m="http://schemas.openxmlformats.org/officeDocument/2006/math">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𝑓</m:t>
                        </m:r>
                      </m:e>
                      <m:sub>
                        <m:r>
                          <a:rPr lang="en-US" b="0" i="1" smtClean="0">
                            <a:solidFill>
                              <a:srgbClr val="002060"/>
                            </a:solidFill>
                            <a:latin typeface="Cambria Math" panose="02040503050406030204" pitchFamily="18" charset="0"/>
                          </a:rPr>
                          <m:t>𝑅𝐹</m:t>
                        </m:r>
                      </m:sub>
                    </m:sSub>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h</m:t>
                    </m:r>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𝑓</m:t>
                        </m:r>
                      </m:e>
                      <m:sub>
                        <m:r>
                          <a:rPr lang="en-US" b="0" i="1" smtClean="0">
                            <a:solidFill>
                              <a:srgbClr val="002060"/>
                            </a:solidFill>
                            <a:latin typeface="Cambria Math" panose="02040503050406030204" pitchFamily="18" charset="0"/>
                          </a:rPr>
                          <m:t>𝑟𝑒𝑣</m:t>
                        </m:r>
                      </m:sub>
                    </m:sSub>
                  </m:oMath>
                </a14:m>
                <a:endParaRPr lang="en-CH" dirty="0">
                  <a:solidFill>
                    <a:srgbClr val="002060"/>
                  </a:solidFill>
                  <a:latin typeface="Arial" panose="020B0604020202020204" pitchFamily="34" charset="0"/>
                  <a:cs typeface="Arial" panose="020B0604020202020204" pitchFamily="34" charset="0"/>
                </a:endParaRPr>
              </a:p>
            </p:txBody>
          </p:sp>
        </mc:Choice>
        <mc:Fallback xmlns="">
          <p:sp>
            <p:nvSpPr>
              <p:cNvPr id="7" name="Alternative Process 6">
                <a:extLst>
                  <a:ext uri="{FF2B5EF4-FFF2-40B4-BE49-F238E27FC236}">
                    <a16:creationId xmlns:a16="http://schemas.microsoft.com/office/drawing/2014/main" id="{869F9D4F-FB4B-CABD-0DAC-9BAFC0C8FA62}"/>
                  </a:ext>
                </a:extLst>
              </p:cNvPr>
              <p:cNvSpPr>
                <a:spLocks noRot="1" noChangeAspect="1" noMove="1" noResize="1" noEditPoints="1" noAdjustHandles="1" noChangeArrowheads="1" noChangeShapeType="1" noTextEdit="1"/>
              </p:cNvSpPr>
              <p:nvPr/>
            </p:nvSpPr>
            <p:spPr>
              <a:xfrm>
                <a:off x="436658" y="2654895"/>
                <a:ext cx="4790124" cy="1973833"/>
              </a:xfrm>
              <a:prstGeom prst="flowChartAlternateProcess">
                <a:avLst/>
              </a:prstGeom>
              <a:blipFill>
                <a:blip r:embed="rId3"/>
                <a:stretch>
                  <a:fillRect/>
                </a:stretch>
              </a:blipFill>
              <a:ln w="38100">
                <a:solidFill>
                  <a:srgbClr val="002060"/>
                </a:solidFill>
              </a:ln>
              <a:effectLst>
                <a:outerShdw blurRad="50800" dist="38100" dir="13500000" algn="br" rotWithShape="0">
                  <a:prstClr val="black">
                    <a:alpha val="40000"/>
                  </a:prstClr>
                </a:outerShdw>
              </a:effectLst>
            </p:spPr>
            <p:txBody>
              <a:bodyPr/>
              <a:lstStyle/>
              <a:p>
                <a:r>
                  <a:rPr lang="en-CH">
                    <a:noFill/>
                  </a:rPr>
                  <a:t> </a:t>
                </a:r>
              </a:p>
            </p:txBody>
          </p:sp>
        </mc:Fallback>
      </mc:AlternateContent>
      <p:pic>
        <p:nvPicPr>
          <p:cNvPr id="8" name="Picture 7">
            <a:extLst>
              <a:ext uri="{FF2B5EF4-FFF2-40B4-BE49-F238E27FC236}">
                <a16:creationId xmlns:a16="http://schemas.microsoft.com/office/drawing/2014/main" id="{B39C75B9-4AFB-D4DB-3D0F-B0EE4032BD9B}"/>
              </a:ext>
            </a:extLst>
          </p:cNvPr>
          <p:cNvPicPr>
            <a:picLocks noChangeAspect="1"/>
          </p:cNvPicPr>
          <p:nvPr/>
        </p:nvPicPr>
        <p:blipFill>
          <a:blip r:embed="rId4"/>
          <a:stretch>
            <a:fillRect/>
          </a:stretch>
        </p:blipFill>
        <p:spPr>
          <a:xfrm>
            <a:off x="6185869" y="669054"/>
            <a:ext cx="5155362" cy="5868338"/>
          </a:xfrm>
          <a:prstGeom prst="rect">
            <a:avLst/>
          </a:prstGeom>
        </p:spPr>
      </p:pic>
      <p:sp>
        <p:nvSpPr>
          <p:cNvPr id="9" name="Alternative Process 8">
            <a:extLst>
              <a:ext uri="{FF2B5EF4-FFF2-40B4-BE49-F238E27FC236}">
                <a16:creationId xmlns:a16="http://schemas.microsoft.com/office/drawing/2014/main" id="{A0B3A18D-3105-E6A0-B974-BC32967A496B}"/>
              </a:ext>
            </a:extLst>
          </p:cNvPr>
          <p:cNvSpPr/>
          <p:nvPr/>
        </p:nvSpPr>
        <p:spPr>
          <a:xfrm>
            <a:off x="436658" y="4994169"/>
            <a:ext cx="4790124" cy="1499615"/>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H" dirty="0">
                <a:solidFill>
                  <a:srgbClr val="002060"/>
                </a:solidFill>
                <a:latin typeface="Arial" panose="020B0604020202020204" pitchFamily="34" charset="0"/>
                <a:cs typeface="Arial" panose="020B0604020202020204" pitchFamily="34" charset="0"/>
              </a:rPr>
              <a:t>Chromaticity is very close to the model. MAD-X can be used to find the sextupole strength to compensate it. </a:t>
            </a:r>
          </a:p>
        </p:txBody>
      </p:sp>
      <p:sp>
        <p:nvSpPr>
          <p:cNvPr id="3" name="TextBox 2">
            <a:extLst>
              <a:ext uri="{FF2B5EF4-FFF2-40B4-BE49-F238E27FC236}">
                <a16:creationId xmlns:a16="http://schemas.microsoft.com/office/drawing/2014/main" id="{988E49D4-3012-1192-0244-E0BACAD97171}"/>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D08794E-26AD-7C24-203B-08AE987E24DC}"/>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2375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F0C84-22F4-EB4F-80B6-FD16C828C71E}"/>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Transverse and longitudinal profiles</a:t>
            </a:r>
          </a:p>
        </p:txBody>
      </p:sp>
      <p:sp>
        <p:nvSpPr>
          <p:cNvPr id="5" name="Slide Number Placeholder 4">
            <a:extLst>
              <a:ext uri="{FF2B5EF4-FFF2-40B4-BE49-F238E27FC236}">
                <a16:creationId xmlns:a16="http://schemas.microsoft.com/office/drawing/2014/main" id="{77857BDC-4733-601E-3AE3-544CAC45ED25}"/>
              </a:ext>
            </a:extLst>
          </p:cNvPr>
          <p:cNvSpPr>
            <a:spLocks noGrp="1"/>
          </p:cNvSpPr>
          <p:nvPr>
            <p:ph type="sldNum" sz="quarter" idx="12"/>
          </p:nvPr>
        </p:nvSpPr>
        <p:spPr/>
        <p:txBody>
          <a:bodyPr/>
          <a:lstStyle/>
          <a:p>
            <a:r>
              <a:rPr lang="en-US" dirty="0"/>
              <a:t>14</a:t>
            </a:r>
            <a:endParaRPr lang="el-GR" dirty="0"/>
          </a:p>
        </p:txBody>
      </p:sp>
      <p:pic>
        <p:nvPicPr>
          <p:cNvPr id="6" name="Picture 5">
            <a:extLst>
              <a:ext uri="{FF2B5EF4-FFF2-40B4-BE49-F238E27FC236}">
                <a16:creationId xmlns:a16="http://schemas.microsoft.com/office/drawing/2014/main" id="{FC38750F-70C8-4A3C-CB51-E9ACD16FDA93}"/>
              </a:ext>
            </a:extLst>
          </p:cNvPr>
          <p:cNvPicPr>
            <a:picLocks noChangeAspect="1"/>
          </p:cNvPicPr>
          <p:nvPr/>
        </p:nvPicPr>
        <p:blipFill>
          <a:blip r:embed="rId2"/>
          <a:stretch>
            <a:fillRect/>
          </a:stretch>
        </p:blipFill>
        <p:spPr>
          <a:xfrm>
            <a:off x="2629015" y="3796843"/>
            <a:ext cx="6368681" cy="2982406"/>
          </a:xfrm>
          <a:prstGeom prst="rect">
            <a:avLst/>
          </a:prstGeom>
        </p:spPr>
      </p:pic>
      <p:pic>
        <p:nvPicPr>
          <p:cNvPr id="7" name="Picture 6">
            <a:extLst>
              <a:ext uri="{FF2B5EF4-FFF2-40B4-BE49-F238E27FC236}">
                <a16:creationId xmlns:a16="http://schemas.microsoft.com/office/drawing/2014/main" id="{7B43C8A0-1B43-BDAC-C026-B17F69F7FCCC}"/>
              </a:ext>
            </a:extLst>
          </p:cNvPr>
          <p:cNvPicPr>
            <a:picLocks noChangeAspect="1"/>
          </p:cNvPicPr>
          <p:nvPr/>
        </p:nvPicPr>
        <p:blipFill>
          <a:blip r:embed="rId3"/>
          <a:stretch>
            <a:fillRect/>
          </a:stretch>
        </p:blipFill>
        <p:spPr>
          <a:xfrm>
            <a:off x="2473566" y="729702"/>
            <a:ext cx="6643001" cy="2834347"/>
          </a:xfrm>
          <a:prstGeom prst="rect">
            <a:avLst/>
          </a:prstGeom>
        </p:spPr>
      </p:pic>
      <p:sp>
        <p:nvSpPr>
          <p:cNvPr id="4" name="TextBox 3">
            <a:extLst>
              <a:ext uri="{FF2B5EF4-FFF2-40B4-BE49-F238E27FC236}">
                <a16:creationId xmlns:a16="http://schemas.microsoft.com/office/drawing/2014/main" id="{1E4AB3A4-8234-2ABD-3847-D73B3F42F25D}"/>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7469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23C9-0D42-EB10-ABE3-98D6B19BE10D}"/>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Emittance and Brightness</a:t>
            </a:r>
          </a:p>
        </p:txBody>
      </p:sp>
      <p:sp>
        <p:nvSpPr>
          <p:cNvPr id="5" name="Slide Number Placeholder 4">
            <a:extLst>
              <a:ext uri="{FF2B5EF4-FFF2-40B4-BE49-F238E27FC236}">
                <a16:creationId xmlns:a16="http://schemas.microsoft.com/office/drawing/2014/main" id="{A88D2517-A28A-BA8D-2DDA-5EE5D773C5F6}"/>
              </a:ext>
            </a:extLst>
          </p:cNvPr>
          <p:cNvSpPr>
            <a:spLocks noGrp="1"/>
          </p:cNvSpPr>
          <p:nvPr>
            <p:ph type="sldNum" sz="quarter" idx="12"/>
          </p:nvPr>
        </p:nvSpPr>
        <p:spPr/>
        <p:txBody>
          <a:bodyPr/>
          <a:lstStyle/>
          <a:p>
            <a:r>
              <a:rPr lang="en-US" dirty="0"/>
              <a:t>15</a:t>
            </a:r>
            <a:endParaRPr lang="el-GR" dirty="0"/>
          </a:p>
        </p:txBody>
      </p:sp>
      <mc:AlternateContent xmlns:mc="http://schemas.openxmlformats.org/markup-compatibility/2006" xmlns:a14="http://schemas.microsoft.com/office/drawing/2010/main">
        <mc:Choice Requires="a14">
          <p:sp>
            <p:nvSpPr>
              <p:cNvPr id="6" name="Alternative Process 5">
                <a:extLst>
                  <a:ext uri="{FF2B5EF4-FFF2-40B4-BE49-F238E27FC236}">
                    <a16:creationId xmlns:a16="http://schemas.microsoft.com/office/drawing/2014/main" id="{0F572421-F759-F853-5225-14E4E8803B05}"/>
                  </a:ext>
                </a:extLst>
              </p:cNvPr>
              <p:cNvSpPr/>
              <p:nvPr/>
            </p:nvSpPr>
            <p:spPr>
              <a:xfrm>
                <a:off x="3749666" y="1551883"/>
                <a:ext cx="4692664" cy="1083436"/>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rgbClr val="002060"/>
                              </a:solidFill>
                              <a:latin typeface="Cambria Math" panose="02040503050406030204" pitchFamily="18" charset="0"/>
                            </a:rPr>
                          </m:ctrlPr>
                        </m:sSubPr>
                        <m:e>
                          <m:d>
                            <m:dPr>
                              <m:begChr m:val="⟨"/>
                              <m:endChr m:val="⟩"/>
                              <m:ctrlPr>
                                <a:rPr lang="en-CH" i="1" smtClean="0">
                                  <a:solidFill>
                                    <a:srgbClr val="002060"/>
                                  </a:solidFill>
                                  <a:latin typeface="Cambria Math" panose="02040503050406030204" pitchFamily="18" charset="0"/>
                                </a:rPr>
                              </m:ctrlPr>
                            </m:dPr>
                            <m:e>
                              <m:r>
                                <a:rPr lang="en-US" b="0" i="1" smtClean="0">
                                  <a:solidFill>
                                    <a:srgbClr val="002060"/>
                                  </a:solidFill>
                                  <a:latin typeface="Cambria Math" panose="02040503050406030204" pitchFamily="18" charset="0"/>
                                </a:rPr>
                                <m:t>𝑥</m:t>
                              </m:r>
                            </m:e>
                          </m:d>
                        </m:e>
                        <m:sub>
                          <m:r>
                            <a:rPr lang="en-US" b="0" i="1" smtClean="0">
                              <a:solidFill>
                                <a:srgbClr val="002060"/>
                              </a:solidFill>
                              <a:latin typeface="Cambria Math" panose="02040503050406030204" pitchFamily="18" charset="0"/>
                            </a:rPr>
                            <m:t>𝑚𝑒𝑎𝑠𝑢𝑟𝑒𝑑</m:t>
                          </m:r>
                        </m:sub>
                      </m:sSub>
                      <m:r>
                        <a:rPr lang="en-US" b="0" i="1" smtClean="0">
                          <a:solidFill>
                            <a:srgbClr val="002060"/>
                          </a:solidFill>
                          <a:latin typeface="Cambria Math" panose="02040503050406030204" pitchFamily="18" charset="0"/>
                        </a:rPr>
                        <m:t>=</m:t>
                      </m:r>
                      <m:sSub>
                        <m:sSubPr>
                          <m:ctrlPr>
                            <a:rPr lang="en-US" i="1">
                              <a:solidFill>
                                <a:srgbClr val="002060"/>
                              </a:solidFill>
                              <a:latin typeface="Cambria Math" panose="02040503050406030204" pitchFamily="18" charset="0"/>
                            </a:rPr>
                          </m:ctrlPr>
                        </m:sSubPr>
                        <m:e>
                          <m:d>
                            <m:dPr>
                              <m:begChr m:val="⟨"/>
                              <m:endChr m:val="⟩"/>
                              <m:ctrlPr>
                                <a:rPr lang="en-CH" i="1">
                                  <a:solidFill>
                                    <a:srgbClr val="002060"/>
                                  </a:solidFill>
                                  <a:latin typeface="Cambria Math" panose="02040503050406030204" pitchFamily="18" charset="0"/>
                                </a:rPr>
                              </m:ctrlPr>
                            </m:dPr>
                            <m:e>
                              <m:r>
                                <a:rPr lang="en-US" i="1">
                                  <a:solidFill>
                                    <a:srgbClr val="002060"/>
                                  </a:solidFill>
                                  <a:latin typeface="Cambria Math" panose="02040503050406030204" pitchFamily="18" charset="0"/>
                                </a:rPr>
                                <m:t>𝑥</m:t>
                              </m:r>
                            </m:e>
                          </m:d>
                        </m:e>
                        <m:sub>
                          <m:r>
                            <a:rPr lang="en-US" b="0" i="1" smtClean="0">
                              <a:solidFill>
                                <a:srgbClr val="002060"/>
                              </a:solidFill>
                              <a:latin typeface="Cambria Math" panose="02040503050406030204" pitchFamily="18" charset="0"/>
                            </a:rPr>
                            <m:t>𝑏𝑒𝑡𝑎𝑡𝑟𝑜𝑛𝑖𝑐</m:t>
                          </m:r>
                        </m:sub>
                      </m:sSub>
                      <m:r>
                        <a:rPr lang="en-US" b="0" i="1" smtClean="0">
                          <a:solidFill>
                            <a:srgbClr val="002060"/>
                          </a:solidFill>
                          <a:latin typeface="Cambria Math" panose="02040503050406030204" pitchFamily="18" charset="0"/>
                        </a:rPr>
                        <m:t>∗</m:t>
                      </m:r>
                      <m:sSub>
                        <m:sSubPr>
                          <m:ctrlPr>
                            <a:rPr lang="en-US" i="1">
                              <a:solidFill>
                                <a:srgbClr val="002060"/>
                              </a:solidFill>
                              <a:latin typeface="Cambria Math" panose="02040503050406030204" pitchFamily="18" charset="0"/>
                            </a:rPr>
                          </m:ctrlPr>
                        </m:sSubPr>
                        <m:e>
                          <m:d>
                            <m:dPr>
                              <m:begChr m:val="⟨"/>
                              <m:endChr m:val="⟩"/>
                              <m:ctrlPr>
                                <a:rPr lang="en-CH" i="1">
                                  <a:solidFill>
                                    <a:srgbClr val="002060"/>
                                  </a:solidFill>
                                  <a:latin typeface="Cambria Math" panose="02040503050406030204" pitchFamily="18" charset="0"/>
                                </a:rPr>
                              </m:ctrlPr>
                            </m:dPr>
                            <m:e>
                              <m:r>
                                <a:rPr lang="en-US" i="1">
                                  <a:solidFill>
                                    <a:srgbClr val="002060"/>
                                  </a:solidFill>
                                  <a:latin typeface="Cambria Math" panose="02040503050406030204" pitchFamily="18" charset="0"/>
                                </a:rPr>
                                <m:t>𝑥</m:t>
                              </m:r>
                            </m:e>
                          </m:d>
                        </m:e>
                        <m:sub>
                          <m:r>
                            <a:rPr lang="en-US" b="0" i="1" smtClean="0">
                              <a:solidFill>
                                <a:srgbClr val="002060"/>
                              </a:solidFill>
                              <a:latin typeface="Cambria Math" panose="02040503050406030204" pitchFamily="18" charset="0"/>
                            </a:rPr>
                            <m:t>𝑑𝑖𝑠𝑝𝑒𝑟𝑠𝑖𝑣𝑒</m:t>
                          </m:r>
                        </m:sub>
                      </m:sSub>
                    </m:oMath>
                    <m:oMath xmlns:m="http://schemas.openxmlformats.org/officeDocument/2006/math">
                      <m:sSub>
                        <m:sSubPr>
                          <m:ctrlPr>
                            <a:rPr lang="en-US" i="1">
                              <a:solidFill>
                                <a:srgbClr val="002060"/>
                              </a:solidFill>
                              <a:latin typeface="Cambria Math" panose="02040503050406030204" pitchFamily="18" charset="0"/>
                            </a:rPr>
                          </m:ctrlPr>
                        </m:sSubPr>
                        <m:e>
                          <m:d>
                            <m:dPr>
                              <m:begChr m:val="⟨"/>
                              <m:endChr m:val="⟩"/>
                              <m:ctrlPr>
                                <a:rPr lang="en-CH" i="1">
                                  <a:solidFill>
                                    <a:srgbClr val="002060"/>
                                  </a:solidFill>
                                  <a:latin typeface="Cambria Math" panose="02040503050406030204" pitchFamily="18" charset="0"/>
                                </a:rPr>
                              </m:ctrlPr>
                            </m:dPr>
                            <m:e>
                              <m:r>
                                <a:rPr lang="en-US" i="1">
                                  <a:solidFill>
                                    <a:srgbClr val="002060"/>
                                  </a:solidFill>
                                  <a:latin typeface="Cambria Math" panose="02040503050406030204" pitchFamily="18" charset="0"/>
                                </a:rPr>
                                <m:t>𝑥</m:t>
                              </m:r>
                            </m:e>
                          </m:d>
                        </m:e>
                        <m:sub>
                          <m:r>
                            <a:rPr lang="en-US" i="1">
                              <a:solidFill>
                                <a:srgbClr val="002060"/>
                              </a:solidFill>
                              <a:latin typeface="Cambria Math" panose="02040503050406030204" pitchFamily="18" charset="0"/>
                            </a:rPr>
                            <m:t>𝑚𝑒𝑎𝑠𝑢𝑟𝑒𝑑</m:t>
                          </m:r>
                        </m:sub>
                      </m:sSub>
                      <m:r>
                        <a:rPr lang="en-US" b="0" i="1" smtClean="0">
                          <a:solidFill>
                            <a:srgbClr val="002060"/>
                          </a:solidFill>
                          <a:latin typeface="Cambria Math" panose="02040503050406030204" pitchFamily="18" charset="0"/>
                        </a:rPr>
                        <m:t>= </m:t>
                      </m:r>
                      <m:d>
                        <m:dPr>
                          <m:begChr m:val="⟨"/>
                          <m:endChr m:val="⟩"/>
                          <m:ctrlPr>
                            <a:rPr lang="en-CH" i="1">
                              <a:solidFill>
                                <a:srgbClr val="002060"/>
                              </a:solidFill>
                              <a:latin typeface="Cambria Math" panose="02040503050406030204" pitchFamily="18" charset="0"/>
                            </a:rPr>
                          </m:ctrlPr>
                        </m:dPr>
                        <m:e>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𝜖</m:t>
                              </m:r>
                            </m:e>
                            <m:sub>
                              <m:r>
                                <a:rPr lang="en-US" b="0" i="1" smtClean="0">
                                  <a:solidFill>
                                    <a:srgbClr val="002060"/>
                                  </a:solidFill>
                                  <a:latin typeface="Cambria Math" panose="02040503050406030204" pitchFamily="18" charset="0"/>
                                </a:rPr>
                                <m:t>𝑥</m:t>
                              </m:r>
                            </m:sub>
                          </m:sSub>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𝛽</m:t>
                              </m:r>
                            </m:e>
                            <m:sub>
                              <m:r>
                                <a:rPr lang="en-US" b="0" i="1" smtClean="0">
                                  <a:solidFill>
                                    <a:srgbClr val="002060"/>
                                  </a:solidFill>
                                  <a:latin typeface="Cambria Math" panose="02040503050406030204" pitchFamily="18" charset="0"/>
                                </a:rPr>
                                <m:t>𝑥</m:t>
                              </m:r>
                            </m:sub>
                          </m:sSub>
                        </m:e>
                      </m:d>
                      <m:r>
                        <a:rPr lang="en-US" b="0" i="1" smtClean="0">
                          <a:solidFill>
                            <a:srgbClr val="002060"/>
                          </a:solidFill>
                          <a:latin typeface="Cambria Math" panose="02040503050406030204" pitchFamily="18" charset="0"/>
                        </a:rPr>
                        <m:t>∗</m:t>
                      </m:r>
                      <m:d>
                        <m:dPr>
                          <m:begChr m:val="⟨"/>
                          <m:endChr m:val="⟩"/>
                          <m:ctrlPr>
                            <a:rPr lang="en-CH" i="1">
                              <a:solidFill>
                                <a:srgbClr val="002060"/>
                              </a:solidFill>
                              <a:latin typeface="Cambria Math" panose="02040503050406030204" pitchFamily="18" charset="0"/>
                            </a:rPr>
                          </m:ctrlPr>
                        </m:dPr>
                        <m:e>
                          <m:sSub>
                            <m:sSubPr>
                              <m:ctrlPr>
                                <a:rPr lang="en-US" i="1">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𝐷</m:t>
                              </m:r>
                            </m:e>
                            <m:sub>
                              <m:r>
                                <a:rPr lang="en-US" i="1">
                                  <a:solidFill>
                                    <a:srgbClr val="002060"/>
                                  </a:solidFill>
                                  <a:latin typeface="Cambria Math" panose="02040503050406030204" pitchFamily="18" charset="0"/>
                                </a:rPr>
                                <m:t>𝑥</m:t>
                              </m:r>
                            </m:sub>
                          </m:sSub>
                          <m:r>
                            <a:rPr lang="en-US" b="0" i="1" smtClean="0">
                              <a:solidFill>
                                <a:srgbClr val="002060"/>
                              </a:solidFill>
                              <a:latin typeface="Cambria Math" panose="02040503050406030204" pitchFamily="18" charset="0"/>
                            </a:rPr>
                            <m:t> </m:t>
                          </m:r>
                          <m:r>
                            <a:rPr lang="en-US" b="0" i="1" smtClean="0">
                              <a:solidFill>
                                <a:srgbClr val="002060"/>
                              </a:solidFill>
                              <a:latin typeface="Cambria Math" panose="02040503050406030204" pitchFamily="18" charset="0"/>
                            </a:rPr>
                            <m:t>𝛿</m:t>
                          </m:r>
                          <m:r>
                            <a:rPr lang="en-US" b="0" i="1" smtClean="0">
                              <a:solidFill>
                                <a:srgbClr val="002060"/>
                              </a:solidFill>
                              <a:latin typeface="Cambria Math" panose="02040503050406030204" pitchFamily="18" charset="0"/>
                            </a:rPr>
                            <m:t>𝑝</m:t>
                          </m:r>
                          <m:r>
                            <a:rPr lang="en-US" b="0" i="1" smtClean="0">
                              <a:solidFill>
                                <a:srgbClr val="002060"/>
                              </a:solidFill>
                              <a:latin typeface="Cambria Math" panose="02040503050406030204" pitchFamily="18" charset="0"/>
                            </a:rPr>
                            <m:t>/</m:t>
                          </m:r>
                          <m:r>
                            <a:rPr lang="en-US" b="0" i="1" smtClean="0">
                              <a:solidFill>
                                <a:srgbClr val="002060"/>
                              </a:solidFill>
                              <a:latin typeface="Cambria Math" panose="02040503050406030204" pitchFamily="18" charset="0"/>
                            </a:rPr>
                            <m:t>𝑝</m:t>
                          </m:r>
                        </m:e>
                      </m:d>
                    </m:oMath>
                  </m:oMathPara>
                </a14:m>
                <a:endParaRPr lang="en-US" dirty="0">
                  <a:solidFill>
                    <a:srgbClr val="002060"/>
                  </a:solidFill>
                  <a:latin typeface="Arial" panose="020B0604020202020204" pitchFamily="34" charset="0"/>
                  <a:cs typeface="Arial" panose="020B0604020202020204" pitchFamily="34" charset="0"/>
                </a:endParaRPr>
              </a:p>
            </p:txBody>
          </p:sp>
        </mc:Choice>
        <mc:Fallback xmlns="">
          <p:sp>
            <p:nvSpPr>
              <p:cNvPr id="6" name="Alternative Process 5">
                <a:extLst>
                  <a:ext uri="{FF2B5EF4-FFF2-40B4-BE49-F238E27FC236}">
                    <a16:creationId xmlns:a16="http://schemas.microsoft.com/office/drawing/2014/main" id="{0F572421-F759-F853-5225-14E4E8803B05}"/>
                  </a:ext>
                </a:extLst>
              </p:cNvPr>
              <p:cNvSpPr>
                <a:spLocks noRot="1" noChangeAspect="1" noMove="1" noResize="1" noEditPoints="1" noAdjustHandles="1" noChangeArrowheads="1" noChangeShapeType="1" noTextEdit="1"/>
              </p:cNvSpPr>
              <p:nvPr/>
            </p:nvSpPr>
            <p:spPr>
              <a:xfrm>
                <a:off x="3749666" y="1551883"/>
                <a:ext cx="4692664" cy="1083436"/>
              </a:xfrm>
              <a:prstGeom prst="flowChartAlternateProcess">
                <a:avLst/>
              </a:prstGeom>
              <a:blipFill>
                <a:blip r:embed="rId2"/>
                <a:stretch>
                  <a:fillRect/>
                </a:stretch>
              </a:blipFill>
              <a:ln w="38100">
                <a:solidFill>
                  <a:srgbClr val="002060"/>
                </a:solidFill>
              </a:ln>
              <a:effectLst>
                <a:outerShdw blurRad="50800" dist="38100" dir="13500000" algn="br" rotWithShape="0">
                  <a:prstClr val="black">
                    <a:alpha val="40000"/>
                  </a:prstClr>
                </a:outerShdw>
              </a:effectLst>
            </p:spPr>
            <p:txBody>
              <a:bodyPr/>
              <a:lstStyle/>
              <a:p>
                <a:r>
                  <a:rPr lang="en-CH">
                    <a:noFill/>
                  </a:rPr>
                  <a:t> </a:t>
                </a:r>
              </a:p>
            </p:txBody>
          </p:sp>
        </mc:Fallback>
      </mc:AlternateContent>
      <p:sp>
        <p:nvSpPr>
          <p:cNvPr id="7" name="TextBox 6">
            <a:extLst>
              <a:ext uri="{FF2B5EF4-FFF2-40B4-BE49-F238E27FC236}">
                <a16:creationId xmlns:a16="http://schemas.microsoft.com/office/drawing/2014/main" id="{A31F094E-38B2-18EB-A686-17B006CB7539}"/>
              </a:ext>
            </a:extLst>
          </p:cNvPr>
          <p:cNvSpPr txBox="1"/>
          <p:nvPr/>
        </p:nvSpPr>
        <p:spPr>
          <a:xfrm>
            <a:off x="153656" y="694618"/>
            <a:ext cx="11843272" cy="646331"/>
          </a:xfrm>
          <a:prstGeom prst="rect">
            <a:avLst/>
          </a:prstGeom>
          <a:noFill/>
        </p:spPr>
        <p:txBody>
          <a:bodyPr wrap="square" rtlCol="0">
            <a:spAutoFit/>
          </a:bodyPr>
          <a:lstStyle/>
          <a:p>
            <a:pPr algn="ctr"/>
            <a:r>
              <a:rPr lang="en-CH" dirty="0">
                <a:latin typeface="Arial" panose="020B0604020202020204" pitchFamily="34" charset="0"/>
                <a:cs typeface="Arial" panose="020B0604020202020204" pitchFamily="34" charset="0"/>
              </a:rPr>
              <a:t>In the PSB we have non-zero dispesion: coupling between transverse and longitudinal motion</a:t>
            </a:r>
            <a:r>
              <a:rPr lang="el-GR" dirty="0">
                <a:latin typeface="Arial" panose="020B0604020202020204" pitchFamily="34" charset="0"/>
                <a:cs typeface="Arial" panose="020B0604020202020204" pitchFamily="34" charset="0"/>
                <a:sym typeface="Wingdings" pitchFamily="2" charset="2"/>
              </a:rPr>
              <a:t> →</a:t>
            </a:r>
            <a:r>
              <a:rPr lang="en-US" dirty="0">
                <a:latin typeface="Arial" panose="020B0604020202020204" pitchFamily="34" charset="0"/>
                <a:cs typeface="Arial" panose="020B0604020202020204" pitchFamily="34" charset="0"/>
                <a:sym typeface="Wingdings" pitchFamily="2" charset="2"/>
              </a:rPr>
              <a:t> </a:t>
            </a:r>
          </a:p>
          <a:p>
            <a:pPr algn="ctr"/>
            <a:r>
              <a:rPr lang="en-US" b="1" dirty="0">
                <a:solidFill>
                  <a:srgbClr val="FF0000"/>
                </a:solidFill>
                <a:latin typeface="Arial" panose="020B0604020202020204" pitchFamily="34" charset="0"/>
                <a:cs typeface="Arial" panose="020B0604020202020204" pitchFamily="34" charset="0"/>
                <a:sym typeface="Wingdings" pitchFamily="2" charset="2"/>
              </a:rPr>
              <a:t>growth of the horizontal phase space that the beam occupies</a:t>
            </a:r>
            <a:endParaRPr lang="en-CH" b="1" dirty="0">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Alternative Process 7">
                <a:extLst>
                  <a:ext uri="{FF2B5EF4-FFF2-40B4-BE49-F238E27FC236}">
                    <a16:creationId xmlns:a16="http://schemas.microsoft.com/office/drawing/2014/main" id="{B4A9EA96-204C-A4D9-EC2F-A59F839A2AEC}"/>
                  </a:ext>
                </a:extLst>
              </p:cNvPr>
              <p:cNvSpPr/>
              <p:nvPr/>
            </p:nvSpPr>
            <p:spPr>
              <a:xfrm>
                <a:off x="418202" y="3541582"/>
                <a:ext cx="4692664" cy="2136842"/>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𝜎</m:t>
                          </m:r>
                        </m:e>
                        <m:sub>
                          <m:r>
                            <a:rPr lang="en-US" b="0" i="1" smtClean="0">
                              <a:solidFill>
                                <a:srgbClr val="002060"/>
                              </a:solidFill>
                              <a:latin typeface="Cambria Math" panose="02040503050406030204" pitchFamily="18" charset="0"/>
                            </a:rPr>
                            <m:t>𝑚𝑒𝑎𝑠𝑢𝑟𝑒𝑑</m:t>
                          </m:r>
                        </m:sub>
                      </m:sSub>
                      <m:r>
                        <a:rPr lang="en-US" b="0" i="1" smtClean="0">
                          <a:solidFill>
                            <a:srgbClr val="002060"/>
                          </a:solidFill>
                          <a:latin typeface="Cambria Math" panose="02040503050406030204" pitchFamily="18" charset="0"/>
                        </a:rPr>
                        <m:t>=</m:t>
                      </m:r>
                      <m:rad>
                        <m:radPr>
                          <m:degHide m:val="on"/>
                          <m:ctrlPr>
                            <a:rPr lang="en-US" b="0" i="1" smtClean="0">
                              <a:solidFill>
                                <a:srgbClr val="002060"/>
                              </a:solidFill>
                              <a:latin typeface="Cambria Math" panose="02040503050406030204" pitchFamily="18" charset="0"/>
                            </a:rPr>
                          </m:ctrlPr>
                        </m:radPr>
                        <m:deg/>
                        <m:e>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𝜖</m:t>
                              </m:r>
                            </m:e>
                            <m:sub>
                              <m:r>
                                <a:rPr lang="en-US" b="0" i="1" smtClean="0">
                                  <a:solidFill>
                                    <a:srgbClr val="002060"/>
                                  </a:solidFill>
                                  <a:latin typeface="Cambria Math" panose="02040503050406030204" pitchFamily="18" charset="0"/>
                                </a:rPr>
                                <m:t>𝑥</m:t>
                              </m:r>
                            </m:sub>
                          </m:sSub>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𝛽</m:t>
                              </m:r>
                            </m:e>
                            <m:sub>
                              <m:r>
                                <a:rPr lang="en-US" b="0" i="1" smtClean="0">
                                  <a:solidFill>
                                    <a:srgbClr val="002060"/>
                                  </a:solidFill>
                                  <a:latin typeface="Cambria Math" panose="02040503050406030204" pitchFamily="18" charset="0"/>
                                </a:rPr>
                                <m:t>𝑥</m:t>
                              </m:r>
                            </m:sub>
                          </m:sSub>
                          <m:r>
                            <a:rPr lang="en-US" b="0" i="1" smtClean="0">
                              <a:solidFill>
                                <a:srgbClr val="002060"/>
                              </a:solidFill>
                              <a:latin typeface="Cambria Math" panose="02040503050406030204" pitchFamily="18" charset="0"/>
                            </a:rPr>
                            <m:t>+</m:t>
                          </m:r>
                          <m:sSup>
                            <m:sSupPr>
                              <m:ctrlPr>
                                <a:rPr lang="en-US" b="0" i="1" smtClean="0">
                                  <a:solidFill>
                                    <a:srgbClr val="002060"/>
                                  </a:solidFill>
                                  <a:latin typeface="Cambria Math" panose="02040503050406030204" pitchFamily="18" charset="0"/>
                                </a:rPr>
                              </m:ctrlPr>
                            </m:sSupPr>
                            <m:e>
                              <m:d>
                                <m:dPr>
                                  <m:ctrlPr>
                                    <a:rPr lang="en-US" b="0" i="1" smtClean="0">
                                      <a:solidFill>
                                        <a:srgbClr val="002060"/>
                                      </a:solidFill>
                                      <a:latin typeface="Cambria Math" panose="02040503050406030204" pitchFamily="18" charset="0"/>
                                    </a:rPr>
                                  </m:ctrlPr>
                                </m:dPr>
                                <m:e>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𝐷</m:t>
                                      </m:r>
                                    </m:e>
                                    <m:sub>
                                      <m:r>
                                        <a:rPr lang="en-US" b="0" i="1" smtClean="0">
                                          <a:solidFill>
                                            <a:srgbClr val="002060"/>
                                          </a:solidFill>
                                          <a:latin typeface="Cambria Math" panose="02040503050406030204" pitchFamily="18" charset="0"/>
                                        </a:rPr>
                                        <m:t>𝑥</m:t>
                                      </m:r>
                                    </m:sub>
                                  </m:sSub>
                                  <m:f>
                                    <m:fPr>
                                      <m:ctrlPr>
                                        <a:rPr lang="en-US" b="0" i="1" smtClean="0">
                                          <a:solidFill>
                                            <a:srgbClr val="002060"/>
                                          </a:solidFill>
                                          <a:latin typeface="Cambria Math" panose="02040503050406030204" pitchFamily="18" charset="0"/>
                                        </a:rPr>
                                      </m:ctrlPr>
                                    </m:fPr>
                                    <m:num>
                                      <m:r>
                                        <a:rPr lang="en-US" b="0" i="1" smtClean="0">
                                          <a:solidFill>
                                            <a:srgbClr val="002060"/>
                                          </a:solidFill>
                                          <a:latin typeface="Cambria Math" panose="02040503050406030204" pitchFamily="18" charset="0"/>
                                        </a:rPr>
                                        <m:t>𝛿</m:t>
                                      </m:r>
                                      <m:r>
                                        <a:rPr lang="en-US" b="0" i="1" smtClean="0">
                                          <a:solidFill>
                                            <a:srgbClr val="002060"/>
                                          </a:solidFill>
                                          <a:latin typeface="Cambria Math" panose="02040503050406030204" pitchFamily="18" charset="0"/>
                                        </a:rPr>
                                        <m:t>𝑝</m:t>
                                      </m:r>
                                    </m:num>
                                    <m:den>
                                      <m:r>
                                        <a:rPr lang="en-US" b="0" i="1" smtClean="0">
                                          <a:solidFill>
                                            <a:srgbClr val="002060"/>
                                          </a:solidFill>
                                          <a:latin typeface="Cambria Math" panose="02040503050406030204" pitchFamily="18" charset="0"/>
                                        </a:rPr>
                                        <m:t>𝑝</m:t>
                                      </m:r>
                                    </m:den>
                                  </m:f>
                                </m:e>
                              </m:d>
                            </m:e>
                            <m:sup>
                              <m:r>
                                <a:rPr lang="en-US" b="0" i="1" smtClean="0">
                                  <a:solidFill>
                                    <a:srgbClr val="002060"/>
                                  </a:solidFill>
                                  <a:latin typeface="Cambria Math" panose="02040503050406030204" pitchFamily="18" charset="0"/>
                                </a:rPr>
                                <m:t>2</m:t>
                              </m:r>
                            </m:sup>
                          </m:sSup>
                        </m:e>
                      </m:rad>
                    </m:oMath>
                  </m:oMathPara>
                </a14:m>
                <a:endParaRPr lang="en-US" b="0" dirty="0">
                  <a:solidFill>
                    <a:srgbClr val="002060"/>
                  </a:solidFill>
                  <a:latin typeface="Arial" panose="020B0604020202020204" pitchFamily="34" charset="0"/>
                  <a:cs typeface="Arial" panose="020B0604020202020204" pitchFamily="34" charset="0"/>
                </a:endParaRPr>
              </a:p>
              <a:p>
                <a:pPr algn="ctr"/>
                <a:endParaRPr lang="en-US" b="0" dirty="0">
                  <a:solidFill>
                    <a:srgbClr val="002060"/>
                  </a:solidFill>
                  <a:latin typeface="Arial" panose="020B0604020202020204" pitchFamily="34" charset="0"/>
                  <a:cs typeface="Arial" panose="020B0604020202020204" pitchFamily="34" charset="0"/>
                </a:endParaRPr>
              </a:p>
              <a:p>
                <a:pPr algn="ctr"/>
                <a:r>
                  <a:rPr lang="en-US" dirty="0">
                    <a:solidFill>
                      <a:srgbClr val="002060"/>
                    </a:solidFill>
                    <a:latin typeface="Arial" panose="020B0604020202020204" pitchFamily="34" charset="0"/>
                    <a:cs typeface="Arial" panose="020B0604020202020204" pitchFamily="34" charset="0"/>
                  </a:rPr>
                  <a:t>Emittance </a:t>
                </a:r>
                <a:r>
                  <a:rPr lang="en-CH" sz="1800" b="1" dirty="0">
                    <a:solidFill>
                      <a:srgbClr val="002060"/>
                    </a:solidFill>
                    <a:latin typeface="Arial" panose="020B0604020202020204" pitchFamily="34" charset="0"/>
                    <a:cs typeface="Arial" panose="020B0604020202020204" pitchFamily="34" charset="0"/>
                    <a:sym typeface="Wingdings" pitchFamily="2" charset="2"/>
                  </a:rPr>
                  <a:t>→</a:t>
                </a:r>
                <a:r>
                  <a:rPr lang="en-US" sz="1800" dirty="0">
                    <a:solidFill>
                      <a:srgbClr val="002060"/>
                    </a:solidFill>
                    <a:latin typeface="Arial" panose="020B0604020202020204" pitchFamily="34" charset="0"/>
                    <a:cs typeface="Arial" panose="020B0604020202020204" pitchFamily="34" charset="0"/>
                    <a:sym typeface="Wingdings" pitchFamily="2" charset="2"/>
                  </a:rPr>
                  <a:t> Normalized emittance</a:t>
                </a:r>
              </a:p>
              <a:p>
                <a:pPr algn="ctr"/>
                <a14:m>
                  <m:oMathPara xmlns:m="http://schemas.openxmlformats.org/officeDocument/2006/math">
                    <m:oMathParaPr>
                      <m:jc m:val="centerGroup"/>
                    </m:oMathParaPr>
                    <m:oMath xmlns:m="http://schemas.openxmlformats.org/officeDocument/2006/math">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𝜖</m:t>
                          </m:r>
                        </m:e>
                        <m:sub>
                          <m:r>
                            <a:rPr lang="en-US" b="0" i="1" smtClean="0">
                              <a:solidFill>
                                <a:srgbClr val="002060"/>
                              </a:solidFill>
                              <a:latin typeface="Cambria Math" panose="02040503050406030204" pitchFamily="18" charset="0"/>
                            </a:rPr>
                            <m:t>𝑛</m:t>
                          </m:r>
                        </m:sub>
                      </m:sSub>
                      <m:r>
                        <a:rPr lang="en-US" b="0" i="1" smtClean="0">
                          <a:solidFill>
                            <a:srgbClr val="002060"/>
                          </a:solidFill>
                          <a:latin typeface="Cambria Math" panose="02040503050406030204" pitchFamily="18" charset="0"/>
                        </a:rPr>
                        <m:t>=</m:t>
                      </m:r>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𝜖</m:t>
                          </m:r>
                        </m:e>
                        <m:sub>
                          <m:r>
                            <a:rPr lang="en-US" b="0" i="1" smtClean="0">
                              <a:solidFill>
                                <a:srgbClr val="002060"/>
                              </a:solidFill>
                              <a:latin typeface="Cambria Math" panose="02040503050406030204" pitchFamily="18" charset="0"/>
                            </a:rPr>
                            <m:t>𝑥</m:t>
                          </m:r>
                        </m:sub>
                      </m:sSub>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𝛽</m:t>
                          </m:r>
                        </m:e>
                        <m:sub>
                          <m:r>
                            <a:rPr lang="en-US" b="0" i="1" smtClean="0">
                              <a:solidFill>
                                <a:srgbClr val="002060"/>
                              </a:solidFill>
                              <a:latin typeface="Cambria Math" panose="02040503050406030204" pitchFamily="18" charset="0"/>
                            </a:rPr>
                            <m:t>𝑟𝑒𝑙</m:t>
                          </m:r>
                        </m:sub>
                      </m:sSub>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𝛾</m:t>
                          </m:r>
                        </m:e>
                        <m:sub>
                          <m:r>
                            <a:rPr lang="en-US" b="0" i="1" smtClean="0">
                              <a:solidFill>
                                <a:srgbClr val="002060"/>
                              </a:solidFill>
                              <a:latin typeface="Cambria Math" panose="02040503050406030204" pitchFamily="18" charset="0"/>
                            </a:rPr>
                            <m:t>𝑟𝑒𝑙</m:t>
                          </m:r>
                        </m:sub>
                      </m:sSub>
                    </m:oMath>
                  </m:oMathPara>
                </a14:m>
                <a:endParaRPr lang="en-US" b="0" dirty="0">
                  <a:solidFill>
                    <a:srgbClr val="002060"/>
                  </a:solidFill>
                  <a:latin typeface="Arial" panose="020B0604020202020204" pitchFamily="34" charset="0"/>
                  <a:cs typeface="Arial" panose="020B0604020202020204" pitchFamily="34" charset="0"/>
                </a:endParaRPr>
              </a:p>
            </p:txBody>
          </p:sp>
        </mc:Choice>
        <mc:Fallback xmlns="">
          <p:sp>
            <p:nvSpPr>
              <p:cNvPr id="8" name="Alternative Process 7">
                <a:extLst>
                  <a:ext uri="{FF2B5EF4-FFF2-40B4-BE49-F238E27FC236}">
                    <a16:creationId xmlns:a16="http://schemas.microsoft.com/office/drawing/2014/main" id="{B4A9EA96-204C-A4D9-EC2F-A59F839A2AEC}"/>
                  </a:ext>
                </a:extLst>
              </p:cNvPr>
              <p:cNvSpPr>
                <a:spLocks noRot="1" noChangeAspect="1" noMove="1" noResize="1" noEditPoints="1" noAdjustHandles="1" noChangeArrowheads="1" noChangeShapeType="1" noTextEdit="1"/>
              </p:cNvSpPr>
              <p:nvPr/>
            </p:nvSpPr>
            <p:spPr>
              <a:xfrm>
                <a:off x="418202" y="3541582"/>
                <a:ext cx="4692664" cy="2136842"/>
              </a:xfrm>
              <a:prstGeom prst="flowChartAlternateProcess">
                <a:avLst/>
              </a:prstGeom>
              <a:blipFill>
                <a:blip r:embed="rId3"/>
                <a:stretch>
                  <a:fillRect/>
                </a:stretch>
              </a:blipFill>
              <a:ln w="38100">
                <a:solidFill>
                  <a:srgbClr val="002060"/>
                </a:solidFill>
              </a:ln>
              <a:effectLst>
                <a:outerShdw blurRad="50800" dist="38100" dir="13500000" algn="br" rotWithShape="0">
                  <a:prstClr val="black">
                    <a:alpha val="40000"/>
                  </a:prstClr>
                </a:outerShdw>
              </a:effectLst>
            </p:spPr>
            <p:txBody>
              <a:bodyPr/>
              <a:lstStyle/>
              <a:p>
                <a:r>
                  <a:rPr lang="en-CH">
                    <a:noFill/>
                  </a:rPr>
                  <a:t> </a:t>
                </a:r>
              </a:p>
            </p:txBody>
          </p:sp>
        </mc:Fallback>
      </mc:AlternateContent>
      <p:sp>
        <p:nvSpPr>
          <p:cNvPr id="9" name="Alternative Process 8">
            <a:extLst>
              <a:ext uri="{FF2B5EF4-FFF2-40B4-BE49-F238E27FC236}">
                <a16:creationId xmlns:a16="http://schemas.microsoft.com/office/drawing/2014/main" id="{882D6F20-9D67-7248-1D81-737A4CA3D434}"/>
              </a:ext>
            </a:extLst>
          </p:cNvPr>
          <p:cNvSpPr/>
          <p:nvPr/>
        </p:nvSpPr>
        <p:spPr>
          <a:xfrm>
            <a:off x="7081136" y="3541582"/>
            <a:ext cx="4692664" cy="1083436"/>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Arial" panose="020B0604020202020204" pitchFamily="34" charset="0"/>
                <a:cs typeface="Arial" panose="020B0604020202020204" pitchFamily="34" charset="0"/>
              </a:rPr>
              <a:t>Deconvolution not trivial; need iterative algorithms</a:t>
            </a:r>
          </a:p>
        </p:txBody>
      </p:sp>
      <p:sp>
        <p:nvSpPr>
          <p:cNvPr id="15" name="Down Arrow 14">
            <a:extLst>
              <a:ext uri="{FF2B5EF4-FFF2-40B4-BE49-F238E27FC236}">
                <a16:creationId xmlns:a16="http://schemas.microsoft.com/office/drawing/2014/main" id="{985474A0-2377-2DB1-C71E-20F35A809B86}"/>
              </a:ext>
            </a:extLst>
          </p:cNvPr>
          <p:cNvSpPr/>
          <p:nvPr/>
        </p:nvSpPr>
        <p:spPr>
          <a:xfrm rot="2606321">
            <a:off x="4005369" y="2821589"/>
            <a:ext cx="530352" cy="533724"/>
          </a:xfrm>
          <a:prstGeom prst="downArrow">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6" name="Down Arrow 15">
            <a:extLst>
              <a:ext uri="{FF2B5EF4-FFF2-40B4-BE49-F238E27FC236}">
                <a16:creationId xmlns:a16="http://schemas.microsoft.com/office/drawing/2014/main" id="{AF9F8219-7DF8-13B3-D897-47D9EDB9A692}"/>
              </a:ext>
            </a:extLst>
          </p:cNvPr>
          <p:cNvSpPr/>
          <p:nvPr/>
        </p:nvSpPr>
        <p:spPr>
          <a:xfrm rot="19057741">
            <a:off x="7649197" y="2809987"/>
            <a:ext cx="530352" cy="533724"/>
          </a:xfrm>
          <a:prstGeom prst="downArrow">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17" name="TextBox 16">
            <a:extLst>
              <a:ext uri="{FF2B5EF4-FFF2-40B4-BE49-F238E27FC236}">
                <a16:creationId xmlns:a16="http://schemas.microsoft.com/office/drawing/2014/main" id="{5832A6DB-6A72-6EBA-FFEE-8CB51A9F22BF}"/>
              </a:ext>
            </a:extLst>
          </p:cNvPr>
          <p:cNvSpPr txBox="1"/>
          <p:nvPr/>
        </p:nvSpPr>
        <p:spPr>
          <a:xfrm>
            <a:off x="2517290" y="2722782"/>
            <a:ext cx="1488080" cy="646331"/>
          </a:xfrm>
          <a:prstGeom prst="rect">
            <a:avLst/>
          </a:prstGeom>
          <a:noFill/>
        </p:spPr>
        <p:txBody>
          <a:bodyPr wrap="square" rtlCol="0">
            <a:spAutoFit/>
          </a:bodyPr>
          <a:lstStyle/>
          <a:p>
            <a:r>
              <a:rPr lang="en-CH" dirty="0">
                <a:latin typeface="Arial" panose="020B0604020202020204" pitchFamily="34" charset="0"/>
                <a:cs typeface="Arial" panose="020B0604020202020204" pitchFamily="34" charset="0"/>
              </a:rPr>
              <a:t>If all three Gaussian</a:t>
            </a:r>
          </a:p>
        </p:txBody>
      </p:sp>
      <p:sp>
        <p:nvSpPr>
          <p:cNvPr id="18" name="TextBox 17">
            <a:extLst>
              <a:ext uri="{FF2B5EF4-FFF2-40B4-BE49-F238E27FC236}">
                <a16:creationId xmlns:a16="http://schemas.microsoft.com/office/drawing/2014/main" id="{D908ED9E-35FD-9995-2995-613CD08B603B}"/>
              </a:ext>
            </a:extLst>
          </p:cNvPr>
          <p:cNvSpPr txBox="1"/>
          <p:nvPr/>
        </p:nvSpPr>
        <p:spPr>
          <a:xfrm>
            <a:off x="8290131" y="2722782"/>
            <a:ext cx="1670934" cy="646331"/>
          </a:xfrm>
          <a:prstGeom prst="rect">
            <a:avLst/>
          </a:prstGeom>
          <a:noFill/>
        </p:spPr>
        <p:txBody>
          <a:bodyPr wrap="square" rtlCol="0">
            <a:spAutoFit/>
          </a:bodyPr>
          <a:lstStyle/>
          <a:p>
            <a:r>
              <a:rPr lang="en-CH" dirty="0">
                <a:latin typeface="Arial" panose="020B0604020202020204" pitchFamily="34" charset="0"/>
                <a:cs typeface="Arial" panose="020B0604020202020204" pitchFamily="34" charset="0"/>
              </a:rPr>
              <a:t>If at least one non-Gaussian</a:t>
            </a:r>
          </a:p>
        </p:txBody>
      </p:sp>
      <p:sp>
        <p:nvSpPr>
          <p:cNvPr id="21" name="Alternative Process 20">
            <a:extLst>
              <a:ext uri="{FF2B5EF4-FFF2-40B4-BE49-F238E27FC236}">
                <a16:creationId xmlns:a16="http://schemas.microsoft.com/office/drawing/2014/main" id="{92B8891E-EDCD-38AE-FBC2-F462568A91B8}"/>
              </a:ext>
            </a:extLst>
          </p:cNvPr>
          <p:cNvSpPr/>
          <p:nvPr/>
        </p:nvSpPr>
        <p:spPr>
          <a:xfrm>
            <a:off x="6355712" y="5111631"/>
            <a:ext cx="4692664" cy="1083436"/>
          </a:xfrm>
          <a:prstGeom prst="flowChartAlternateProcess">
            <a:avLst/>
          </a:prstGeom>
          <a:solidFill>
            <a:schemeClr val="accent5">
              <a:lumMod val="40000"/>
              <a:lumOff val="60000"/>
            </a:schemeClr>
          </a:solidFill>
          <a:ln w="38100">
            <a:solidFill>
              <a:srgbClr val="002060"/>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2060"/>
                </a:solidFill>
                <a:latin typeface="Arial" panose="020B0604020202020204" pitchFamily="34" charset="0"/>
                <a:cs typeface="Arial" panose="020B0604020202020204" pitchFamily="34" charset="0"/>
              </a:rPr>
              <a:t>Brightness </a:t>
            </a:r>
            <a:r>
              <a:rPr lang="en-CH" sz="1800" b="1" dirty="0">
                <a:solidFill>
                  <a:srgbClr val="002060"/>
                </a:solidFill>
                <a:latin typeface="Arial" panose="020B0604020202020204" pitchFamily="34" charset="0"/>
                <a:cs typeface="Arial" panose="020B0604020202020204" pitchFamily="34" charset="0"/>
                <a:sym typeface="Wingdings" pitchFamily="2" charset="2"/>
              </a:rPr>
              <a:t>→ </a:t>
            </a:r>
            <a:r>
              <a:rPr lang="en-CH" sz="1800" dirty="0">
                <a:solidFill>
                  <a:srgbClr val="002060"/>
                </a:solidFill>
                <a:latin typeface="Arial" panose="020B0604020202020204" pitchFamily="34" charset="0"/>
                <a:cs typeface="Arial" panose="020B0604020202020204" pitchFamily="34" charset="0"/>
                <a:sym typeface="Wingdings" pitchFamily="2" charset="2"/>
              </a:rPr>
              <a:t>Intensity/emittance</a:t>
            </a:r>
            <a:endParaRPr lang="en-US" dirty="0">
              <a:solidFill>
                <a:srgbClr val="00206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008BE45-E426-7E53-D4F7-FB03F1FA186C}"/>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72FF81A-7C44-7DF2-A111-3486A5863EF1}"/>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55662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5" grpId="0" animBg="1"/>
      <p:bldP spid="16" grpId="0" animBg="1"/>
      <p:bldP spid="17" grpId="0"/>
      <p:bldP spid="18" grpId="0"/>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33DCA-F4EA-2B06-07A6-D5D83320D62C}"/>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Resonance crossing and compensation</a:t>
            </a:r>
          </a:p>
        </p:txBody>
      </p:sp>
      <p:sp>
        <p:nvSpPr>
          <p:cNvPr id="5" name="Slide Number Placeholder 4">
            <a:extLst>
              <a:ext uri="{FF2B5EF4-FFF2-40B4-BE49-F238E27FC236}">
                <a16:creationId xmlns:a16="http://schemas.microsoft.com/office/drawing/2014/main" id="{D654813F-F728-DEE5-6E5F-73440D5912C4}"/>
              </a:ext>
            </a:extLst>
          </p:cNvPr>
          <p:cNvSpPr>
            <a:spLocks noGrp="1"/>
          </p:cNvSpPr>
          <p:nvPr>
            <p:ph type="sldNum" sz="quarter" idx="12"/>
          </p:nvPr>
        </p:nvSpPr>
        <p:spPr/>
        <p:txBody>
          <a:bodyPr/>
          <a:lstStyle/>
          <a:p>
            <a:r>
              <a:rPr lang="en-US" dirty="0"/>
              <a:t>16</a:t>
            </a:r>
            <a:endParaRPr lang="el-GR" dirty="0"/>
          </a:p>
        </p:txBody>
      </p:sp>
      <p:sp>
        <p:nvSpPr>
          <p:cNvPr id="6" name="TextBox 5">
            <a:extLst>
              <a:ext uri="{FF2B5EF4-FFF2-40B4-BE49-F238E27FC236}">
                <a16:creationId xmlns:a16="http://schemas.microsoft.com/office/drawing/2014/main" id="{8529CC45-9D13-E0D3-16BB-CA06D0EFFFCD}"/>
              </a:ext>
            </a:extLst>
          </p:cNvPr>
          <p:cNvSpPr txBox="1"/>
          <p:nvPr/>
        </p:nvSpPr>
        <p:spPr>
          <a:xfrm>
            <a:off x="144512" y="795202"/>
            <a:ext cx="6896368" cy="3693319"/>
          </a:xfrm>
          <a:prstGeom prst="rect">
            <a:avLst/>
          </a:prstGeom>
          <a:noFill/>
        </p:spPr>
        <p:txBody>
          <a:bodyPr wrap="square" rtlCol="0">
            <a:spAutoFit/>
          </a:bodyPr>
          <a:lstStyle/>
          <a:p>
            <a:pPr marL="285750" indent="-285750">
              <a:buFont typeface="Arial" panose="020B0604020202020204" pitchFamily="34" charset="0"/>
              <a:buChar char="•"/>
            </a:pPr>
            <a:r>
              <a:rPr lang="en-CH" dirty="0">
                <a:latin typeface="Arial" panose="020B0604020202020204" pitchFamily="34" charset="0"/>
                <a:cs typeface="Arial" panose="020B0604020202020204" pitchFamily="34" charset="0"/>
              </a:rPr>
              <a:t>Third and fourth order resonances are dynamically crossed at different times during the acceleration cycle. </a:t>
            </a:r>
            <a:endParaRPr lang="en-CH" b="1" dirty="0">
              <a:solidFill>
                <a:srgbClr val="FF0000"/>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CH" dirty="0">
                <a:solidFill>
                  <a:srgbClr val="000000"/>
                </a:solidFill>
                <a:latin typeface="Arial" panose="020B0604020202020204" pitchFamily="34" charset="0"/>
                <a:cs typeface="Arial" panose="020B0604020202020204" pitchFamily="34" charset="0"/>
              </a:rPr>
              <a:t>Resonance compensation is applied using the available quadrupole, sextupole and octupole correctors, only when the resonance is crossed.</a:t>
            </a:r>
          </a:p>
          <a:p>
            <a:pPr marL="285750" indent="-285750">
              <a:buFont typeface="Arial" panose="020B0604020202020204" pitchFamily="34" charset="0"/>
              <a:buChar char="•"/>
            </a:pPr>
            <a:r>
              <a:rPr lang="en-CH" dirty="0">
                <a:solidFill>
                  <a:srgbClr val="000000"/>
                </a:solidFill>
                <a:latin typeface="Arial" panose="020B0604020202020204" pitchFamily="34" charset="0"/>
                <a:cs typeface="Arial" panose="020B0604020202020204" pitchFamily="34" charset="0"/>
              </a:rPr>
              <a:t>One corrector can perturb the compensation of other resonances. Attempts have been made for a global resonance compensation. </a:t>
            </a:r>
          </a:p>
          <a:p>
            <a:pPr marL="285750" indent="-285750">
              <a:buFont typeface="Arial" panose="020B0604020202020204" pitchFamily="34" charset="0"/>
              <a:buChar char="•"/>
            </a:pPr>
            <a:r>
              <a:rPr lang="en-CH" dirty="0">
                <a:solidFill>
                  <a:srgbClr val="000000"/>
                </a:solidFill>
                <a:latin typeface="Arial" panose="020B0604020202020204" pitchFamily="34" charset="0"/>
                <a:cs typeface="Arial" panose="020B0604020202020204" pitchFamily="34" charset="0"/>
              </a:rPr>
              <a:t>The compensation is done experimentally by finding a suitable magnet pair for the correction and changing the driving tern that they create. </a:t>
            </a:r>
          </a:p>
          <a:p>
            <a:pPr marL="285750" indent="-285750">
              <a:buFont typeface="Arial" panose="020B0604020202020204" pitchFamily="34" charset="0"/>
              <a:buChar char="•"/>
            </a:pPr>
            <a:endParaRPr lang="en-CH" dirty="0">
              <a:solidFill>
                <a:srgbClr val="000000"/>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CH" dirty="0">
              <a:solidFill>
                <a:srgbClr val="000000"/>
              </a:solidFill>
              <a:latin typeface="Arial" panose="020B0604020202020204" pitchFamily="34" charset="0"/>
              <a:cs typeface="Arial" panose="020B0604020202020204" pitchFamily="34" charset="0"/>
            </a:endParaRPr>
          </a:p>
        </p:txBody>
      </p:sp>
      <p:pic>
        <p:nvPicPr>
          <p:cNvPr id="7" name="Picture 2">
            <a:extLst>
              <a:ext uri="{FF2B5EF4-FFF2-40B4-BE49-F238E27FC236}">
                <a16:creationId xmlns:a16="http://schemas.microsoft.com/office/drawing/2014/main" id="{E7BE69EB-B42E-ABAC-7568-456525EAD2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2370" y="725479"/>
            <a:ext cx="3713494" cy="268990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Diagram&#10;&#10;Description automatically generated">
            <a:extLst>
              <a:ext uri="{FF2B5EF4-FFF2-40B4-BE49-F238E27FC236}">
                <a16:creationId xmlns:a16="http://schemas.microsoft.com/office/drawing/2014/main" id="{31CF5756-8058-CC75-89E5-273FF31B68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969" y="4242331"/>
            <a:ext cx="2281718" cy="1817800"/>
          </a:xfrm>
          <a:prstGeom prst="rect">
            <a:avLst/>
          </a:prstGeom>
        </p:spPr>
      </p:pic>
      <p:pic>
        <p:nvPicPr>
          <p:cNvPr id="9" name="Picture 8" descr="Chart&#10;&#10;Description automatically generated">
            <a:extLst>
              <a:ext uri="{FF2B5EF4-FFF2-40B4-BE49-F238E27FC236}">
                <a16:creationId xmlns:a16="http://schemas.microsoft.com/office/drawing/2014/main" id="{E72B3301-8B49-AD9C-1C74-1E54F7687E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80452" y="3768985"/>
            <a:ext cx="3844618" cy="2567465"/>
          </a:xfrm>
          <a:prstGeom prst="rect">
            <a:avLst/>
          </a:prstGeom>
        </p:spPr>
      </p:pic>
      <p:pic>
        <p:nvPicPr>
          <p:cNvPr id="10" name="Picture 9">
            <a:extLst>
              <a:ext uri="{FF2B5EF4-FFF2-40B4-BE49-F238E27FC236}">
                <a16:creationId xmlns:a16="http://schemas.microsoft.com/office/drawing/2014/main" id="{F4680914-67DC-7815-F7FE-883972307A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60261" y="3423038"/>
            <a:ext cx="3057092" cy="3057092"/>
          </a:xfrm>
          <a:prstGeom prst="rect">
            <a:avLst/>
          </a:prstGeom>
        </p:spPr>
      </p:pic>
      <p:sp>
        <p:nvSpPr>
          <p:cNvPr id="3" name="TextBox 2">
            <a:extLst>
              <a:ext uri="{FF2B5EF4-FFF2-40B4-BE49-F238E27FC236}">
                <a16:creationId xmlns:a16="http://schemas.microsoft.com/office/drawing/2014/main" id="{11035D65-A22D-8AFA-2EA8-61E91BFA8D58}"/>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4415814-DF0D-19D0-07E5-6D055ABC55A1}"/>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1773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3B54E-264D-6008-1C04-EE380FA6F279}"/>
              </a:ext>
            </a:extLst>
          </p:cNvPr>
          <p:cNvSpPr>
            <a:spLocks noGrp="1"/>
          </p:cNvSpPr>
          <p:nvPr>
            <p:ph type="title"/>
          </p:nvPr>
        </p:nvSpPr>
        <p:spPr/>
        <p:txBody>
          <a:bodyPr>
            <a:normAutofit fontScale="90000"/>
          </a:bodyPr>
          <a:lstStyle/>
          <a:p>
            <a:r>
              <a:rPr lang="en-CH" dirty="0">
                <a:latin typeface="Arial" panose="020B0604020202020204" pitchFamily="34" charset="0"/>
                <a:cs typeface="Arial" panose="020B0604020202020204" pitchFamily="34" charset="0"/>
              </a:rPr>
              <a:t>Beta-beating</a:t>
            </a:r>
          </a:p>
        </p:txBody>
      </p:sp>
      <p:sp>
        <p:nvSpPr>
          <p:cNvPr id="5" name="Slide Number Placeholder 4">
            <a:extLst>
              <a:ext uri="{FF2B5EF4-FFF2-40B4-BE49-F238E27FC236}">
                <a16:creationId xmlns:a16="http://schemas.microsoft.com/office/drawing/2014/main" id="{4E72F42C-29AD-961E-3B0E-1473106E884F}"/>
              </a:ext>
            </a:extLst>
          </p:cNvPr>
          <p:cNvSpPr>
            <a:spLocks noGrp="1"/>
          </p:cNvSpPr>
          <p:nvPr>
            <p:ph type="sldNum" sz="quarter" idx="12"/>
          </p:nvPr>
        </p:nvSpPr>
        <p:spPr/>
        <p:txBody>
          <a:bodyPr/>
          <a:lstStyle/>
          <a:p>
            <a:r>
              <a:rPr lang="en-US" dirty="0"/>
              <a:t>17</a:t>
            </a:r>
            <a:endParaRPr lang="el-GR" dirty="0"/>
          </a:p>
        </p:txBody>
      </p:sp>
      <p:pic>
        <p:nvPicPr>
          <p:cNvPr id="6146" name="Picture 2">
            <a:extLst>
              <a:ext uri="{FF2B5EF4-FFF2-40B4-BE49-F238E27FC236}">
                <a16:creationId xmlns:a16="http://schemas.microsoft.com/office/drawing/2014/main" id="{0BDA044E-6589-B11D-21E7-A0ABC730BB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1193" y="1437942"/>
            <a:ext cx="8760424" cy="39821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B028288-10CD-6614-4CC4-DA9E25695FE8}"/>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070389E-739E-15EB-AA83-81C16EA72B73}"/>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558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1ADBAF7-CC35-476B-B58B-680D7CD6FB29}"/>
                  </a:ext>
                </a:extLst>
              </p:cNvPr>
              <p:cNvSpPr>
                <a:spLocks noGrp="1"/>
              </p:cNvSpPr>
              <p:nvPr>
                <p:ph type="title"/>
              </p:nvPr>
            </p:nvSpPr>
            <p:spPr/>
            <p:txBody>
              <a:bodyPr>
                <a:noAutofit/>
              </a:bodyPr>
              <a:lstStyle/>
              <a:p>
                <a14:m>
                  <m:oMath xmlns:m="http://schemas.openxmlformats.org/officeDocument/2006/math">
                    <m:r>
                      <a:rPr lang="en-US" sz="4000" b="0" i="1" smtClean="0">
                        <a:latin typeface="Cambria Math" panose="02040503050406030204" pitchFamily="18" charset="0"/>
                      </a:rPr>
                      <m:t>𝛽</m:t>
                    </m:r>
                  </m:oMath>
                </a14:m>
                <a:r>
                  <a:rPr lang="en-US" sz="4000" dirty="0">
                    <a:latin typeface="Arial" panose="020B0604020202020204" pitchFamily="34" charset="0"/>
                    <a:cs typeface="Arial" panose="020B0604020202020204" pitchFamily="34" charset="0"/>
                  </a:rPr>
                  <a:t>-beating measurements at injection</a:t>
                </a:r>
              </a:p>
            </p:txBody>
          </p:sp>
        </mc:Choice>
        <mc:Fallback xmlns="">
          <p:sp>
            <p:nvSpPr>
              <p:cNvPr id="2" name="Title 1">
                <a:extLst>
                  <a:ext uri="{FF2B5EF4-FFF2-40B4-BE49-F238E27FC236}">
                    <a16:creationId xmlns:a16="http://schemas.microsoft.com/office/drawing/2014/main" id="{61ADBAF7-CC35-476B-B58B-680D7CD6FB29}"/>
                  </a:ext>
                </a:extLst>
              </p:cNvPr>
              <p:cNvSpPr>
                <a:spLocks noGrp="1" noRot="1" noChangeAspect="1" noMove="1" noResize="1" noEditPoints="1" noAdjustHandles="1" noChangeArrowheads="1" noChangeShapeType="1" noTextEdit="1"/>
              </p:cNvSpPr>
              <p:nvPr>
                <p:ph type="title"/>
              </p:nvPr>
            </p:nvSpPr>
            <p:spPr>
              <a:blipFill>
                <a:blip r:embed="rId2"/>
                <a:stretch>
                  <a:fillRect t="-40909" b="-54545"/>
                </a:stretch>
              </a:blipFill>
            </p:spPr>
            <p:txBody>
              <a:bodyPr/>
              <a:lstStyle/>
              <a:p>
                <a:r>
                  <a:rPr lang="en-CH">
                    <a:noFill/>
                  </a:rPr>
                  <a:t> </a:t>
                </a:r>
              </a:p>
            </p:txBody>
          </p:sp>
        </mc:Fallback>
      </mc:AlternateContent>
      <p:sp>
        <p:nvSpPr>
          <p:cNvPr id="5" name="Slide Number Placeholder 4">
            <a:extLst>
              <a:ext uri="{FF2B5EF4-FFF2-40B4-BE49-F238E27FC236}">
                <a16:creationId xmlns:a16="http://schemas.microsoft.com/office/drawing/2014/main" id="{C3F2F2F3-633B-434B-8C17-698A24F8C70F}"/>
              </a:ext>
            </a:extLst>
          </p:cNvPr>
          <p:cNvSpPr>
            <a:spLocks noGrp="1"/>
          </p:cNvSpPr>
          <p:nvPr>
            <p:ph type="sldNum" sz="quarter" idx="12"/>
          </p:nvPr>
        </p:nvSpPr>
        <p:spPr/>
        <p:txBody>
          <a:bodyPr/>
          <a:lstStyle/>
          <a:p>
            <a:r>
              <a:rPr lang="en-US" dirty="0"/>
              <a:t>18</a:t>
            </a:r>
            <a:endParaRPr lang="el-GR"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0D3D4ED-EB44-4BAC-823B-BC8C88A2FBDF}"/>
                  </a:ext>
                </a:extLst>
              </p:cNvPr>
              <p:cNvSpPr txBox="1"/>
              <p:nvPr/>
            </p:nvSpPr>
            <p:spPr>
              <a:xfrm>
                <a:off x="282252" y="1191822"/>
                <a:ext cx="7011433" cy="1938992"/>
              </a:xfrm>
              <a:prstGeom prst="rect">
                <a:avLst/>
              </a:prstGeom>
              <a:noFill/>
            </p:spPr>
            <p:txBody>
              <a:bodyPr wrap="square" rtlCol="0">
                <a:spAutoFit/>
              </a:bodyPr>
              <a:lstStyle/>
              <a:p>
                <a:pPr marL="285750" indent="-285750">
                  <a:buFont typeface="Arial" panose="020B0604020202020204" pitchFamily="34" charset="0"/>
                  <a:buChar char="•"/>
                </a:pPr>
                <a:r>
                  <a:rPr lang="en-US" sz="2000" b="0" dirty="0">
                    <a:latin typeface="Arial" panose="020B0604020202020204" pitchFamily="34" charset="0"/>
                    <a:cs typeface="Arial" panose="020B0604020202020204" pitchFamily="34" charset="0"/>
                  </a:rPr>
                  <a:t>Measurement of the </a:t>
                </a:r>
                <a14:m>
                  <m:oMath xmlns:m="http://schemas.openxmlformats.org/officeDocument/2006/math">
                    <m:r>
                      <a:rPr lang="en-US" sz="2000" b="1" i="1" smtClean="0">
                        <a:solidFill>
                          <a:srgbClr val="002060"/>
                        </a:solidFill>
                        <a:latin typeface="Cambria Math" panose="02040503050406030204" pitchFamily="18" charset="0"/>
                      </a:rPr>
                      <m:t>𝜷</m:t>
                    </m:r>
                  </m:oMath>
                </a14:m>
                <a:r>
                  <a:rPr lang="en-US" sz="2000" b="1" dirty="0">
                    <a:solidFill>
                      <a:srgbClr val="002060"/>
                    </a:solidFill>
                    <a:latin typeface="Arial" panose="020B0604020202020204" pitchFamily="34" charset="0"/>
                    <a:cs typeface="Arial" panose="020B0604020202020204" pitchFamily="34" charset="0"/>
                  </a:rPr>
                  <a:t>-beating during the fall of the injection chicane</a:t>
                </a:r>
                <a:r>
                  <a:rPr lang="en-US" sz="2000" b="1" dirty="0">
                    <a:solidFill>
                      <a:schemeClr val="tx1"/>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using k-modulation (excellent agreement with expected perturbations).</a:t>
                </a:r>
              </a:p>
              <a:p>
                <a:pPr marL="285750" indent="-285750">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Calculation of the </a:t>
                </a:r>
                <a:r>
                  <a:rPr lang="en-US" sz="2000" b="1" dirty="0">
                    <a:solidFill>
                      <a:srgbClr val="002060"/>
                    </a:solidFill>
                    <a:latin typeface="Arial" panose="020B0604020202020204" pitchFamily="34" charset="0"/>
                    <a:cs typeface="Arial" panose="020B0604020202020204" pitchFamily="34" charset="0"/>
                  </a:rPr>
                  <a:t>dynamic correction</a:t>
                </a:r>
                <a:r>
                  <a:rPr lang="en-US" sz="2000" dirty="0">
                    <a:latin typeface="Arial" panose="020B0604020202020204" pitchFamily="34" charset="0"/>
                    <a:cs typeface="Arial" panose="020B0604020202020204" pitchFamily="34" charset="0"/>
                  </a:rPr>
                  <a:t> which was applied to the machine. </a:t>
                </a:r>
                <a:endParaRPr lang="en-US" sz="2400"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40D3D4ED-EB44-4BAC-823B-BC8C88A2FBDF}"/>
                  </a:ext>
                </a:extLst>
              </p:cNvPr>
              <p:cNvSpPr txBox="1">
                <a:spLocks noRot="1" noChangeAspect="1" noMove="1" noResize="1" noEditPoints="1" noAdjustHandles="1" noChangeArrowheads="1" noChangeShapeType="1" noTextEdit="1"/>
              </p:cNvSpPr>
              <p:nvPr/>
            </p:nvSpPr>
            <p:spPr>
              <a:xfrm>
                <a:off x="282252" y="1191822"/>
                <a:ext cx="7011433" cy="1938992"/>
              </a:xfrm>
              <a:prstGeom prst="rect">
                <a:avLst/>
              </a:prstGeom>
              <a:blipFill>
                <a:blip r:embed="rId3"/>
                <a:stretch>
                  <a:fillRect l="-723" t="-1961" r="-1447" b="-4575"/>
                </a:stretch>
              </a:blipFill>
            </p:spPr>
            <p:txBody>
              <a:bodyPr/>
              <a:lstStyle/>
              <a:p>
                <a:r>
                  <a:rPr lang="en-CH">
                    <a:noFill/>
                  </a:rPr>
                  <a:t> </a:t>
                </a:r>
              </a:p>
            </p:txBody>
          </p:sp>
        </mc:Fallback>
      </mc:AlternateContent>
      <p:pic>
        <p:nvPicPr>
          <p:cNvPr id="8" name="Picture 7">
            <a:extLst>
              <a:ext uri="{FF2B5EF4-FFF2-40B4-BE49-F238E27FC236}">
                <a16:creationId xmlns:a16="http://schemas.microsoft.com/office/drawing/2014/main" id="{26003426-59C1-4FF2-B9CB-01E7ABA6EB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2704" y="3773998"/>
            <a:ext cx="4390251" cy="2496915"/>
          </a:xfrm>
          <a:prstGeom prst="rect">
            <a:avLst/>
          </a:prstGeom>
        </p:spPr>
      </p:pic>
      <p:pic>
        <p:nvPicPr>
          <p:cNvPr id="12" name="Picture 11">
            <a:extLst>
              <a:ext uri="{FF2B5EF4-FFF2-40B4-BE49-F238E27FC236}">
                <a16:creationId xmlns:a16="http://schemas.microsoft.com/office/drawing/2014/main" id="{3771227A-8F6A-4BA2-BECC-49AC86F160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94171" y="682883"/>
            <a:ext cx="4397829" cy="5863771"/>
          </a:xfrm>
          <a:prstGeom prst="rect">
            <a:avLst/>
          </a:prstGeom>
        </p:spPr>
      </p:pic>
      <p:sp>
        <p:nvSpPr>
          <p:cNvPr id="13" name="TextBox 12">
            <a:extLst>
              <a:ext uri="{FF2B5EF4-FFF2-40B4-BE49-F238E27FC236}">
                <a16:creationId xmlns:a16="http://schemas.microsoft.com/office/drawing/2014/main" id="{5242F788-AD4A-4F61-B60C-672CCA43115E}"/>
              </a:ext>
            </a:extLst>
          </p:cNvPr>
          <p:cNvSpPr txBox="1"/>
          <p:nvPr/>
        </p:nvSpPr>
        <p:spPr>
          <a:xfrm>
            <a:off x="9527177" y="966652"/>
            <a:ext cx="1210491" cy="646331"/>
          </a:xfrm>
          <a:prstGeom prst="rect">
            <a:avLst/>
          </a:prstGeom>
          <a:solidFill>
            <a:schemeClr val="bg1"/>
          </a:solidFill>
        </p:spPr>
        <p:txBody>
          <a:bodyPr wrap="square" rtlCol="0">
            <a:spAutoFit/>
          </a:bodyPr>
          <a:lstStyle/>
          <a:p>
            <a:r>
              <a:rPr lang="en-US" b="1" dirty="0">
                <a:solidFill>
                  <a:srgbClr val="FF0000"/>
                </a:solidFill>
              </a:rPr>
              <a:t>Before correction</a:t>
            </a:r>
          </a:p>
        </p:txBody>
      </p:sp>
      <p:sp>
        <p:nvSpPr>
          <p:cNvPr id="14" name="TextBox 13">
            <a:extLst>
              <a:ext uri="{FF2B5EF4-FFF2-40B4-BE49-F238E27FC236}">
                <a16:creationId xmlns:a16="http://schemas.microsoft.com/office/drawing/2014/main" id="{28F78327-02D5-4E5D-83B7-606CB0337528}"/>
              </a:ext>
            </a:extLst>
          </p:cNvPr>
          <p:cNvSpPr txBox="1"/>
          <p:nvPr/>
        </p:nvSpPr>
        <p:spPr>
          <a:xfrm>
            <a:off x="10585268" y="4778940"/>
            <a:ext cx="1210491" cy="646331"/>
          </a:xfrm>
          <a:prstGeom prst="rect">
            <a:avLst/>
          </a:prstGeom>
          <a:solidFill>
            <a:schemeClr val="bg1"/>
          </a:solidFill>
        </p:spPr>
        <p:txBody>
          <a:bodyPr wrap="square" rtlCol="0">
            <a:spAutoFit/>
          </a:bodyPr>
          <a:lstStyle/>
          <a:p>
            <a:r>
              <a:rPr lang="en-US" b="1" dirty="0">
                <a:solidFill>
                  <a:srgbClr val="FF0000"/>
                </a:solidFill>
              </a:rPr>
              <a:t>After correction</a:t>
            </a:r>
          </a:p>
        </p:txBody>
      </p:sp>
      <p:sp>
        <p:nvSpPr>
          <p:cNvPr id="3" name="TextBox 2">
            <a:extLst>
              <a:ext uri="{FF2B5EF4-FFF2-40B4-BE49-F238E27FC236}">
                <a16:creationId xmlns:a16="http://schemas.microsoft.com/office/drawing/2014/main" id="{5D82528D-8F7B-7DC0-B870-5C6EF0CFA65A}"/>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C0043E2-4EE0-6969-8EC1-31653052A646}"/>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28416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DD3B54E-264D-6008-1C04-EE380FA6F279}"/>
                  </a:ext>
                </a:extLst>
              </p:cNvPr>
              <p:cNvSpPr>
                <a:spLocks noGrp="1"/>
              </p:cNvSpPr>
              <p:nvPr>
                <p:ph type="title"/>
              </p:nvPr>
            </p:nvSpPr>
            <p:spPr/>
            <p:txBody>
              <a:bodyPr>
                <a:normAutofit fontScale="90000"/>
              </a:bodyPr>
              <a:lstStyle/>
              <a:p>
                <a14:m>
                  <m:oMath xmlns:m="http://schemas.openxmlformats.org/officeDocument/2006/math">
                    <m:r>
                      <a:rPr lang="en-US" sz="4400" b="0" i="1" smtClean="0">
                        <a:latin typeface="Cambria Math" panose="02040503050406030204" pitchFamily="18" charset="0"/>
                      </a:rPr>
                      <m:t>𝛽</m:t>
                    </m:r>
                  </m:oMath>
                </a14:m>
                <a:r>
                  <a:rPr lang="en-US" sz="4400" dirty="0">
                    <a:latin typeface="Arial" panose="020B0604020202020204" pitchFamily="34" charset="0"/>
                    <a:cs typeface="Arial" panose="020B0604020202020204" pitchFamily="34" charset="0"/>
                  </a:rPr>
                  <a:t>-beating measurements at injection</a:t>
                </a:r>
                <a:endParaRPr lang="en-CH" dirty="0">
                  <a:latin typeface="Arial" panose="020B0604020202020204" pitchFamily="34" charset="0"/>
                  <a:cs typeface="Arial" panose="020B0604020202020204" pitchFamily="34" charset="0"/>
                </a:endParaRPr>
              </a:p>
            </p:txBody>
          </p:sp>
        </mc:Choice>
        <mc:Fallback xmlns="">
          <p:sp>
            <p:nvSpPr>
              <p:cNvPr id="2" name="Title 1">
                <a:extLst>
                  <a:ext uri="{FF2B5EF4-FFF2-40B4-BE49-F238E27FC236}">
                    <a16:creationId xmlns:a16="http://schemas.microsoft.com/office/drawing/2014/main" id="{CDD3B54E-264D-6008-1C04-EE380FA6F279}"/>
                  </a:ext>
                </a:extLst>
              </p:cNvPr>
              <p:cNvSpPr>
                <a:spLocks noGrp="1" noRot="1" noChangeAspect="1" noMove="1" noResize="1" noEditPoints="1" noAdjustHandles="1" noChangeArrowheads="1" noChangeShapeType="1" noTextEdit="1"/>
              </p:cNvSpPr>
              <p:nvPr>
                <p:ph type="title"/>
              </p:nvPr>
            </p:nvSpPr>
            <p:spPr>
              <a:blipFill>
                <a:blip r:embed="rId2"/>
                <a:stretch>
                  <a:fillRect t="-40909" b="-54545"/>
                </a:stretch>
              </a:blipFill>
            </p:spPr>
            <p:txBody>
              <a:bodyPr/>
              <a:lstStyle/>
              <a:p>
                <a:r>
                  <a:rPr lang="en-CH">
                    <a:noFill/>
                  </a:rPr>
                  <a:t> </a:t>
                </a:r>
              </a:p>
            </p:txBody>
          </p:sp>
        </mc:Fallback>
      </mc:AlternateContent>
      <p:sp>
        <p:nvSpPr>
          <p:cNvPr id="5" name="Slide Number Placeholder 4">
            <a:extLst>
              <a:ext uri="{FF2B5EF4-FFF2-40B4-BE49-F238E27FC236}">
                <a16:creationId xmlns:a16="http://schemas.microsoft.com/office/drawing/2014/main" id="{4E72F42C-29AD-961E-3B0E-1473106E884F}"/>
              </a:ext>
            </a:extLst>
          </p:cNvPr>
          <p:cNvSpPr>
            <a:spLocks noGrp="1"/>
          </p:cNvSpPr>
          <p:nvPr>
            <p:ph type="sldNum" sz="quarter" idx="12"/>
          </p:nvPr>
        </p:nvSpPr>
        <p:spPr/>
        <p:txBody>
          <a:bodyPr/>
          <a:lstStyle/>
          <a:p>
            <a:r>
              <a:rPr lang="en-US" dirty="0"/>
              <a:t>19</a:t>
            </a:r>
            <a:endParaRPr lang="el-GR" dirty="0"/>
          </a:p>
        </p:txBody>
      </p:sp>
      <p:pic>
        <p:nvPicPr>
          <p:cNvPr id="7170" name="Picture 2">
            <a:extLst>
              <a:ext uri="{FF2B5EF4-FFF2-40B4-BE49-F238E27FC236}">
                <a16:creationId xmlns:a16="http://schemas.microsoft.com/office/drawing/2014/main" id="{07CB5CA4-A2C1-02DD-7BF9-ADDE04976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9682" y="640375"/>
            <a:ext cx="9010269" cy="58656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268FE39-7D99-9833-12B5-E9447894F32A}"/>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16B8AB7-3CE2-4A42-398E-A1086BCED51B}"/>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3263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13E8F-1A3E-DCE1-F238-CC0059EFE81E}"/>
              </a:ext>
            </a:extLst>
          </p:cNvPr>
          <p:cNvSpPr>
            <a:spLocks noGrp="1"/>
          </p:cNvSpPr>
          <p:nvPr>
            <p:ph type="title"/>
          </p:nvPr>
        </p:nvSpPr>
        <p:spPr/>
        <p:txBody>
          <a:bodyPr>
            <a:normAutofit fontScale="90000"/>
          </a:bodyPr>
          <a:lstStyle/>
          <a:p>
            <a:r>
              <a:rPr lang="en-CH" dirty="0"/>
              <a:t>Instabilities</a:t>
            </a:r>
          </a:p>
        </p:txBody>
      </p:sp>
      <p:sp>
        <p:nvSpPr>
          <p:cNvPr id="5" name="Slide Number Placeholder 4">
            <a:extLst>
              <a:ext uri="{FF2B5EF4-FFF2-40B4-BE49-F238E27FC236}">
                <a16:creationId xmlns:a16="http://schemas.microsoft.com/office/drawing/2014/main" id="{1D1251F4-F3F2-D96D-F238-AA93B5B3C1CD}"/>
              </a:ext>
            </a:extLst>
          </p:cNvPr>
          <p:cNvSpPr>
            <a:spLocks noGrp="1"/>
          </p:cNvSpPr>
          <p:nvPr>
            <p:ph type="sldNum" sz="quarter" idx="12"/>
          </p:nvPr>
        </p:nvSpPr>
        <p:spPr/>
        <p:txBody>
          <a:bodyPr/>
          <a:lstStyle/>
          <a:p>
            <a:r>
              <a:rPr lang="en-US" dirty="0"/>
              <a:t>21</a:t>
            </a:r>
            <a:endParaRPr lang="el-GR" dirty="0"/>
          </a:p>
        </p:txBody>
      </p:sp>
      <p:pic>
        <p:nvPicPr>
          <p:cNvPr id="3" name="Picture 2">
            <a:extLst>
              <a:ext uri="{FF2B5EF4-FFF2-40B4-BE49-F238E27FC236}">
                <a16:creationId xmlns:a16="http://schemas.microsoft.com/office/drawing/2014/main" id="{AAD75F31-D195-3FED-E5F8-BAA09FFE4C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3218" y="1420267"/>
            <a:ext cx="5433023" cy="42297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graph of a function&#10;&#10;Description automatically generated">
            <a:extLst>
              <a:ext uri="{FF2B5EF4-FFF2-40B4-BE49-F238E27FC236}">
                <a16:creationId xmlns:a16="http://schemas.microsoft.com/office/drawing/2014/main" id="{B70B4E02-28F6-E6BB-3656-98570EB39E7C}"/>
              </a:ext>
            </a:extLst>
          </p:cNvPr>
          <p:cNvPicPr>
            <a:picLocks noChangeAspect="1"/>
          </p:cNvPicPr>
          <p:nvPr/>
        </p:nvPicPr>
        <p:blipFill>
          <a:blip r:embed="rId3"/>
          <a:stretch>
            <a:fillRect/>
          </a:stretch>
        </p:blipFill>
        <p:spPr>
          <a:xfrm>
            <a:off x="385759" y="1536389"/>
            <a:ext cx="5274219" cy="4113588"/>
          </a:xfrm>
          <a:prstGeom prst="rect">
            <a:avLst/>
          </a:prstGeom>
        </p:spPr>
      </p:pic>
      <p:sp>
        <p:nvSpPr>
          <p:cNvPr id="6" name="TextBox 5">
            <a:extLst>
              <a:ext uri="{FF2B5EF4-FFF2-40B4-BE49-F238E27FC236}">
                <a16:creationId xmlns:a16="http://schemas.microsoft.com/office/drawing/2014/main" id="{350ABC17-2996-AFB0-A39E-A7876BD353DE}"/>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5BC8AA4-01A8-D8D0-D376-E5E9DA33E0E2}"/>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64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AA06A-00AC-199D-DF6B-A348643AEE54}"/>
              </a:ext>
            </a:extLst>
          </p:cNvPr>
          <p:cNvSpPr>
            <a:spLocks noGrp="1"/>
          </p:cNvSpPr>
          <p:nvPr>
            <p:ph type="title"/>
          </p:nvPr>
        </p:nvSpPr>
        <p:spPr/>
        <p:txBody>
          <a:bodyPr>
            <a:normAutofit fontScale="90000"/>
          </a:bodyPr>
          <a:lstStyle/>
          <a:p>
            <a:r>
              <a:rPr lang="en-CH" dirty="0"/>
              <a:t>Closed Orbit Measurement and Correction</a:t>
            </a:r>
          </a:p>
        </p:txBody>
      </p:sp>
      <p:sp>
        <p:nvSpPr>
          <p:cNvPr id="5" name="Slide Number Placeholder 4">
            <a:extLst>
              <a:ext uri="{FF2B5EF4-FFF2-40B4-BE49-F238E27FC236}">
                <a16:creationId xmlns:a16="http://schemas.microsoft.com/office/drawing/2014/main" id="{26933C9B-F9E2-3EB6-7EFD-45D28644D9EF}"/>
              </a:ext>
            </a:extLst>
          </p:cNvPr>
          <p:cNvSpPr>
            <a:spLocks noGrp="1"/>
          </p:cNvSpPr>
          <p:nvPr>
            <p:ph type="sldNum" sz="quarter" idx="12"/>
          </p:nvPr>
        </p:nvSpPr>
        <p:spPr/>
        <p:txBody>
          <a:bodyPr/>
          <a:lstStyle/>
          <a:p>
            <a:r>
              <a:rPr lang="en-US" dirty="0"/>
              <a:t>20</a:t>
            </a:r>
            <a:endParaRPr lang="el-GR" dirty="0"/>
          </a:p>
        </p:txBody>
      </p:sp>
      <p:sp>
        <p:nvSpPr>
          <p:cNvPr id="3" name="TextBox 2">
            <a:extLst>
              <a:ext uri="{FF2B5EF4-FFF2-40B4-BE49-F238E27FC236}">
                <a16:creationId xmlns:a16="http://schemas.microsoft.com/office/drawing/2014/main" id="{9199A8B8-E576-88BE-F180-D8B9B0FECE08}"/>
              </a:ext>
            </a:extLst>
          </p:cNvPr>
          <p:cNvSpPr txBox="1"/>
          <p:nvPr/>
        </p:nvSpPr>
        <p:spPr>
          <a:xfrm>
            <a:off x="5226782" y="6581000"/>
            <a:ext cx="1734213" cy="276999"/>
          </a:xfrm>
          <a:prstGeom prst="rect">
            <a:avLst/>
          </a:prstGeom>
          <a:noFill/>
        </p:spPr>
        <p:txBody>
          <a:bodyPr wrap="square" rtlCol="0">
            <a:spAutoFit/>
          </a:bodyPr>
          <a:lstStyle/>
          <a:p>
            <a:pPr algn="ctr"/>
            <a:r>
              <a:rPr lang="en-US" sz="1200" dirty="0" err="1">
                <a:latin typeface="Arial" panose="020B0604020202020204" pitchFamily="34" charset="0"/>
                <a:cs typeface="Arial" panose="020B0604020202020204" pitchFamily="34" charset="0"/>
              </a:rPr>
              <a:t>tirsi.prebibaj@cern.ch</a:t>
            </a:r>
            <a:endParaRPr lang="el-GR"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66E59CF3-3627-1F0A-5479-4348F66B9CCC}"/>
              </a:ext>
            </a:extLst>
          </p:cNvPr>
          <p:cNvSpPr txBox="1"/>
          <p:nvPr/>
        </p:nvSpPr>
        <p:spPr>
          <a:xfrm>
            <a:off x="-2" y="6597748"/>
            <a:ext cx="3201305" cy="276999"/>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ATSOA 2024</a:t>
            </a:r>
            <a:endParaRPr lang="el-G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4978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thesis_colors">
      <a:dk1>
        <a:srgbClr val="000000"/>
      </a:dk1>
      <a:lt1>
        <a:srgbClr val="FFFFFF"/>
      </a:lt1>
      <a:dk2>
        <a:srgbClr val="000000"/>
      </a:dk2>
      <a:lt2>
        <a:srgbClr val="000000"/>
      </a:lt2>
      <a:accent1>
        <a:srgbClr val="FFFFFF"/>
      </a:accent1>
      <a:accent2>
        <a:srgbClr val="FFFF00"/>
      </a:accent2>
      <a:accent3>
        <a:srgbClr val="ED7D31"/>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48126</TotalTime>
  <Words>2202</Words>
  <Application>Microsoft Office PowerPoint</Application>
  <PresentationFormat>Widescreen</PresentationFormat>
  <Paragraphs>371</Paragraphs>
  <Slides>43</Slides>
  <Notes>2</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PowerPoint Presentation</vt:lpstr>
      <vt:lpstr>Injectors complex &amp; facilities </vt:lpstr>
      <vt:lpstr>Injectors complex &amp; facilities </vt:lpstr>
      <vt:lpstr>Injectors complex &amp; facilities </vt:lpstr>
      <vt:lpstr>Injectors complex &amp; facilities </vt:lpstr>
      <vt:lpstr>Injectors complex &amp; facilities </vt:lpstr>
      <vt:lpstr>Injectors complex &amp; facilities </vt:lpstr>
      <vt:lpstr>Injectors complex &amp; facilities </vt:lpstr>
      <vt:lpstr>PSB layout</vt:lpstr>
      <vt:lpstr>PSB layout</vt:lpstr>
      <vt:lpstr>PSB layout</vt:lpstr>
      <vt:lpstr>PSB layout</vt:lpstr>
      <vt:lpstr>PSB beams</vt:lpstr>
      <vt:lpstr>Devices</vt:lpstr>
      <vt:lpstr>Devices</vt:lpstr>
      <vt:lpstr>Devices</vt:lpstr>
      <vt:lpstr>Devices</vt:lpstr>
      <vt:lpstr>Devices</vt:lpstr>
      <vt:lpstr>Devices</vt:lpstr>
      <vt:lpstr>Beam Dynamics</vt:lpstr>
      <vt:lpstr>Control Systems</vt:lpstr>
      <vt:lpstr>Control Systems</vt:lpstr>
      <vt:lpstr>Measurements that we could try today</vt:lpstr>
      <vt:lpstr>Measurements</vt:lpstr>
      <vt:lpstr>PSB H^- Charge Exchange Injection System</vt:lpstr>
      <vt:lpstr>PSB H^- Charge Exchange Injection System</vt:lpstr>
      <vt:lpstr>PSB H^- Charge Exchange Injection System</vt:lpstr>
      <vt:lpstr>PSB H^- Charge Exchange Injection System</vt:lpstr>
      <vt:lpstr>PSB H^- Charge Exchange Injection System</vt:lpstr>
      <vt:lpstr>PSB H^- Charge Exchange Injection System</vt:lpstr>
      <vt:lpstr>Beam parameter adjustments</vt:lpstr>
      <vt:lpstr>Tune setup</vt:lpstr>
      <vt:lpstr>Tune setup: losses and emittance blow-up</vt:lpstr>
      <vt:lpstr>Tune measurement and correction</vt:lpstr>
      <vt:lpstr>Chromaticity measurement and correction</vt:lpstr>
      <vt:lpstr>Transverse and longitudinal profiles</vt:lpstr>
      <vt:lpstr>Emittance and Brightness</vt:lpstr>
      <vt:lpstr>Resonance crossing and compensation</vt:lpstr>
      <vt:lpstr>Beta-beating</vt:lpstr>
      <vt:lpstr>β-beating measurements at injection</vt:lpstr>
      <vt:lpstr>β-beating measurements at injection</vt:lpstr>
      <vt:lpstr>Instabilities</vt:lpstr>
      <vt:lpstr>Closed Orbit Measurement and Correction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Injection Chicane Beta-Beating Correction for Enhancing the Brightness of the CERN PSB Beams</dc:title>
  <cp:lastModifiedBy>Tirsi Prebibaj</cp:lastModifiedBy>
  <cp:revision>786</cp:revision>
  <dcterms:created xsi:type="dcterms:W3CDTF">2019-09-01T21:36:22Z</dcterms:created>
  <dcterms:modified xsi:type="dcterms:W3CDTF">2024-06-04T13:20:23Z</dcterms:modified>
</cp:coreProperties>
</file>